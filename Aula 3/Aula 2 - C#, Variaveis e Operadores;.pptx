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43" roundtripDataSignature="AMtx7mhETHONSFTtvt8IzICaKUr46xkc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6043CC-1FAC-411A-A0CF-2619F7D8CC7C}">
  <a:tblStyle styleId="{A76043CC-1FAC-411A-A0CF-2619F7D8CC7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0" name="Google Shape;340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1"/>
          <p:cNvSpPr txBox="1"/>
          <p:nvPr>
            <p:ph type="ctrTitle"/>
          </p:nvPr>
        </p:nvSpPr>
        <p:spPr>
          <a:xfrm>
            <a:off x="914400" y="1122363"/>
            <a:ext cx="10363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1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showMasterSp="0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/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" type="body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showMasterSp="0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4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4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44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44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4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showMasterSp="0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5"/>
          <p:cNvSpPr txBox="1"/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" type="body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5"/>
          <p:cNvSpPr txBox="1"/>
          <p:nvPr>
            <p:ph idx="2" type="body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5"/>
          <p:cNvSpPr txBox="1"/>
          <p:nvPr>
            <p:ph idx="3" type="body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5"/>
          <p:cNvSpPr txBox="1"/>
          <p:nvPr>
            <p:ph idx="4" type="body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45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showMasterSp="0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showMasterSp="0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8"/>
          <p:cNvSpPr txBox="1"/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8"/>
          <p:cNvSpPr txBox="1"/>
          <p:nvPr>
            <p:ph idx="1" type="body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8"/>
          <p:cNvSpPr txBox="1"/>
          <p:nvPr>
            <p:ph idx="2" type="body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8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showMasterSp="0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9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9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9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9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0"/>
          <p:cNvSpPr txBox="1"/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0"/>
          <p:cNvSpPr txBox="1"/>
          <p:nvPr>
            <p:ph idx="1" type="body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0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3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3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45.png"/><Relationship Id="rId5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Relationship Id="rId4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9.png"/><Relationship Id="rId4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Relationship Id="rId5" Type="http://schemas.openxmlformats.org/officeDocument/2006/relationships/image" Target="../media/image46.png"/><Relationship Id="rId6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Relationship Id="rId4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"/>
          <p:cNvSpPr txBox="1"/>
          <p:nvPr/>
        </p:nvSpPr>
        <p:spPr>
          <a:xfrm>
            <a:off x="1200900" y="1868696"/>
            <a:ext cx="48951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Técnico em Programação de Jogos Digitais.</a:t>
            </a:r>
            <a:endParaRPr b="1" i="0" sz="34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200900" y="3692405"/>
            <a:ext cx="4895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rgbClr val="FBE4D4"/>
                </a:solidFill>
                <a:latin typeface="Calibri"/>
                <a:ea typeface="Calibri"/>
                <a:cs typeface="Calibri"/>
                <a:sym typeface="Calibri"/>
              </a:rPr>
              <a:t>Professor: Chagas Junior </a:t>
            </a:r>
            <a:endParaRPr b="1" i="0" sz="2400" u="none" cap="none" strike="noStrike">
              <a:solidFill>
                <a:srgbClr val="FBE4D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3431" y="2054564"/>
            <a:ext cx="4091523" cy="12413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762000" y="2370741"/>
            <a:ext cx="10668000" cy="2116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rPr b="1" i="0" lang="pt-BR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UC: Lógica Computacional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t/>
            </a:r>
            <a:endParaRPr b="1" i="0" sz="3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50"/>
              <a:buFont typeface="Calibri"/>
              <a:buNone/>
            </a:pPr>
            <a:r>
              <a:rPr b="1" i="0" lang="pt-BR" sz="3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Aula 2 – C#, Variáveis, Operadores e Condicionais.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301" y="410564"/>
            <a:ext cx="5830699" cy="316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2700" y="2385079"/>
            <a:ext cx="5087749" cy="3391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a área de trabalho no Visual Studio Usando o C# e o .NET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409575" y="1825624"/>
            <a:ext cx="6162675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1° Passo: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Depois de abrir o Visual Studio, clique em “Criar um projeto”</a:t>
            </a:r>
            <a:endParaRPr/>
          </a:p>
        </p:txBody>
      </p:sp>
      <p:pic>
        <p:nvPicPr>
          <p:cNvPr id="102" name="Google Shape;1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72350" y="1825624"/>
            <a:ext cx="3247919" cy="382023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743825" y="4486275"/>
            <a:ext cx="2586037" cy="785812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a área de trabalho no Visual Studio Usando o C# e o .NET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409575" y="1825625"/>
            <a:ext cx="5204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2° Passo: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Clique na barra de </a:t>
            </a:r>
            <a:r>
              <a:rPr lang="pt-BR"/>
              <a:t>procura</a:t>
            </a:r>
            <a:r>
              <a:rPr lang="pt-BR"/>
              <a:t> e digite .net;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Escolha a opção “Aplicativo de Console”.</a:t>
            </a:r>
            <a:endParaRPr/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4437" y="1811336"/>
            <a:ext cx="5739363" cy="3963987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5"/>
          <p:cNvSpPr/>
          <p:nvPr/>
        </p:nvSpPr>
        <p:spPr>
          <a:xfrm>
            <a:off x="5764020" y="2714626"/>
            <a:ext cx="4108642" cy="557212"/>
          </a:xfrm>
          <a:prstGeom prst="rect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a área de trabalho no Visual Studio Usando o C# e o .NET</a:t>
            </a:r>
            <a:endParaRPr/>
          </a:p>
        </p:txBody>
      </p:sp>
      <p:pic>
        <p:nvPicPr>
          <p:cNvPr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7517" y="1842334"/>
            <a:ext cx="5142446" cy="393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409575" y="1825624"/>
            <a:ext cx="5686425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3° Passo: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Escolha um nome e onde será salvo a pasta com os arquivos.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a área de trabalho no Visual Studio Usando o C# e o .NET</a:t>
            </a:r>
            <a:endParaRPr/>
          </a:p>
        </p:txBody>
      </p:sp>
      <p:pic>
        <p:nvPicPr>
          <p:cNvPr id="124" name="Google Shape;12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8368" y="1690826"/>
            <a:ext cx="7815263" cy="4130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Variáveis</a:t>
            </a:r>
            <a:endParaRPr/>
          </a:p>
        </p:txBody>
      </p:sp>
      <p:sp>
        <p:nvSpPr>
          <p:cNvPr id="130" name="Google Shape;130;p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	Espaço na memória capaz de Armazenar um tipo de informação (dado);</a:t>
            </a:r>
            <a:endParaRPr/>
          </a:p>
        </p:txBody>
      </p:sp>
      <p:pic>
        <p:nvPicPr>
          <p:cNvPr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0813" y="2577217"/>
            <a:ext cx="3370374" cy="3280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/>
          <p:nvPr/>
        </p:nvSpPr>
        <p:spPr>
          <a:xfrm>
            <a:off x="3581400" y="35163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pt-B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Dados</a:t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1081088" y="1848644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dados são as informações a serem processadas por um computador.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divididos em três tipos principais: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Numéricos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Caracteres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Lógicos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"/>
          <p:cNvSpPr/>
          <p:nvPr/>
        </p:nvSpPr>
        <p:spPr>
          <a:xfrm>
            <a:off x="2152650" y="365919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Numérico</a:t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895349" y="1826418"/>
            <a:ext cx="1097756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tipo numérico pode ser subdividido em tipos: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– números inteiros, positivos e negativos, como 5, 250 e -95.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Float – Números positivos, negativos e fracionários, como 5.0, 45.23 e -20.6</a:t>
            </a:r>
            <a:endParaRPr/>
          </a:p>
        </p:txBody>
      </p:sp>
      <p:pic>
        <p:nvPicPr>
          <p:cNvPr id="144" name="Google Shape;14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0425" y="3242567"/>
            <a:ext cx="4938712" cy="27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2152650" y="337344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pt-BR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Caractere</a:t>
            </a:r>
            <a:endParaRPr/>
          </a:p>
        </p:txBody>
      </p:sp>
      <p:sp>
        <p:nvSpPr>
          <p:cNvPr id="150" name="Google Shape;150;p11"/>
          <p:cNvSpPr/>
          <p:nvPr/>
        </p:nvSpPr>
        <p:spPr>
          <a:xfrm>
            <a:off x="632618" y="1662907"/>
            <a:ext cx="639683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referem a sequências que contenham letras, números e símbolos.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 caracteres devem ser representados sempre entre aspas(“ ”)  no código.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Char: Armazena um caractere;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String: Armazena um conjunto de caracteres;</a:t>
            </a:r>
            <a:endParaRPr/>
          </a:p>
        </p:txBody>
      </p:sp>
      <p:pic>
        <p:nvPicPr>
          <p:cNvPr id="151" name="Google Shape;15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5663" y="2278856"/>
            <a:ext cx="4600575" cy="230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/>
          <p:nvPr/>
        </p:nvSpPr>
        <p:spPr>
          <a:xfrm>
            <a:off x="2152649" y="35163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pt-BR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 Lógico</a:t>
            </a:r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752474" y="1562894"/>
            <a:ext cx="10687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São dados valores somente podem assumir um de dois valores: verdadeiro (True) ou falso (False).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pt-BR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Também conhecido como tipo bool.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8179" y="3038537"/>
            <a:ext cx="3195639" cy="28280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3"/>
          <p:cNvGrpSpPr/>
          <p:nvPr/>
        </p:nvGrpSpPr>
        <p:grpSpPr>
          <a:xfrm>
            <a:off x="1213246" y="728663"/>
            <a:ext cx="9765507" cy="4876798"/>
            <a:chOff x="1478756" y="828675"/>
            <a:chExt cx="9027320" cy="4433886"/>
          </a:xfrm>
        </p:grpSpPr>
        <p:sp>
          <p:nvSpPr>
            <p:cNvPr id="164" name="Google Shape;164;p13"/>
            <p:cNvSpPr/>
            <p:nvPr/>
          </p:nvSpPr>
          <p:spPr>
            <a:xfrm>
              <a:off x="4732734" y="828675"/>
              <a:ext cx="2497932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Variáveis / Constante </a:t>
              </a: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1478756" y="1995487"/>
              <a:ext cx="2497932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Números</a:t>
              </a: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4743450" y="1995487"/>
              <a:ext cx="2497932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Caracteres</a:t>
              </a: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>
              <a:off x="8008144" y="1995486"/>
              <a:ext cx="2497932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Lógico</a:t>
              </a: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2771775" y="3067048"/>
              <a:ext cx="1204913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</a:t>
              </a:r>
              <a:endParaRPr/>
            </a:p>
          </p:txBody>
        </p:sp>
        <p:sp>
          <p:nvSpPr>
            <p:cNvPr id="169" name="Google Shape;169;p13"/>
            <p:cNvSpPr/>
            <p:nvPr/>
          </p:nvSpPr>
          <p:spPr>
            <a:xfrm>
              <a:off x="2771775" y="4419598"/>
              <a:ext cx="1204913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float</a:t>
              </a:r>
              <a:endParaRPr/>
            </a:p>
          </p:txBody>
        </p:sp>
        <p:cxnSp>
          <p:nvCxnSpPr>
            <p:cNvPr id="170" name="Google Shape;170;p13"/>
            <p:cNvCxnSpPr>
              <a:stCxn id="169" idx="1"/>
            </p:cNvCxnSpPr>
            <p:nvPr/>
          </p:nvCxnSpPr>
          <p:spPr>
            <a:xfrm rot="10800000">
              <a:off x="1842975" y="2838580"/>
              <a:ext cx="928800" cy="2002500"/>
            </a:xfrm>
            <a:prstGeom prst="bentConnector2">
              <a:avLst/>
            </a:prstGeom>
            <a:noFill/>
            <a:ln cap="flat" cmpd="sng" w="38100">
              <a:solidFill>
                <a:srgbClr val="3E6E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13"/>
            <p:cNvCxnSpPr>
              <a:stCxn id="168" idx="1"/>
            </p:cNvCxnSpPr>
            <p:nvPr/>
          </p:nvCxnSpPr>
          <p:spPr>
            <a:xfrm rot="10800000">
              <a:off x="1842975" y="3488530"/>
              <a:ext cx="928800" cy="0"/>
            </a:xfrm>
            <a:prstGeom prst="straightConnector1">
              <a:avLst/>
            </a:prstGeom>
            <a:noFill/>
            <a:ln cap="flat" cmpd="sng" w="38100">
              <a:solidFill>
                <a:srgbClr val="3E6E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2" name="Google Shape;172;p13"/>
            <p:cNvSpPr/>
            <p:nvPr/>
          </p:nvSpPr>
          <p:spPr>
            <a:xfrm>
              <a:off x="6025753" y="3067048"/>
              <a:ext cx="1204913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char</a:t>
              </a:r>
              <a:endParaRPr/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6025753" y="4419598"/>
              <a:ext cx="1204913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string</a:t>
              </a:r>
              <a:endParaRPr/>
            </a:p>
          </p:txBody>
        </p:sp>
        <p:cxnSp>
          <p:nvCxnSpPr>
            <p:cNvPr id="174" name="Google Shape;174;p13"/>
            <p:cNvCxnSpPr>
              <a:stCxn id="173" idx="1"/>
            </p:cNvCxnSpPr>
            <p:nvPr/>
          </p:nvCxnSpPr>
          <p:spPr>
            <a:xfrm rot="10800000">
              <a:off x="5096953" y="2838580"/>
              <a:ext cx="928800" cy="2002500"/>
            </a:xfrm>
            <a:prstGeom prst="bentConnector2">
              <a:avLst/>
            </a:prstGeom>
            <a:noFill/>
            <a:ln cap="flat" cmpd="sng" w="38100">
              <a:solidFill>
                <a:srgbClr val="3E6E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13"/>
            <p:cNvCxnSpPr>
              <a:stCxn id="172" idx="1"/>
            </p:cNvCxnSpPr>
            <p:nvPr/>
          </p:nvCxnSpPr>
          <p:spPr>
            <a:xfrm rot="10800000">
              <a:off x="5096953" y="3488530"/>
              <a:ext cx="928800" cy="0"/>
            </a:xfrm>
            <a:prstGeom prst="straightConnector1">
              <a:avLst/>
            </a:prstGeom>
            <a:noFill/>
            <a:ln cap="flat" cmpd="sng" w="38100">
              <a:solidFill>
                <a:srgbClr val="3E6E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6" name="Google Shape;176;p13"/>
            <p:cNvSpPr/>
            <p:nvPr/>
          </p:nvSpPr>
          <p:spPr>
            <a:xfrm>
              <a:off x="9301163" y="3214684"/>
              <a:ext cx="1204913" cy="842963"/>
            </a:xfrm>
            <a:prstGeom prst="rect">
              <a:avLst/>
            </a:prstGeom>
            <a:solidFill>
              <a:schemeClr val="accent1"/>
            </a:solidFill>
            <a:ln cap="flat" cmpd="sng" w="25400">
              <a:solidFill>
                <a:srgbClr val="3153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pt-BR" sz="2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bool</a:t>
              </a:r>
              <a:endParaRPr/>
            </a:p>
          </p:txBody>
        </p:sp>
        <p:cxnSp>
          <p:nvCxnSpPr>
            <p:cNvPr id="177" name="Google Shape;177;p13"/>
            <p:cNvCxnSpPr>
              <a:stCxn id="176" idx="1"/>
            </p:cNvCxnSpPr>
            <p:nvPr/>
          </p:nvCxnSpPr>
          <p:spPr>
            <a:xfrm rot="10800000">
              <a:off x="8658263" y="2838466"/>
              <a:ext cx="642900" cy="797700"/>
            </a:xfrm>
            <a:prstGeom prst="bentConnector2">
              <a:avLst/>
            </a:prstGeom>
            <a:noFill/>
            <a:ln cap="flat" cmpd="sng" w="38100">
              <a:solidFill>
                <a:srgbClr val="3E6E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13"/>
            <p:cNvCxnSpPr>
              <a:stCxn id="164" idx="1"/>
              <a:endCxn id="165" idx="0"/>
            </p:cNvCxnSpPr>
            <p:nvPr/>
          </p:nvCxnSpPr>
          <p:spPr>
            <a:xfrm flipH="1">
              <a:off x="2727834" y="1250156"/>
              <a:ext cx="2004900" cy="745200"/>
            </a:xfrm>
            <a:prstGeom prst="bentConnector2">
              <a:avLst/>
            </a:prstGeom>
            <a:noFill/>
            <a:ln cap="flat" cmpd="sng" w="38100">
              <a:solidFill>
                <a:srgbClr val="3E6E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13"/>
            <p:cNvCxnSpPr>
              <a:stCxn id="164" idx="2"/>
              <a:endCxn id="166" idx="0"/>
            </p:cNvCxnSpPr>
            <p:nvPr/>
          </p:nvCxnSpPr>
          <p:spPr>
            <a:xfrm>
              <a:off x="5981700" y="1671638"/>
              <a:ext cx="10800" cy="323700"/>
            </a:xfrm>
            <a:prstGeom prst="straightConnector1">
              <a:avLst/>
            </a:prstGeom>
            <a:noFill/>
            <a:ln cap="flat" cmpd="sng" w="38100">
              <a:solidFill>
                <a:srgbClr val="3E6EC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13"/>
            <p:cNvCxnSpPr>
              <a:stCxn id="164" idx="3"/>
              <a:endCxn id="167" idx="0"/>
            </p:cNvCxnSpPr>
            <p:nvPr/>
          </p:nvCxnSpPr>
          <p:spPr>
            <a:xfrm>
              <a:off x="7230666" y="1250156"/>
              <a:ext cx="2026500" cy="745200"/>
            </a:xfrm>
            <a:prstGeom prst="bentConnector2">
              <a:avLst/>
            </a:prstGeom>
            <a:noFill/>
            <a:ln cap="flat" cmpd="sng" w="38100">
              <a:solidFill>
                <a:srgbClr val="3E6EC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Uma variável é declarada da seguinte forma;</a:t>
            </a:r>
            <a:endParaRPr/>
          </a:p>
        </p:txBody>
      </p:sp>
      <p:pic>
        <p:nvPicPr>
          <p:cNvPr id="186" name="Google Shape;18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7079" y="2495523"/>
            <a:ext cx="5737841" cy="160499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/>
          <p:nvPr/>
        </p:nvSpPr>
        <p:spPr>
          <a:xfrm>
            <a:off x="838199" y="4770411"/>
            <a:ext cx="2886075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Tipo(Qual forma de dado será armazenada)</a:t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4652962" y="4770411"/>
            <a:ext cx="2886075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Nome (Identificador. Deve ser um nome único);</a:t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8467725" y="4770411"/>
            <a:ext cx="2886075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Dado a ser armazenado inicialmente </a:t>
            </a:r>
            <a:endParaRPr/>
          </a:p>
        </p:txBody>
      </p:sp>
      <p:cxnSp>
        <p:nvCxnSpPr>
          <p:cNvPr id="190" name="Google Shape;190;p14"/>
          <p:cNvCxnSpPr>
            <a:stCxn id="187" idx="0"/>
          </p:cNvCxnSpPr>
          <p:nvPr/>
        </p:nvCxnSpPr>
        <p:spPr>
          <a:xfrm flipH="1" rot="10800000">
            <a:off x="2281237" y="3614811"/>
            <a:ext cx="1276500" cy="1155600"/>
          </a:xfrm>
          <a:prstGeom prst="straightConnector1">
            <a:avLst/>
          </a:prstGeom>
          <a:noFill/>
          <a:ln cap="flat" cmpd="sng" w="57150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14"/>
          <p:cNvCxnSpPr>
            <a:stCxn id="188" idx="0"/>
          </p:cNvCxnSpPr>
          <p:nvPr/>
        </p:nvCxnSpPr>
        <p:spPr>
          <a:xfrm rot="10800000">
            <a:off x="6078900" y="3614811"/>
            <a:ext cx="17100" cy="1155600"/>
          </a:xfrm>
          <a:prstGeom prst="straightConnector1">
            <a:avLst/>
          </a:prstGeom>
          <a:noFill/>
          <a:ln cap="flat" cmpd="sng" w="57150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" name="Google Shape;192;p14"/>
          <p:cNvCxnSpPr>
            <a:stCxn id="189" idx="0"/>
          </p:cNvCxnSpPr>
          <p:nvPr/>
        </p:nvCxnSpPr>
        <p:spPr>
          <a:xfrm rot="10800000">
            <a:off x="8252063" y="3614811"/>
            <a:ext cx="1658700" cy="1155600"/>
          </a:xfrm>
          <a:prstGeom prst="straightConnector1">
            <a:avLst/>
          </a:prstGeom>
          <a:noFill/>
          <a:ln cap="flat" cmpd="sng" w="57150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" name="Google Shape;193;p14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Declarando uma Variável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Uma variável é declarada da seguinte forma;</a:t>
            </a:r>
            <a:endParaRPr/>
          </a:p>
        </p:txBody>
      </p:sp>
      <p:sp>
        <p:nvSpPr>
          <p:cNvPr id="199" name="Google Shape;199;p15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Declarando uma Constante</a:t>
            </a:r>
            <a:endParaRPr/>
          </a:p>
        </p:txBody>
      </p:sp>
      <p:pic>
        <p:nvPicPr>
          <p:cNvPr id="200" name="Google Shape;2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1236" y="2700338"/>
            <a:ext cx="7421985" cy="11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5"/>
          <p:cNvSpPr/>
          <p:nvPr/>
        </p:nvSpPr>
        <p:spPr>
          <a:xfrm>
            <a:off x="838199" y="4770411"/>
            <a:ext cx="2886075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Tipo(Qual forma de dado será armazenada)</a:t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4652962" y="4770411"/>
            <a:ext cx="2886075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Nome (Identificador. Deve ser um nome único);</a:t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8467725" y="4770411"/>
            <a:ext cx="2886075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Dado a ser armazenado inicialmente </a:t>
            </a:r>
            <a:endParaRPr/>
          </a:p>
        </p:txBody>
      </p:sp>
      <p:cxnSp>
        <p:nvCxnSpPr>
          <p:cNvPr id="204" name="Google Shape;204;p15"/>
          <p:cNvCxnSpPr>
            <a:stCxn id="201" idx="0"/>
          </p:cNvCxnSpPr>
          <p:nvPr/>
        </p:nvCxnSpPr>
        <p:spPr>
          <a:xfrm flipH="1" rot="10800000">
            <a:off x="2281237" y="3429111"/>
            <a:ext cx="2802300" cy="1341300"/>
          </a:xfrm>
          <a:prstGeom prst="straightConnector1">
            <a:avLst/>
          </a:prstGeom>
          <a:noFill/>
          <a:ln cap="flat" cmpd="sng" w="57150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5" name="Google Shape;205;p15"/>
          <p:cNvCxnSpPr>
            <a:stCxn id="202" idx="0"/>
          </p:cNvCxnSpPr>
          <p:nvPr/>
        </p:nvCxnSpPr>
        <p:spPr>
          <a:xfrm flipH="1" rot="10800000">
            <a:off x="6096000" y="3429111"/>
            <a:ext cx="430500" cy="1341300"/>
          </a:xfrm>
          <a:prstGeom prst="straightConnector1">
            <a:avLst/>
          </a:prstGeom>
          <a:noFill/>
          <a:ln cap="flat" cmpd="sng" w="57150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6" name="Google Shape;206;p15"/>
          <p:cNvCxnSpPr>
            <a:stCxn id="203" idx="0"/>
          </p:cNvCxnSpPr>
          <p:nvPr/>
        </p:nvCxnSpPr>
        <p:spPr>
          <a:xfrm rot="10800000">
            <a:off x="9085763" y="3543411"/>
            <a:ext cx="825000" cy="1227000"/>
          </a:xfrm>
          <a:prstGeom prst="straightConnector1">
            <a:avLst/>
          </a:prstGeom>
          <a:noFill/>
          <a:ln cap="flat" cmpd="sng" w="57150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7" name="Google Shape;207;p15"/>
          <p:cNvSpPr/>
          <p:nvPr/>
        </p:nvSpPr>
        <p:spPr>
          <a:xfrm>
            <a:off x="340146" y="3328894"/>
            <a:ext cx="1684179" cy="91440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Termo da constante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5"/>
          <p:cNvCxnSpPr>
            <a:stCxn id="207" idx="3"/>
          </p:cNvCxnSpPr>
          <p:nvPr/>
        </p:nvCxnSpPr>
        <p:spPr>
          <a:xfrm flipH="1" rot="10800000">
            <a:off x="2024325" y="3486094"/>
            <a:ext cx="895200" cy="300000"/>
          </a:xfrm>
          <a:prstGeom prst="straightConnector1">
            <a:avLst/>
          </a:prstGeom>
          <a:noFill/>
          <a:ln cap="flat" cmpd="sng" w="57150">
            <a:solidFill>
              <a:srgbClr val="3E6EC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Exemplos de Declaração de Variáveis </a:t>
            </a:r>
            <a:endParaRPr/>
          </a:p>
        </p:txBody>
      </p:sp>
      <p:pic>
        <p:nvPicPr>
          <p:cNvPr id="214" name="Google Shape;2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1095" y="1524897"/>
            <a:ext cx="7065793" cy="4280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/>
          <p:nvPr>
            <p:ph type="title"/>
          </p:nvPr>
        </p:nvSpPr>
        <p:spPr>
          <a:xfrm>
            <a:off x="838200" y="178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Símbolos Utilizados</a:t>
            </a:r>
            <a:endParaRPr b="1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0" name="Google Shape;220;p18"/>
          <p:cNvGraphicFramePr/>
          <p:nvPr/>
        </p:nvGraphicFramePr>
        <p:xfrm>
          <a:off x="595313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{A76043CC-1FAC-411A-A0CF-2619F7D8CC7C}</a:tableStyleId>
              </a:tblPr>
              <a:tblGrid>
                <a:gridCol w="2396125"/>
                <a:gridCol w="860525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u="none" cap="none" strike="noStrike"/>
                        <a:t>Símbolos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79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Indica uma quebra de linha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( 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É utilizado para colocar os parâmetros de um método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{ 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Indica as ações dentro de um método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[ ]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Indica a quantidade ou a posição de um arrey</a:t>
                      </a:r>
                      <a:endParaRPr sz="2800" u="none" cap="none" strike="noStrike"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Entre palavras, aciona variáveis ou métodos de uma classe. Entre números, representa uma virgula.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>
            <p:ph type="title"/>
          </p:nvPr>
        </p:nvSpPr>
        <p:spPr>
          <a:xfrm>
            <a:off x="838200" y="1780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Símbolos Utilizados</a:t>
            </a:r>
            <a:endParaRPr b="1">
              <a:solidFill>
                <a:srgbClr val="1F386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6" name="Google Shape;226;p19"/>
          <p:cNvGraphicFramePr/>
          <p:nvPr/>
        </p:nvGraphicFramePr>
        <p:xfrm>
          <a:off x="1323975" y="1386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{A76043CC-1FAC-411A-A0CF-2619F7D8CC7C}</a:tableStyleId>
              </a:tblPr>
              <a:tblGrid>
                <a:gridCol w="2078700"/>
                <a:gridCol w="7465350"/>
              </a:tblGrid>
              <a:tr h="515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u="none" cap="none" strike="noStrike"/>
                        <a:t>Símbolos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2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“”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Representa uma string</a:t>
                      </a:r>
                      <a:endParaRPr sz="2800" u="none" cap="none" strike="noStrike"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‘’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Representa um char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f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No final de um </a:t>
                      </a:r>
                      <a:r>
                        <a:rPr lang="pt-BR" sz="2800"/>
                        <a:t>número</a:t>
                      </a:r>
                      <a:r>
                        <a:rPr lang="pt-BR" sz="2800" u="none" cap="none" strike="noStrike"/>
                        <a:t>, identifica que é um float.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//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Comenta toda uma linha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2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3600" u="none" cap="none" strike="noStrike"/>
                        <a:t>/* */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800" u="none" cap="none" strike="noStrike"/>
                        <a:t>Comenta todo um bloco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838200" y="1368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	Para mandar dado sistema para console de teste, são usados métodos da classe Console: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Console.Write();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Grava o fluxo de caracteres na saída padrão;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Console.WriteLine();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Grava o fluxo de caracteres na próxima linha, na saída padrão;</a:t>
            </a:r>
            <a:endParaRPr/>
          </a:p>
        </p:txBody>
      </p:sp>
      <p:sp>
        <p:nvSpPr>
          <p:cNvPr id="232" name="Google Shape;232;p20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Saída de dados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838200" y="13684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	Para que tenha algo escrito no console, escreva o texto entre “” dentro dos () ou uma variável: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8" name="Google Shape;238;p21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Saída de dados</a:t>
            </a:r>
            <a:endParaRPr/>
          </a:p>
        </p:txBody>
      </p:sp>
      <p:pic>
        <p:nvPicPr>
          <p:cNvPr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8371" y="2884377"/>
            <a:ext cx="5869452" cy="22104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0057" y="2882679"/>
            <a:ext cx="2788444" cy="2212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>
            <p:ph idx="1" type="body"/>
          </p:nvPr>
        </p:nvSpPr>
        <p:spPr>
          <a:xfrm>
            <a:off x="838200" y="12534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	Para entrar com um dado via teclado para console de teste, são usados métodos da classe Console: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Console.Read();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Lê o próximo caractere no fluxo de entrada;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pt-BR"/>
              <a:t>Console.ReadLine();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Lê a próxima linha no fluxo de entrada;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Entrada de dados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idx="1" type="body"/>
          </p:nvPr>
        </p:nvSpPr>
        <p:spPr>
          <a:xfrm>
            <a:off x="838199" y="14391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Utilize o Console.Read ou o Console.ReadLine para atribuir o valor lido no console a uma variável.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Entrada de dados</a:t>
            </a:r>
            <a:endParaRPr/>
          </a:p>
        </p:txBody>
      </p:sp>
      <p:pic>
        <p:nvPicPr>
          <p:cNvPr id="253" name="Google Shape;2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6368" y="2752543"/>
            <a:ext cx="9899263" cy="1724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idx="1" type="body"/>
          </p:nvPr>
        </p:nvSpPr>
        <p:spPr>
          <a:xfrm>
            <a:off x="838200" y="1472112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A variável “Numero” está com erro, pois o valor que vem do console é uma string. Para </a:t>
            </a:r>
            <a:r>
              <a:rPr lang="pt-BR"/>
              <a:t>consertar</a:t>
            </a:r>
            <a:r>
              <a:rPr lang="pt-BR"/>
              <a:t>, o valor deve ser convertido para inteiro e só deve receber </a:t>
            </a:r>
            <a:r>
              <a:rPr lang="pt-BR"/>
              <a:t>número</a:t>
            </a:r>
            <a:r>
              <a:rPr lang="pt-BR"/>
              <a:t>. Para isso utilize o: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Entrada de dados</a:t>
            </a:r>
            <a:endParaRPr/>
          </a:p>
        </p:txBody>
      </p:sp>
      <p:pic>
        <p:nvPicPr>
          <p:cNvPr id="260" name="Google Shape;2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5005" y="2829856"/>
            <a:ext cx="10121989" cy="1635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5"/>
          <p:cNvSpPr txBox="1"/>
          <p:nvPr>
            <p:ph type="title"/>
          </p:nvPr>
        </p:nvSpPr>
        <p:spPr>
          <a:xfrm>
            <a:off x="943014" y="32861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Comandos </a:t>
            </a:r>
            <a:endParaRPr/>
          </a:p>
        </p:txBody>
      </p:sp>
      <p:graphicFrame>
        <p:nvGraphicFramePr>
          <p:cNvPr id="266" name="Google Shape;266;p25"/>
          <p:cNvGraphicFramePr/>
          <p:nvPr/>
        </p:nvGraphicFramePr>
        <p:xfrm>
          <a:off x="719216" y="1908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{A76043CC-1FAC-411A-A0CF-2619F7D8CC7C}</a:tableStyleId>
              </a:tblPr>
              <a:tblGrid>
                <a:gridCol w="2695500"/>
                <a:gridCol w="8267700"/>
              </a:tblGrid>
              <a:tr h="50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Comando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Console.Write( );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Grava o fluxo de caracteres na saída padrão;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0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Console.WriteLine( );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Grava o fluxo de caracteres na próxima linha, na saída padrão;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Console.Read( );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Lê o próximo caractere no fluxo de entrada;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Console.ReadLine( );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Lê a próxima linha no fluxo de entrada;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idx="1" type="body"/>
          </p:nvPr>
        </p:nvSpPr>
        <p:spPr>
          <a:xfrm>
            <a:off x="523875" y="1427628"/>
            <a:ext cx="6319838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 sz="3200"/>
              <a:t>Crie um algoritmo que escreve no console a frase “HELLO WORLD!”.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pt-BR" sz="2800"/>
              <a:t>Crie uma variável chamada “saudacao” e atribua a frase “HELLO WORLD” a ela;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pt-BR" sz="2800"/>
              <a:t>Imprima a imagem no console usando o comando Console.Write();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pt-BR" sz="2800"/>
              <a:t>No final utilize um Console.Read() para que a aplicação só feche depois de friccionar ENTER.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3200"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800"/>
          </a:p>
        </p:txBody>
      </p:sp>
      <p:sp>
        <p:nvSpPr>
          <p:cNvPr id="272" name="Google Shape;272;p26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Desenvolvendo o Primeiro Algoritmo em C#</a:t>
            </a:r>
            <a:endParaRPr/>
          </a:p>
        </p:txBody>
      </p:sp>
      <p:pic>
        <p:nvPicPr>
          <p:cNvPr id="273" name="Google Shape;2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1869" y="1825625"/>
            <a:ext cx="3555206" cy="3555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838200" y="146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Concatenar é utilizado para juntar textos ou números de variáveis com textos “prontos”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79" name="Google Shape;279;p27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Concatenar Strings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0900" y="2596129"/>
            <a:ext cx="9850225" cy="209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6886" y="4757687"/>
            <a:ext cx="11298227" cy="78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/>
          <p:nvPr>
            <p:ph type="title"/>
          </p:nvPr>
        </p:nvSpPr>
        <p:spPr>
          <a:xfrm>
            <a:off x="838200" y="5572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Operadores Aritméticos </a:t>
            </a:r>
            <a:endParaRPr/>
          </a:p>
        </p:txBody>
      </p:sp>
      <p:graphicFrame>
        <p:nvGraphicFramePr>
          <p:cNvPr id="287" name="Google Shape;287;p29"/>
          <p:cNvGraphicFramePr/>
          <p:nvPr/>
        </p:nvGraphicFramePr>
        <p:xfrm>
          <a:off x="347821" y="13483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{A76043CC-1FAC-411A-A0CF-2619F7D8CC7C}</a:tableStyleId>
              </a:tblPr>
              <a:tblGrid>
                <a:gridCol w="1722750"/>
                <a:gridCol w="2060900"/>
                <a:gridCol w="6231250"/>
                <a:gridCol w="1481450"/>
              </a:tblGrid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OPERADOR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OPERAÇÃO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Resultado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Atribuição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Atribui o valor da direita à esquerda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= 4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b = 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+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Soma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Soma dois valores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+ b = 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-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Subtração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Subtrai dois valores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- b = 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*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Multiplicação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Multiplica dois valores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* b = 8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/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Divisão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Divide um valor por outro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/ b = 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%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Resto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Divide um valor por outro e retorna o resto da divisão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% b = 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>
            <p:ph type="title"/>
          </p:nvPr>
        </p:nvSpPr>
        <p:spPr>
          <a:xfrm>
            <a:off x="838200" y="5572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Operadores Aritméticos </a:t>
            </a:r>
            <a:endParaRPr/>
          </a:p>
        </p:txBody>
      </p:sp>
      <p:graphicFrame>
        <p:nvGraphicFramePr>
          <p:cNvPr id="293" name="Google Shape;293;p30"/>
          <p:cNvGraphicFramePr/>
          <p:nvPr/>
        </p:nvGraphicFramePr>
        <p:xfrm>
          <a:off x="347821" y="13483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{A76043CC-1FAC-411A-A0CF-2619F7D8CC7C}</a:tableStyleId>
              </a:tblPr>
              <a:tblGrid>
                <a:gridCol w="1722750"/>
                <a:gridCol w="2060900"/>
                <a:gridCol w="6231250"/>
                <a:gridCol w="1481450"/>
              </a:tblGrid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OPERADOR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OPERAÇÃO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Resultado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++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Incremento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Soma um a uma variável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a++  (5)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--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Decremento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Subtrai um a uma variável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a-- (3)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+=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Valor mais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Soma o valor depois do igual ao valor da variável toda vez que ler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+= b (6,8,10..)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-=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Valor menos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Subtrai o valor depois do igual ao valor da variável toda vez que ler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-= b (2,0,-2...)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*=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Valor multiplicado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Multiplica o valor depois do igual ao valor da variável toda vez que ler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*= b (8,16,32...)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/=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Valor dividido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Divide o valor depois do igual ao valor da variável toda vez que ler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a /= b (2,1...)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"/>
          <p:cNvSpPr txBox="1"/>
          <p:nvPr>
            <p:ph type="title"/>
          </p:nvPr>
        </p:nvSpPr>
        <p:spPr>
          <a:xfrm>
            <a:off x="838200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Operadores Lógicos </a:t>
            </a:r>
            <a:endParaRPr/>
          </a:p>
        </p:txBody>
      </p:sp>
      <p:graphicFrame>
        <p:nvGraphicFramePr>
          <p:cNvPr id="299" name="Google Shape;299;p31"/>
          <p:cNvGraphicFramePr/>
          <p:nvPr/>
        </p:nvGraphicFramePr>
        <p:xfrm>
          <a:off x="226298" y="11125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{A76043CC-1FAC-411A-A0CF-2619F7D8CC7C}</a:tableStyleId>
              </a:tblPr>
              <a:tblGrid>
                <a:gridCol w="1563000"/>
                <a:gridCol w="1869775"/>
                <a:gridCol w="5455050"/>
                <a:gridCol w="2851600"/>
              </a:tblGrid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OPERADOR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OPERAÇÃO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Resultado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!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Inverso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Inverte o valor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c = true;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!c = false;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d = true;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!d = false;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45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&amp;&amp;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Lógica de Simultaneidade 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c &amp;&amp; d = true;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c &amp;&amp; !d = false;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!c &amp;&amp; d = false;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!c &amp;&amp; !d = false;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||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Ou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Lógica Alternada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/>
                        <a:t>c || d = true;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c || !d = true;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!c || d = true;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pt-BR" sz="2000" u="none" cap="none" strike="noStrike"/>
                        <a:t>!c || !d = false;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/>
          <p:nvPr>
            <p:ph type="title"/>
          </p:nvPr>
        </p:nvSpPr>
        <p:spPr>
          <a:xfrm>
            <a:off x="838200" y="-428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Operadores Relacionais </a:t>
            </a:r>
            <a:endParaRPr/>
          </a:p>
        </p:txBody>
      </p:sp>
      <p:graphicFrame>
        <p:nvGraphicFramePr>
          <p:cNvPr id="305" name="Google Shape;305;p32"/>
          <p:cNvGraphicFramePr/>
          <p:nvPr/>
        </p:nvGraphicFramePr>
        <p:xfrm>
          <a:off x="390604" y="9330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{A76043CC-1FAC-411A-A0CF-2619F7D8CC7C}</a:tableStyleId>
              </a:tblPr>
              <a:tblGrid>
                <a:gridCol w="1654300"/>
                <a:gridCol w="1715925"/>
                <a:gridCol w="6140450"/>
                <a:gridCol w="1900125"/>
              </a:tblGrid>
              <a:tr h="51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OPERADOR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OPERAÇÃO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Resultado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3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==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Igualdade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Compara se o valor da esquerda é igual o da direita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 == b (false)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 == d (true)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 == !d (false)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936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!=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Diferente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Compara se o valor da esquerda é diferente o da direita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 != b (true)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 != d (false)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 != !d (true)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&gt;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Maior Que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Compara se o valor da esquerda é maior que o da direita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a &gt; b (true)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b &gt; a (false)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&lt;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Menor Que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Compara se o valor da esquerda é menor que o da direita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 &lt; b (false)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b &lt; a (true)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&gt;=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Maior ou Igual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Compara se o valor da esquerda é maior ou igual o da direita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 &gt;= b (false)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b &gt;= a (true)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52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&gt;=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Menor ou Igual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Compara se o valor da esquerda é menor ou igual o da direita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a &lt;= b (false)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b &lt;= a (true)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pt-BR"/>
              <a:t>	Para um algoritmo ficar mais completo, é necessário que o mesmo possua tomadas de decisão, e para isso usamos os métodos condicionais.</a:t>
            </a:r>
            <a:endParaRPr/>
          </a:p>
          <a:p>
            <a:pPr indent="0" lvl="0" marL="1143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1" name="Google Shape;311;p33"/>
          <p:cNvSpPr txBox="1"/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Condicionais</a:t>
            </a:r>
            <a:endParaRPr/>
          </a:p>
        </p:txBody>
      </p:sp>
      <p:pic>
        <p:nvPicPr>
          <p:cNvPr id="312" name="Google Shape;31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7088" y="3053161"/>
            <a:ext cx="4677823" cy="2923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"/>
          <p:cNvSpPr txBox="1"/>
          <p:nvPr>
            <p:ph idx="1" type="body"/>
          </p:nvPr>
        </p:nvSpPr>
        <p:spPr>
          <a:xfrm>
            <a:off x="838200" y="144793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Para efetuar uma tomada de decisão, na maioria dos caso utilizamos o método if para fazer a decisão;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Sempre que existe uma condição com mais de uma resposta, o if vem acompanhado com else e o else if;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BR"/>
              <a:t>IF, ELSE e ELSE IF do infles significa, SE, SENÃO e SENÃO SE;</a:t>
            </a:r>
            <a:endParaRPr/>
          </a:p>
          <a:p>
            <a:pPr indent="-228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18" name="Google Shape;318;p34"/>
          <p:cNvSpPr txBox="1"/>
          <p:nvPr>
            <p:ph type="title"/>
          </p:nvPr>
        </p:nvSpPr>
        <p:spPr>
          <a:xfrm>
            <a:off x="838200" y="12223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If, Else e Else If</a:t>
            </a:r>
            <a:endParaRPr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0010" y="3816074"/>
            <a:ext cx="3871979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"/>
          <p:cNvSpPr txBox="1"/>
          <p:nvPr>
            <p:ph idx="1" type="body"/>
          </p:nvPr>
        </p:nvSpPr>
        <p:spPr>
          <a:xfrm>
            <a:off x="1570627" y="157002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1" marL="9144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25" name="Google Shape;325;p35"/>
          <p:cNvSpPr txBox="1"/>
          <p:nvPr>
            <p:ph type="title"/>
          </p:nvPr>
        </p:nvSpPr>
        <p:spPr>
          <a:xfrm>
            <a:off x="838200" y="12223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Estrutura IF</a:t>
            </a:r>
            <a:endParaRPr/>
          </a:p>
        </p:txBody>
      </p:sp>
      <p:pic>
        <p:nvPicPr>
          <p:cNvPr id="326" name="Google Shape;32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916" y="1447939"/>
            <a:ext cx="3806018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06068" y="1447939"/>
            <a:ext cx="3556174" cy="28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92991" y="2967840"/>
            <a:ext cx="3806018" cy="3075479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5"/>
          <p:cNvSpPr txBox="1"/>
          <p:nvPr/>
        </p:nvSpPr>
        <p:spPr>
          <a:xfrm>
            <a:off x="453312" y="4505579"/>
            <a:ext cx="32592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é menor que B</a:t>
            </a:r>
            <a:endParaRPr/>
          </a:p>
        </p:txBody>
      </p:sp>
      <p:sp>
        <p:nvSpPr>
          <p:cNvPr id="330" name="Google Shape;330;p35"/>
          <p:cNvSpPr txBox="1"/>
          <p:nvPr/>
        </p:nvSpPr>
        <p:spPr>
          <a:xfrm>
            <a:off x="4534515" y="2029633"/>
            <a:ext cx="312297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é maior que B</a:t>
            </a:r>
            <a:endParaRPr/>
          </a:p>
        </p:txBody>
      </p:sp>
      <p:sp>
        <p:nvSpPr>
          <p:cNvPr id="331" name="Google Shape;331;p35"/>
          <p:cNvSpPr txBox="1"/>
          <p:nvPr/>
        </p:nvSpPr>
        <p:spPr>
          <a:xfrm>
            <a:off x="8729645" y="4539808"/>
            <a:ext cx="25090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é igual a B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"/>
          <p:cNvSpPr txBox="1"/>
          <p:nvPr>
            <p:ph idx="1" type="body"/>
          </p:nvPr>
        </p:nvSpPr>
        <p:spPr>
          <a:xfrm>
            <a:off x="838200" y="144793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Switch/case 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uma estrutura de condição que define o código a ser executado com base em uma comparação de valores.</a:t>
            </a:r>
            <a:endParaRPr/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operador </a:t>
            </a: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é utilizado quando precisamos definir um fluxo alternativo para as situações em que o valor contido no switch não seja atendido por nenhum dos cases especificados.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6"/>
          <p:cNvSpPr txBox="1"/>
          <p:nvPr>
            <p:ph type="title"/>
          </p:nvPr>
        </p:nvSpPr>
        <p:spPr>
          <a:xfrm>
            <a:off x="838200" y="12223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Switch/Case</a:t>
            </a:r>
            <a:endParaRPr/>
          </a:p>
        </p:txBody>
      </p:sp>
    </p:spTree>
  </p:cSld>
  <p:clrMapOvr>
    <a:masterClrMapping/>
  </p:clrMapOvr>
  <p:transition spd="med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7"/>
          <p:cNvSpPr txBox="1"/>
          <p:nvPr>
            <p:ph type="title"/>
          </p:nvPr>
        </p:nvSpPr>
        <p:spPr>
          <a:xfrm>
            <a:off x="838200" y="12223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Switch/Case</a:t>
            </a:r>
            <a:endParaRPr/>
          </a:p>
        </p:txBody>
      </p:sp>
      <p:pic>
        <p:nvPicPr>
          <p:cNvPr id="343" name="Google Shape;34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0313" y="1090229"/>
            <a:ext cx="6972679" cy="4982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8"/>
          <p:cNvSpPr txBox="1"/>
          <p:nvPr>
            <p:ph type="title"/>
          </p:nvPr>
        </p:nvSpPr>
        <p:spPr>
          <a:xfrm>
            <a:off x="838200" y="-4286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Principais Comandos </a:t>
            </a:r>
            <a:endParaRPr/>
          </a:p>
        </p:txBody>
      </p:sp>
      <p:graphicFrame>
        <p:nvGraphicFramePr>
          <p:cNvPr id="349" name="Google Shape;349;p38"/>
          <p:cNvGraphicFramePr/>
          <p:nvPr/>
        </p:nvGraphicFramePr>
        <p:xfrm>
          <a:off x="614402" y="9390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{A76043CC-1FAC-411A-A0CF-2619F7D8CC7C}</a:tableStyleId>
              </a:tblPr>
              <a:tblGrid>
                <a:gridCol w="2695500"/>
                <a:gridCol w="8267700"/>
              </a:tblGrid>
              <a:tr h="505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Comando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DESCRIÇÃO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537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if( ){ 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/>
                        <a:t>Compara as</a:t>
                      </a:r>
                      <a:r>
                        <a:rPr lang="pt-BR" sz="1800" u="none" cap="none" strike="noStrike"/>
                        <a:t> informações e se for verdadeira faz a ação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70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else if( ){ 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Caso o if der falso, compara outra informação e se for verdadeira faz a ação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else{ 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Caso o if e o else if </a:t>
                      </a:r>
                      <a:r>
                        <a:rPr lang="pt-BR" sz="1800"/>
                        <a:t>darem</a:t>
                      </a:r>
                      <a:r>
                        <a:rPr lang="pt-BR" sz="1800" u="none" cap="none" strike="noStrike"/>
                        <a:t> falsos, faz a ação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switch(){ }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Compara os valores </a:t>
                      </a:r>
                      <a:r>
                        <a:rPr lang="pt-BR" sz="1800"/>
                        <a:t>possíveis</a:t>
                      </a:r>
                      <a:r>
                        <a:rPr lang="pt-BR" sz="1800" u="none" cap="none" strike="noStrike"/>
                        <a:t> valores que a variável pode receber.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case: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Um possível valor da variável;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default: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Um valor que não é esperado;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64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/>
                        <a:t>break;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pt-BR" sz="1800" u="none" cap="none" strike="noStrike"/>
                        <a:t>Encerra um caso retomando a continuação do algoritmo. 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ransition spd="med">
    <p:push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9"/>
          <p:cNvSpPr txBox="1"/>
          <p:nvPr>
            <p:ph type="title"/>
          </p:nvPr>
        </p:nvSpPr>
        <p:spPr>
          <a:xfrm>
            <a:off x="3509343" y="2730777"/>
            <a:ext cx="2218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endParaRPr/>
          </a:p>
        </p:txBody>
      </p:sp>
      <p:sp>
        <p:nvSpPr>
          <p:cNvPr id="355" name="Google Shape;355;p39"/>
          <p:cNvSpPr txBox="1"/>
          <p:nvPr>
            <p:ph idx="1" type="body"/>
          </p:nvPr>
        </p:nvSpPr>
        <p:spPr>
          <a:xfrm>
            <a:off x="6432937" y="2730776"/>
            <a:ext cx="42351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50"/>
              <a:buNone/>
            </a:pPr>
            <a:r>
              <a:rPr b="1" lang="pt-BR" sz="3200">
                <a:solidFill>
                  <a:schemeClr val="lt1"/>
                </a:solidFill>
              </a:rPr>
              <a:t>Prof. Chagas Junior</a:t>
            </a:r>
            <a:endParaRPr b="1" sz="3200">
              <a:solidFill>
                <a:schemeClr val="lt1"/>
              </a:solidFill>
            </a:endParaRPr>
          </a:p>
        </p:txBody>
      </p:sp>
      <p:cxnSp>
        <p:nvCxnSpPr>
          <p:cNvPr id="356" name="Google Shape;356;p39"/>
          <p:cNvCxnSpPr/>
          <p:nvPr/>
        </p:nvCxnSpPr>
        <p:spPr>
          <a:xfrm>
            <a:off x="6120848" y="2661332"/>
            <a:ext cx="0" cy="1133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Chagas Junior</dc:creator>
</cp:coreProperties>
</file>