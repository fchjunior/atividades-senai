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1" roundtripDataSignature="AMtx7miyqi2u7gE4NilbR3kGJotwqVvZ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899532-75EC-4A6C-A83C-9EEA01D8697B}">
  <a:tblStyle styleId="{EA899532-75EC-4A6C-A83C-9EEA01D869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39436A5-7E07-479A-8CFE-D7DE10C69B10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1c22cfe2e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11c22cfe2e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1c22cfe2e4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11c22cfe2e4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f39d3d313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f39d3d313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914400" y="1122363"/>
            <a:ext cx="10363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showMasterSp="0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showMasterSp="0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showMasterSp="0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showMasterSp="0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showMasterSp="0" type="vertTx">
  <p:cSld name="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2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2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3"/>
          <p:cNvSpPr txBox="1"/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" type="body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/>
        </p:nvSpPr>
        <p:spPr>
          <a:xfrm>
            <a:off x="1200900" y="1868696"/>
            <a:ext cx="48951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Técnico em Programação de Jogos Digitais.</a:t>
            </a:r>
            <a:endParaRPr b="1" i="0" sz="34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1200900" y="3692405"/>
            <a:ext cx="4895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BE4D4"/>
                </a:solidFill>
                <a:latin typeface="Calibri"/>
                <a:ea typeface="Calibri"/>
                <a:cs typeface="Calibri"/>
                <a:sym typeface="Calibri"/>
              </a:rPr>
              <a:t>Professor: Chagas Junior </a:t>
            </a:r>
            <a:endParaRPr b="1" i="0" sz="2400" u="none" cap="none" strike="noStrike">
              <a:solidFill>
                <a:srgbClr val="FBE4D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3431" y="2054564"/>
            <a:ext cx="4091523" cy="1241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762000" y="2370741"/>
            <a:ext cx="10668000" cy="2116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50"/>
              <a:buFont typeface="Calibri"/>
              <a:buNone/>
            </a:pPr>
            <a:r>
              <a:rPr b="1" i="0" lang="pt-BR" sz="3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UC: Lógica Computacional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5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50"/>
              <a:buFont typeface="Calibri"/>
              <a:buNone/>
            </a:pPr>
            <a:r>
              <a:rPr b="1" i="0" lang="pt-BR" sz="3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Aula 3 – Laços de Repetição.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idx="1" type="body"/>
          </p:nvPr>
        </p:nvSpPr>
        <p:spPr>
          <a:xfrm>
            <a:off x="838200" y="146843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Laços de repetição</a:t>
            </a:r>
            <a:r>
              <a:rPr b="0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também conhecidos como </a:t>
            </a:r>
            <a:r>
              <a:rPr b="1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laços</a:t>
            </a:r>
            <a:r>
              <a:rPr b="0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de iteração ou simplesmente loops, são comandos que permitem interação de código, ou seja, que comandos presentes no bloco sejam repetidos diversas vezes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Laços de Repetição </a:t>
            </a:r>
            <a:endParaRPr/>
          </a:p>
        </p:txBody>
      </p:sp>
      <p:pic>
        <p:nvPicPr>
          <p:cNvPr id="96" name="Google Shape;9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1025" y="3414712"/>
            <a:ext cx="3409950" cy="2624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838200" y="146843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i="0" lang="pt-BR">
                <a:solidFill>
                  <a:srgbClr val="253A44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laço </a:t>
            </a:r>
            <a:r>
              <a:rPr b="1" i="0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0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(na tradução literal para a língua portuguesa “enquanto”) determina que enquanto uma determinada condição for válida, o bloco de código será executado. O laço </a:t>
            </a:r>
            <a:r>
              <a:rPr b="0" i="1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0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testa a condição antes de executar o código, assim sendo, caso a condição seja inválida no primeiro teste o bloco nem é executado.</a:t>
            </a:r>
            <a:r>
              <a:rPr b="0" i="0" lang="pt-BR">
                <a:solidFill>
                  <a:srgbClr val="253A4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9089" y="2023053"/>
            <a:ext cx="5703185" cy="3460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9047" y="1690824"/>
            <a:ext cx="1346386" cy="4124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Do/While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838200" y="169082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i="0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O laço </a:t>
            </a:r>
            <a:r>
              <a:rPr b="1" i="0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do… while</a:t>
            </a:r>
            <a:r>
              <a:rPr b="0" i="0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(na tradução literal para a língua portuguesa “faça… enquanto”), assim como o laço </a:t>
            </a:r>
            <a:r>
              <a:rPr b="0" i="1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0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determina que enquanto uma determinada condição for válida o bloco de código será executado. Entretanto, </a:t>
            </a:r>
            <a:r>
              <a:rPr b="0" i="1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do… while</a:t>
            </a:r>
            <a:r>
              <a:rPr b="0" i="0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testa a condição após executar o código, assim sendo, mesmo que a condição seja considerada inválida no primeiro teste o bloco será executado pelo menos uma vez.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While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9047" y="1690824"/>
            <a:ext cx="1346386" cy="4124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6627" y="1941453"/>
            <a:ext cx="5278573" cy="3406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Exercício</a:t>
            </a:r>
            <a:endParaRPr/>
          </a:p>
        </p:txBody>
      </p:sp>
      <p:sp>
        <p:nvSpPr>
          <p:cNvPr id="128" name="Google Shape;128;p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Faça um algoritmo que conte de 0 a 100 em ordem decrescente.</a:t>
            </a:r>
            <a:endParaRPr/>
          </a:p>
        </p:txBody>
      </p:sp>
      <p:pic>
        <p:nvPicPr>
          <p:cNvPr id="129" name="Google Shape;12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6667" y="2519226"/>
            <a:ext cx="5418665" cy="365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endParaRPr/>
          </a:p>
        </p:txBody>
      </p:sp>
      <p:sp>
        <p:nvSpPr>
          <p:cNvPr id="135" name="Google Shape;135;p9"/>
          <p:cNvSpPr txBox="1"/>
          <p:nvPr>
            <p:ph idx="1" type="body"/>
          </p:nvPr>
        </p:nvSpPr>
        <p:spPr>
          <a:xfrm>
            <a:off x="838200" y="138271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i="0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O comando </a:t>
            </a:r>
            <a:r>
              <a:rPr b="1" i="0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(na tradução literal para a língua portuguesa “para”) permite que uma variável contadora seja testada e incrementada a cada iteração, sendo essas informações definidas na chamada do comando. O comando </a:t>
            </a:r>
            <a:r>
              <a:rPr b="0" i="1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recebe como entrada uma variável contadora, a condição e o valor de </a:t>
            </a:r>
            <a:r>
              <a:rPr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incremento</a:t>
            </a:r>
            <a:r>
              <a:rPr b="0" i="0" lang="pt-B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4559" y="4057991"/>
            <a:ext cx="6142881" cy="1974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rray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0"/>
          <p:cNvSpPr txBox="1"/>
          <p:nvPr>
            <p:ph idx="1" type="body"/>
          </p:nvPr>
        </p:nvSpPr>
        <p:spPr>
          <a:xfrm>
            <a:off x="838200" y="143855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Um </a:t>
            </a:r>
            <a:r>
              <a:rPr b="1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</a:t>
            </a:r>
            <a:r>
              <a:rPr b="0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é uma coleção de um ou mais objetos, do mesmo tipo, armazenados em endereços adjacentes de memória. Cada objeto é chamado de elemento do </a:t>
            </a:r>
            <a:r>
              <a:rPr b="1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</a:t>
            </a:r>
            <a:r>
              <a:rPr b="0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Da mesma forma que para variáveis simples, damos um nome ao </a:t>
            </a:r>
            <a:r>
              <a:rPr b="1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</a:t>
            </a:r>
            <a:r>
              <a:rPr b="0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O tamanho do </a:t>
            </a:r>
            <a:r>
              <a:rPr b="1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</a:t>
            </a:r>
            <a:r>
              <a:rPr b="0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é o seu número de elementos.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rray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1775" y="2592025"/>
            <a:ext cx="5754500" cy="3465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9" name="Google Shape;149;p11"/>
          <p:cNvGraphicFramePr/>
          <p:nvPr/>
        </p:nvGraphicFramePr>
        <p:xfrm>
          <a:off x="3471575" y="147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{EA899532-75EC-4A6C-A83C-9EEA01D8697B}</a:tableStyleId>
              </a:tblPr>
              <a:tblGrid>
                <a:gridCol w="955250"/>
                <a:gridCol w="955250"/>
                <a:gridCol w="955250"/>
                <a:gridCol w="955250"/>
                <a:gridCol w="955250"/>
              </a:tblGrid>
              <a:tr h="52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Slot 0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</a:rPr>
                        <a:t>Slot 1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</a:rPr>
                        <a:t>Slot 2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</a:rPr>
                        <a:t>Slot 3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</a:rPr>
                        <a:t>Slot 4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0</a:t>
                      </a:r>
                      <a:endParaRPr sz="1800"/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1</a:t>
                      </a:r>
                      <a:endParaRPr sz="1800"/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2</a:t>
                      </a:r>
                      <a:endParaRPr sz="1800"/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3</a:t>
                      </a:r>
                      <a:endParaRPr sz="1800"/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4</a:t>
                      </a:r>
                      <a:endParaRPr sz="1800"/>
                    </a:p>
                  </a:txBody>
                  <a:tcPr marT="91425" marB="91425" marR="91425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D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Foreach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34290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O comando </a:t>
            </a:r>
            <a:r>
              <a:rPr b="1" lang="pt-BR"/>
              <a:t>foreach</a:t>
            </a:r>
            <a:r>
              <a:rPr lang="pt-BR"/>
              <a:t> (na tradução literal para a língua portuguesa “para cada”), diferente do comando </a:t>
            </a:r>
            <a:r>
              <a:rPr i="1" lang="pt-BR"/>
              <a:t>while</a:t>
            </a:r>
            <a:r>
              <a:rPr lang="pt-BR"/>
              <a:t>, realiza iterações sobre coleções. Sendo assim, a cada “volta” do laço, a variável definida na chamada do </a:t>
            </a:r>
            <a:r>
              <a:rPr i="1" lang="pt-BR"/>
              <a:t>foreach</a:t>
            </a:r>
            <a:r>
              <a:rPr lang="pt-BR"/>
              <a:t> assume o valor de um dos elementos da coleção. A execução do comando é finalizada quando chega ao fim da coleção ou através de um comando de interrupção, como veremos em breve. 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Foreach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4426" y="1456910"/>
            <a:ext cx="5303148" cy="44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1c22cfe2e4_0_0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latin typeface="Arial"/>
                <a:ea typeface="Arial"/>
                <a:cs typeface="Arial"/>
                <a:sym typeface="Arial"/>
              </a:rPr>
              <a:t>Matriz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11c22cfe2e4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3300"/>
              <a:t>	</a:t>
            </a:r>
            <a:r>
              <a:rPr b="1" lang="pt-BR" sz="3300"/>
              <a:t>Matriz</a:t>
            </a:r>
            <a:r>
              <a:rPr lang="pt-BR" sz="3300"/>
              <a:t> é uma tabela organizada em linhas e colunas no formato m x n, onde m representa o número de linhas (horizontal) e n o número de colunas (vertical). A função das </a:t>
            </a:r>
            <a:r>
              <a:rPr b="1" lang="pt-BR" sz="3300"/>
              <a:t>matrizes</a:t>
            </a:r>
            <a:r>
              <a:rPr lang="pt-BR" sz="3300"/>
              <a:t> é relacionar dados.</a:t>
            </a:r>
            <a:endParaRPr sz="4100"/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c22cfe2e4_0_5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latin typeface="Arial"/>
                <a:ea typeface="Arial"/>
                <a:cs typeface="Arial"/>
                <a:sym typeface="Arial"/>
              </a:rPr>
              <a:t>Matriz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g11c22cfe2e4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850" y="1815575"/>
            <a:ext cx="7703175" cy="3121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4" name="Google Shape;174;g11c22cfe2e4_0_5"/>
          <p:cNvGraphicFramePr/>
          <p:nvPr/>
        </p:nvGraphicFramePr>
        <p:xfrm>
          <a:off x="8582950" y="319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{EA899532-75EC-4A6C-A83C-9EEA01D8697B}</a:tableStyleId>
              </a:tblPr>
              <a:tblGrid>
                <a:gridCol w="957150"/>
                <a:gridCol w="772250"/>
                <a:gridCol w="759425"/>
                <a:gridCol w="762325"/>
              </a:tblGrid>
              <a:tr h="582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Matriz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0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1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2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45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0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</a:tr>
              <a:tr h="42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1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</a:tr>
              <a:tr h="49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2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D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f39d3d313b_0_0"/>
          <p:cNvSpPr txBox="1"/>
          <p:nvPr>
            <p:ph type="title"/>
          </p:nvPr>
        </p:nvSpPr>
        <p:spPr>
          <a:xfrm>
            <a:off x="838200" y="-4286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 Comandos </a:t>
            </a:r>
            <a:endParaRPr/>
          </a:p>
        </p:txBody>
      </p:sp>
      <p:graphicFrame>
        <p:nvGraphicFramePr>
          <p:cNvPr id="180" name="Google Shape;180;gf39d3d313b_0_0"/>
          <p:cNvGraphicFramePr/>
          <p:nvPr/>
        </p:nvGraphicFramePr>
        <p:xfrm>
          <a:off x="614402" y="13830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{039436A5-7E07-479A-8CFE-D7DE10C69B10}</a:tableStyleId>
              </a:tblPr>
              <a:tblGrid>
                <a:gridCol w="2695500"/>
                <a:gridCol w="8267700"/>
              </a:tblGrid>
              <a:tr h="505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Comando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DESCRIÇÃO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37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while(){ }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D</a:t>
                      </a:r>
                      <a:r>
                        <a:rPr lang="pt-BR" sz="1800"/>
                        <a:t>etermina que enquanto uma determinada condição for válida, o bloco de código será executado.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70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do{ }while()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T</a:t>
                      </a:r>
                      <a:r>
                        <a:rPr lang="pt-BR" sz="1800"/>
                        <a:t>esta a condição após executar o código, assim sendo, mesmo que a condição seja considerada inválida no primeiro teste o bloco será executado pelo menos uma vez.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64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for(){ }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/>
                        <a:t>P</a:t>
                      </a:r>
                      <a:r>
                        <a:rPr lang="pt-BR" sz="1800"/>
                        <a:t>ermite que uma variável contadora seja testada e incrementada a cada iteração, sendo essas informações definidas na chamada do comando.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64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foreach</a:t>
                      </a:r>
                      <a:r>
                        <a:rPr lang="pt-BR" sz="1800" u="none" cap="none" strike="noStrike"/>
                        <a:t>(){ }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/>
                        <a:t>D</a:t>
                      </a:r>
                      <a:r>
                        <a:rPr lang="pt-BR" sz="1800"/>
                        <a:t>iferente do comando </a:t>
                      </a:r>
                      <a:r>
                        <a:rPr i="1" lang="pt-BR" sz="1800"/>
                        <a:t>while</a:t>
                      </a:r>
                      <a:r>
                        <a:rPr lang="pt-BR" sz="1800"/>
                        <a:t>, realiza iterações sobre coleções. Sendo assim, a cada “volta” do laço, a variável definida na chamada do </a:t>
                      </a:r>
                      <a:r>
                        <a:rPr i="1" lang="pt-BR" sz="1800"/>
                        <a:t>foreach</a:t>
                      </a:r>
                      <a:r>
                        <a:rPr lang="pt-BR" sz="1800"/>
                        <a:t> assume o valor de um dos elementos da coleção.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Exercício</a:t>
            </a:r>
            <a:endParaRPr/>
          </a:p>
        </p:txBody>
      </p:sp>
      <p:sp>
        <p:nvSpPr>
          <p:cNvPr id="186" name="Google Shape;186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Faça um algoritmo Armazene 5 valores e print somente os valores que estão em slotes ímpar.</a:t>
            </a:r>
            <a:endParaRPr/>
          </a:p>
        </p:txBody>
      </p:sp>
      <p:pic>
        <p:nvPicPr>
          <p:cNvPr id="187" name="Google Shape;18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5984" y="2982140"/>
            <a:ext cx="4500032" cy="3037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Instruções de Salto</a:t>
            </a:r>
            <a:endParaRPr/>
          </a:p>
        </p:txBody>
      </p:sp>
      <p:sp>
        <p:nvSpPr>
          <p:cNvPr id="193" name="Google Shape;193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Em C#, as instruções de salto são usadas para transferir o controle de um ponto a outro no programa devido a algum código especificado durante a execução do programa. Existem cinco palavras-chave nas declarações de salto: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Break</a:t>
            </a:r>
            <a:endParaRPr/>
          </a:p>
        </p:txBody>
      </p:sp>
      <p:sp>
        <p:nvSpPr>
          <p:cNvPr id="199" name="Google Shape;199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 instrução break é usada para encerrar o loop ou instrução em que está presente. Depois disso, o controle passará para as instruções que aparecem após a instrução break, se disponível. Se a instrução break estiver presente no loop aninhado, ela encerrará apenas os loops que contiverem a instrução break.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Break</a:t>
            </a:r>
            <a:endParaRPr/>
          </a:p>
        </p:txBody>
      </p:sp>
      <p:sp>
        <p:nvSpPr>
          <p:cNvPr id="205" name="Google Shape;205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Código: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0413" y="1404642"/>
            <a:ext cx="5164931" cy="4609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</a:t>
            </a:r>
            <a:endParaRPr/>
          </a:p>
        </p:txBody>
      </p:sp>
      <p:sp>
        <p:nvSpPr>
          <p:cNvPr id="212" name="Google Shape;212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Esta instrução é usada para pular a parte de execução do loop em uma determinada condição. Depois disso, ele transfere o controle para o início do loop. Basicamente, ele pula suas instruções a seguir e continua com a próxima iteração do loop.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</a:t>
            </a:r>
            <a:endParaRPr/>
          </a:p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Código:</a:t>
            </a:r>
            <a:endParaRPr/>
          </a:p>
        </p:txBody>
      </p:sp>
      <p:pic>
        <p:nvPicPr>
          <p:cNvPr id="219" name="Google Shape;2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9465" y="1668701"/>
            <a:ext cx="3953069" cy="4508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Goto</a:t>
            </a:r>
            <a:endParaRPr/>
          </a:p>
        </p:txBody>
      </p:sp>
      <p:sp>
        <p:nvSpPr>
          <p:cNvPr id="225" name="Google Shape;225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i="0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Esta instrução é usada para transferir o controle para a instrução rotulada no programa. O rótulo é o identificador válido e colocado logo antes da instrução de onde o controle é transferido.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Goto</a:t>
            </a:r>
            <a:endParaRPr/>
          </a:p>
        </p:txBody>
      </p:sp>
      <p:sp>
        <p:nvSpPr>
          <p:cNvPr id="231" name="Google Shape;231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Código:</a:t>
            </a:r>
            <a:endParaRPr/>
          </a:p>
        </p:txBody>
      </p:sp>
      <p:pic>
        <p:nvPicPr>
          <p:cNvPr id="232" name="Google Shape;23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98539" y="1476684"/>
            <a:ext cx="4394921" cy="4662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 txBox="1"/>
          <p:nvPr>
            <p:ph type="title"/>
          </p:nvPr>
        </p:nvSpPr>
        <p:spPr>
          <a:xfrm>
            <a:off x="3509343" y="2730777"/>
            <a:ext cx="2218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Obrigado</a:t>
            </a:r>
            <a:endParaRPr/>
          </a:p>
        </p:txBody>
      </p:sp>
      <p:sp>
        <p:nvSpPr>
          <p:cNvPr id="238" name="Google Shape;238;p22"/>
          <p:cNvSpPr txBox="1"/>
          <p:nvPr>
            <p:ph idx="1" type="body"/>
          </p:nvPr>
        </p:nvSpPr>
        <p:spPr>
          <a:xfrm>
            <a:off x="6432937" y="2730776"/>
            <a:ext cx="42351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rPr b="1" lang="pt-BR" sz="3200">
                <a:solidFill>
                  <a:schemeClr val="lt1"/>
                </a:solidFill>
              </a:rPr>
              <a:t>Prof. Chagas Junior</a:t>
            </a:r>
            <a:endParaRPr b="1" sz="3200">
              <a:solidFill>
                <a:schemeClr val="lt1"/>
              </a:solidFill>
            </a:endParaRPr>
          </a:p>
        </p:txBody>
      </p:sp>
      <p:cxnSp>
        <p:nvCxnSpPr>
          <p:cNvPr id="239" name="Google Shape;239;p22"/>
          <p:cNvCxnSpPr/>
          <p:nvPr/>
        </p:nvCxnSpPr>
        <p:spPr>
          <a:xfrm>
            <a:off x="6120848" y="2661332"/>
            <a:ext cx="0" cy="1133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Chagas Junior</dc:creator>
</cp:coreProperties>
</file>