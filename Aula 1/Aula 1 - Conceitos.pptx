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2" roundtripDataSignature="AMtx7mgH9aP+N75jrakZOAfddtp3JHeZ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914400" y="1122363"/>
            <a:ext cx="10363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7.jpg"/><Relationship Id="rId5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200900" y="1868696"/>
            <a:ext cx="48951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 em Programação de Jogos Digitais.</a:t>
            </a:r>
            <a:endParaRPr b="1" i="0" sz="3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00900" y="3692405"/>
            <a:ext cx="4895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rPr>
              <a:t>Professor: Chagas Junior </a:t>
            </a:r>
            <a:endParaRPr b="1" i="0" sz="2400" u="none" cap="none" strike="noStrike">
              <a:solidFill>
                <a:srgbClr val="FBE4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3431" y="2054564"/>
            <a:ext cx="4091523" cy="1241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1524000" y="2370741"/>
            <a:ext cx="9144000" cy="2116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UC: Lógica Computacional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Aula 1 – Conceitos.</a:t>
            </a:r>
            <a:endParaRPr b="1" i="0" sz="3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0" y="365850"/>
            <a:ext cx="12192000" cy="9232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é Lógica de Programação ?</a:t>
            </a:r>
            <a:endParaRPr b="1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99638" y="1506476"/>
            <a:ext cx="5909735" cy="4394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 é a ciência do raciocínio.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Encadeamento de pensamentos em uma sequência coerente – instruções.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 para colocar instruções em uma sequência lógica para que seja possível atingir um objetivo determinado – em uma linguagem de programação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4029" y="1506476"/>
            <a:ext cx="4371671" cy="4371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1176866" y="366701"/>
            <a:ext cx="1009311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Arquitetura de um computador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1380913" y="1505186"/>
            <a:ext cx="9685020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Computador é composto de duas parte principais:</a:t>
            </a:r>
            <a:endParaRPr/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2522" y="2397573"/>
            <a:ext cx="6526956" cy="3426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2117936" y="0"/>
            <a:ext cx="7956127" cy="15078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Processamento de dados</a:t>
            </a:r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5729" y="1293449"/>
            <a:ext cx="8540539" cy="456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2696633" y="503050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Programa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519860" y="1706501"/>
            <a:ext cx="5286580" cy="3505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 de instruções executadas em uma ordem conveniente que contém as tarefas ou operações necessárias para resolver um problema, usando um computador.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5582" y="1829199"/>
            <a:ext cx="3382881" cy="3382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1489286" y="0"/>
            <a:ext cx="9213428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4800"/>
              <a:t>Linguagens de Programação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544831" y="1257300"/>
            <a:ext cx="497967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Linguagem de  Programação é um conjunto de regras utilizadas para criar programas de computador.</a:t>
            </a:r>
            <a:endParaRPr/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1223010"/>
            <a:ext cx="4702811" cy="4411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1489286" y="0"/>
            <a:ext cx="9213428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4800"/>
              <a:t>Linguagens de Programação</a:t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513925" y="1257300"/>
            <a:ext cx="558207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 regras são usadas para expressar os algoritmos de forma precisa.</a:t>
            </a:r>
            <a:endParaRPr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1223010"/>
            <a:ext cx="4702811" cy="4411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1489286" y="0"/>
            <a:ext cx="9213428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4800"/>
              <a:t>Linguagens de Programação</a:t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513925" y="1257300"/>
            <a:ext cx="5582075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algoritmos  são escritos em uma linguagem de programação gerando um código fonte.</a:t>
            </a:r>
            <a:endParaRPr/>
          </a:p>
        </p:txBody>
      </p:sp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1223010"/>
            <a:ext cx="4702811" cy="4411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2696633" y="320981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b="1" lang="pt-BR" sz="4800"/>
              <a:t>Níveis de Linguagens de Programação</a:t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740832" y="1624848"/>
            <a:ext cx="10710335" cy="194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Linguagens de máquina:</a:t>
            </a:r>
            <a:endParaRPr/>
          </a:p>
        </p:txBody>
      </p:sp>
      <p:pic>
        <p:nvPicPr>
          <p:cNvPr id="151" name="Google Shape;1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6083" y="2628900"/>
            <a:ext cx="4639833" cy="3474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2696633" y="320981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b="1" lang="pt-BR" sz="4800"/>
              <a:t>Níveis de Linguagens de Programação</a:t>
            </a:r>
            <a:endParaRPr/>
          </a:p>
        </p:txBody>
      </p:sp>
      <p:sp>
        <p:nvSpPr>
          <p:cNvPr id="157" name="Google Shape;157;p11"/>
          <p:cNvSpPr txBox="1"/>
          <p:nvPr/>
        </p:nvSpPr>
        <p:spPr>
          <a:xfrm>
            <a:off x="923712" y="1624848"/>
            <a:ext cx="5842847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Linguagem de baixo nível</a:t>
            </a:r>
            <a:endParaRPr/>
          </a:p>
        </p:txBody>
      </p:sp>
      <p:pic>
        <p:nvPicPr>
          <p:cNvPr id="158" name="Google Shape;15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2424948"/>
            <a:ext cx="6015770" cy="3159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type="title"/>
          </p:nvPr>
        </p:nvSpPr>
        <p:spPr>
          <a:xfrm>
            <a:off x="2696633" y="320981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41666"/>
              <a:buNone/>
            </a:pPr>
            <a:r>
              <a:rPr b="1" lang="pt-BR" sz="4800"/>
              <a:t>Níveis de Linguagens de Programação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399625" y="1624848"/>
            <a:ext cx="5315375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Linguagem de alto nível</a:t>
            </a:r>
            <a:endParaRPr/>
          </a:p>
        </p:txBody>
      </p:sp>
      <p:pic>
        <p:nvPicPr>
          <p:cNvPr id="165" name="Google Shape;1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3742" y="2379264"/>
            <a:ext cx="5352381" cy="378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 txBox="1"/>
          <p:nvPr>
            <p:ph type="title"/>
          </p:nvPr>
        </p:nvSpPr>
        <p:spPr>
          <a:xfrm>
            <a:off x="1176866" y="366701"/>
            <a:ext cx="997881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Compilador e Interpretador</a:t>
            </a:r>
            <a:endParaRPr/>
          </a:p>
        </p:txBody>
      </p:sp>
      <p:pic>
        <p:nvPicPr>
          <p:cNvPr id="171" name="Google Shape;1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965" y="1670568"/>
            <a:ext cx="11084616" cy="3918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/>
          <p:nvPr>
            <p:ph type="title"/>
          </p:nvPr>
        </p:nvSpPr>
        <p:spPr>
          <a:xfrm>
            <a:off x="2546773" y="160961"/>
            <a:ext cx="7098454" cy="1616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Compilação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1097280" y="1777959"/>
            <a:ext cx="9966959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 que traduz todo o código-fonte em um ou mais arquivos  que podem ser armazenados e executados quantas vezes se desejar, sem necessitar de uma nova compilação.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 um compilador (Software)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Exemplo.: Linguagem C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2546773" y="160961"/>
            <a:ext cx="7098454" cy="1616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Interpretação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1097280" y="1777959"/>
            <a:ext cx="9966959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comandos necessários contidos no código fonte vão sendo executados à medida em que são traduzidos, sendo necessária a interpretação toda vez que se quiser rodar o programa.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 um interpretador (Software)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Exemplo.: Python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/>
          <p:nvPr/>
        </p:nvSpPr>
        <p:spPr>
          <a:xfrm>
            <a:off x="1504958" y="2050472"/>
            <a:ext cx="6798736" cy="3984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Entrar no mercado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um carrinho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até a seção de refrigerantes 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uma garrafa de dolly.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no carrinho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Dirigir-se à fila do caixa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Pagar pelo refrigerante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Sair do mercado</a:t>
            </a:r>
            <a:endParaRPr/>
          </a:p>
          <a:p>
            <a:pPr indent="-4000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6286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5241" y="2266680"/>
            <a:ext cx="2527459" cy="322899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1504958" y="107351"/>
            <a:ext cx="9182084" cy="2102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Sequência Lógica:</a:t>
            </a:r>
            <a:br>
              <a:rPr b="1" i="0" lang="pt-B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Comprar um dolly no mercado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1504958" y="107351"/>
            <a:ext cx="9182084" cy="2102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4800"/>
              <a:t>Sequência Lógica:</a:t>
            </a:r>
            <a:br>
              <a:rPr b="1" lang="pt-BR" sz="4800"/>
            </a:br>
            <a:r>
              <a:rPr b="1" lang="pt-BR" sz="4800"/>
              <a:t>Comprar um dolly no mercado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1504958" y="2050472"/>
            <a:ext cx="6798736" cy="3984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um carrinho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Dirigir-se à fila do caixa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Sair do mercado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uma garrafa de dolly.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Entrar no mercado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no carrinho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Pagar pelo refrigerante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até a seção de refrigerantes </a:t>
            </a:r>
            <a:endParaRPr/>
          </a:p>
          <a:p>
            <a:pPr indent="-4000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6286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5241" y="2266680"/>
            <a:ext cx="2527459" cy="3228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 txBox="1"/>
          <p:nvPr>
            <p:ph type="title"/>
          </p:nvPr>
        </p:nvSpPr>
        <p:spPr>
          <a:xfrm>
            <a:off x="2696633" y="366701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Algoritmo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467782" y="1555074"/>
            <a:ext cx="6798736" cy="4231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Sequência de instruções ordenadas, finitas e não ambíguas que são executadas mecanicamente para executar uma tarefa.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uma “receita de bolo”.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algoritmo deve ter fim, poder se comunicar com o mundo exterior e executar suas instruções em um tempo finito.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linha de algoritmo deve executar uma única instrução.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8385" y="2300288"/>
            <a:ext cx="4486087" cy="2520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2696634" y="214647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Exemplo de algoritmo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11715" y="1285875"/>
            <a:ext cx="4685475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Montar um algoritmo para preparar um café utilizando papel de filtro (coador) e uma caneca.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8186" y="3429000"/>
            <a:ext cx="2569209" cy="256920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5773866" y="1285875"/>
            <a:ext cx="4685475" cy="5173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Pegue um coador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Pegue o papel de filtro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Coloque-o no coador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Coloque o conjunto sobre a caneca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Pegue o pó de café no armário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Coloque um pouco de pó no coador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Ferva água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Despeje a água no coador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Espere a água toda escorrer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Retire o coador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Adoce o café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Sirva o café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2696633" y="299794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Refinamento de Ações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1154561" y="1603661"/>
            <a:ext cx="10398102" cy="4263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que o algoritmo para fazer café é funcional, porém há muitas outras ações que devem ser realizadas e outras tantas que </a:t>
            </a: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</a:t>
            </a: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 desdobradas em ações menores.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Essas ações são chamadas de não primitivas.</a:t>
            </a:r>
            <a:endParaRPr/>
          </a:p>
          <a:p>
            <a:pPr indent="-3429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Já ações que não podem ser desdobradas são chamadas de primitivas.</a:t>
            </a:r>
            <a:endParaRPr/>
          </a:p>
          <a:p>
            <a:pPr indent="-2286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>
            <p:ph type="title"/>
          </p:nvPr>
        </p:nvSpPr>
        <p:spPr>
          <a:xfrm>
            <a:off x="2696634" y="214647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37037"/>
              <a:buNone/>
            </a:pPr>
            <a:r>
              <a:rPr b="1" lang="pt-BR" sz="5400"/>
              <a:t>Exemplo de refinamento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5615050" y="1487328"/>
            <a:ext cx="6798736" cy="4339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Ação: Ferver a água:</a:t>
            </a:r>
            <a:endParaRPr/>
          </a:p>
          <a:p>
            <a:pPr indent="0" lvl="0" marL="1143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Refinamento: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a caneca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Levar à pia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sob a torneira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Abrir a torneira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Encher a caneca de água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Fechar a torneira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Levar a caneca ao fogão</a:t>
            </a:r>
            <a:endParaRPr/>
          </a:p>
          <a:p>
            <a:pPr indent="-5143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AutoNum type="arabicPeriod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Acender o fogão</a:t>
            </a:r>
            <a:endParaRPr/>
          </a:p>
          <a:p>
            <a:pPr indent="-400050" lvl="0" marL="6286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62865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830" y="1980107"/>
            <a:ext cx="4346679" cy="2897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type="title"/>
          </p:nvPr>
        </p:nvSpPr>
        <p:spPr>
          <a:xfrm>
            <a:off x="2961061" y="125437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Fluxograma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17110" y="1472720"/>
            <a:ext cx="5102666" cy="4270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Descreve o fluxo de dados e instruções usando desenhos geométricos básicos que simbolizam a entrada, saída e processamento de dados.</a:t>
            </a:r>
            <a:endParaRPr/>
          </a:p>
          <a:p>
            <a:pPr indent="-3429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Indicado para algoritmos de pouca extensão.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6551" y="1610279"/>
            <a:ext cx="4378777" cy="3237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b.jpg" id="237" name="Google Shape;237;p23"/>
          <p:cNvPicPr preferRelativeResize="0"/>
          <p:nvPr/>
        </p:nvPicPr>
        <p:blipFill rotWithShape="1">
          <a:blip r:embed="rId4">
            <a:alphaModFix/>
          </a:blip>
          <a:srcRect b="40736" l="0" r="0" t="0"/>
          <a:stretch/>
        </p:blipFill>
        <p:spPr>
          <a:xfrm>
            <a:off x="298798" y="1749783"/>
            <a:ext cx="6733027" cy="41693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b.jp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57330"/>
          <a:stretch/>
        </p:blipFill>
        <p:spPr>
          <a:xfrm>
            <a:off x="5645147" y="1615739"/>
            <a:ext cx="6425062" cy="28646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>
            <p:ph type="title"/>
          </p:nvPr>
        </p:nvSpPr>
        <p:spPr>
          <a:xfrm>
            <a:off x="2373446" y="202748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4800"/>
              <a:t>Símbolos do Fluxograma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2696633" y="366701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Exemplo de Fluxograma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797723" y="1983699"/>
            <a:ext cx="5826101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Problema: Calcular a média de um aluno, baseado nas notas de quatro provas e verificar se foi aprovado. Critério: Será aprovado se a nota média for igual ou superior a 7.0.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8131" y="1235927"/>
            <a:ext cx="4386146" cy="4386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>
            <p:ph type="title"/>
          </p:nvPr>
        </p:nvSpPr>
        <p:spPr>
          <a:xfrm>
            <a:off x="1722140" y="389003"/>
            <a:ext cx="8747720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5400"/>
              <a:t>Resolução: 1 . Algoritmo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722138" y="2006001"/>
            <a:ext cx="8747723" cy="3444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Entrar com as 4 notas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Calcular média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Verificar se média é maior ou igual a 7.0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sim, apresentar no vídeo “Aprovado”</a:t>
            </a:r>
            <a:endParaRPr/>
          </a:p>
          <a:p>
            <a: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não, apresentar no vídeo “Reprovado”</a:t>
            </a:r>
            <a:endParaRPr/>
          </a:p>
          <a:p>
            <a:pPr indent="-273050" lvl="1" marL="2730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1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Fim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6"/>
          <p:cNvSpPr txBox="1"/>
          <p:nvPr>
            <p:ph type="title"/>
          </p:nvPr>
        </p:nvSpPr>
        <p:spPr>
          <a:xfrm>
            <a:off x="2696633" y="255189"/>
            <a:ext cx="6798734" cy="1303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Resolução: 2. Fluxograma</a:t>
            </a:r>
            <a:endParaRPr/>
          </a:p>
        </p:txBody>
      </p:sp>
      <p:pic>
        <p:nvPicPr>
          <p:cNvPr id="258" name="Google Shape;25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975" y="1341716"/>
            <a:ext cx="3633268" cy="4768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"/>
          <p:cNvSpPr txBox="1"/>
          <p:nvPr>
            <p:ph type="title"/>
          </p:nvPr>
        </p:nvSpPr>
        <p:spPr>
          <a:xfrm>
            <a:off x="3509343" y="2730777"/>
            <a:ext cx="2218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/>
          </a:p>
        </p:txBody>
      </p:sp>
      <p:sp>
        <p:nvSpPr>
          <p:cNvPr id="264" name="Google Shape;264;p27"/>
          <p:cNvSpPr txBox="1"/>
          <p:nvPr>
            <p:ph idx="1" type="body"/>
          </p:nvPr>
        </p:nvSpPr>
        <p:spPr>
          <a:xfrm>
            <a:off x="6432937" y="2730776"/>
            <a:ext cx="42351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b="1" lang="pt-BR" sz="3200">
                <a:solidFill>
                  <a:schemeClr val="lt1"/>
                </a:solidFill>
              </a:rPr>
              <a:t>Prof. Chagas Junior</a:t>
            </a:r>
            <a:endParaRPr b="1" sz="3200">
              <a:solidFill>
                <a:schemeClr val="lt1"/>
              </a:solidFill>
            </a:endParaRPr>
          </a:p>
        </p:txBody>
      </p:sp>
      <p:cxnSp>
        <p:nvCxnSpPr>
          <p:cNvPr id="265" name="Google Shape;265;p27"/>
          <p:cNvCxnSpPr/>
          <p:nvPr/>
        </p:nvCxnSpPr>
        <p:spPr>
          <a:xfrm>
            <a:off x="6120848" y="2661332"/>
            <a:ext cx="0" cy="1133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Chagas Junior</dc:creator>
</cp:coreProperties>
</file>