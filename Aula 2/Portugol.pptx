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05" roundtripDataSignature="AMtx7mjbcsIk7g+FQju4H1RhyTZ8yN+o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F39181-5E57-4B2B-97EB-2FA1AD30C05B}">
  <a:tblStyle styleId="{F9F39181-5E57-4B2B-97EB-2FA1AD30C05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59A1157A-E866-4CD9-903C-35FBB9347F23}"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Arial"/>
          <a:ea typeface="Arial"/>
          <a:cs typeface="Arial"/>
        </a:font>
        <a:srgbClr val="FFFFFF"/>
      </a:tcTxStyle>
      <a:tcStyle>
        <a:fill>
          <a:solidFill>
            <a:srgbClr val="4472C4"/>
          </a:solidFill>
        </a:fill>
      </a:tcStyle>
    </a:lastCol>
    <a:firstCol>
      <a:tcTxStyle b="on" i="off">
        <a:font>
          <a:latin typeface="Arial"/>
          <a:ea typeface="Arial"/>
          <a:cs typeface="Arial"/>
        </a:font>
        <a:srgbClr val="FFFFFF"/>
      </a:tcTxStyle>
      <a:tcStyle>
        <a:fill>
          <a:solidFill>
            <a:srgbClr val="4472C4"/>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5" Type="http://customschemas.google.com/relationships/presentationmetadata" Target="metadata"/><Relationship Id="rId104" Type="http://schemas.openxmlformats.org/officeDocument/2006/relationships/slide" Target="slides/slide99.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pt-B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238039ca46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1238039ca46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261e3f943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1261e3f943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261e3f943e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g1261e3f943e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261e3f943e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1261e3f943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261e3f943e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1261e3f943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261e3f943e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1261e3f943e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261e3f943e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1261e3f943e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261e3f943e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1261e3f943e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61e3f943e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1261e3f943e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261e3f943e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1261e3f943e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61e3f943e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1261e3f943e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261e3f943e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1261e3f943e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261e3f943e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g1261e3f943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261e3f943e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1261e3f943e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261e3f943e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1261e3f943e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61e3f943e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1261e3f943e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261e3f943e_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1261e3f943e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261e3f943e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1261e3f943e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261e3f943e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1261e3f943e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61e3f943e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1261e3f943e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261e3f943e_0_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1261e3f943e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61e3f943e_0_2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1261e3f943e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261e3f943e_0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g1261e3f943e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261e3f943e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1261e3f943e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261e3f943e_0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1261e3f943e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261e3f943e_0_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1261e3f943e_0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261e3f943e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g1261e3f943e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261e3f943e_0_3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1261e3f943e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61e3f943e_0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1261e3f943e_0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261e3f943e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1261e3f943e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261e3f943e_0_4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g1261e3f943e_0_4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261e3f943e_0_4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g1261e3f943e_0_4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261e3f943e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g1261e3f943e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61e3f943e_0_4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1261e3f943e_0_4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261e3f943e_0_4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1261e3f943e_0_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261e3f943e_0_4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1261e3f943e_0_4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261e3f943e_0_5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1261e3f943e_0_5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261e3f943e_0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1261e3f943e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261e3f943e_0_5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g1261e3f943e_0_5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261e3f943e_0_5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g1261e3f943e_0_5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61e3f943e_0_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1261e3f943e_0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261e3f943e_0_5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1261e3f943e_0_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261e3f943e_0_5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g1261e3f943e_0_5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261e3f943e_0_5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1261e3f943e_0_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261e3f943e_0_5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g1261e3f943e_0_5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261e3f943e_0_5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1261e3f943e_0_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61e3f943e_0_5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g1261e3f943e_0_5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261e3f943e_0_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1261e3f943e_0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261e3f943e_0_6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1261e3f943e_0_6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261e3f943e_0_6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g1261e3f943e_0_6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261e3f943e_0_6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g1261e3f943e_0_6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261e3f943e_0_6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g1261e3f943e_0_6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261e3f943e_0_6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 name="Google Shape;472;g1261e3f943e_0_6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261e3f943e_0_6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g1261e3f943e_0_6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261e3f943e_0_6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g1261e3f943e_0_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261e3f943e_0_6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g1261e3f943e_0_6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261e3f943e_0_6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1261e3f943e_0_6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261e3f943e_0_6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g1261e3f943e_0_6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261e3f943e_0_6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1261e3f943e_0_6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261e3f943e_0_7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1261e3f943e_0_7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261e3f943e_0_7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1261e3f943e_0_7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261e3f943e_0_7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g1261e3f943e_0_7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261e3f943e_0_7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1261e3f943e_0_7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261e3f943e_0_7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g1261e3f943e_0_7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261e3f943e_0_8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1261e3f943e_0_8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261e3f943e_0_8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g1261e3f943e_0_8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261e3f943e_0_8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1261e3f943e_0_8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261e3f943e_0_8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g1261e3f943e_0_8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261e3f943e_0_8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g1261e3f943e_0_8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261e3f943e_0_8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1261e3f943e_0_8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261e3f943e_0_8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8" name="Google Shape;598;g1261e3f943e_0_8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261e3f943e_0_9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g1261e3f943e_0_9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261e3f943e_0_9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g1261e3f943e_0_9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261e3f943e_0_9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g1261e3f943e_0_9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261e3f943e_0_9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g1261e3f943e_0_9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1261e3f943e_0_9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2" name="Google Shape;632;g1261e3f943e_0_9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1261e3f943e_0_9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 name="Google Shape;639;g1261e3f943e_0_9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261e3f943e_0_10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1261e3f943e_0_10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1261e3f943e_0_10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1261e3f943e_0_10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1261e3f943e_0_10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g1261e3f943e_0_10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261e3f943e_0_10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1261e3f943e_0_10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1261e3f943e_0_10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3" name="Google Shape;673;g1261e3f943e_0_10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1261e3f943e_0_1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1261e3f943e_0_1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261e3f943e_0_1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1261e3f943e_0_1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261e3f943e_0_1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g1261e3f943e_0_1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1261e3f943e_0_1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1261e3f943e_0_1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1261e3f943e_0_1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1261e3f943e_0_1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1261e3f943e_0_1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g1261e3f943e_0_1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261e3f943e_0_1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1261e3f943e_0_1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261e3f943e_0_1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g1261e3f943e_0_1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261e3f943e_0_1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2" name="Google Shape;732;g1261e3f943e_0_1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1261e3f943e_0_1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1261e3f943e_0_1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1261e3f943e_0_1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1261e3f943e_0_1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1261e3f943e_0_1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g1261e3f943e_0_1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1261e3f943e_0_1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g1261e3f943e_0_1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showMasterSp="0" type="title">
  <p:cSld name="TITLE">
    <p:spTree>
      <p:nvGrpSpPr>
        <p:cNvPr id="15" name="Shape 15"/>
        <p:cNvGrpSpPr/>
        <p:nvPr/>
      </p:nvGrpSpPr>
      <p:grpSpPr>
        <a:xfrm>
          <a:off x="0" y="0"/>
          <a:ext cx="0" cy="0"/>
          <a:chOff x="0" y="0"/>
          <a:chExt cx="0" cy="0"/>
        </a:xfrm>
      </p:grpSpPr>
      <p:sp>
        <p:nvSpPr>
          <p:cNvPr id="16" name="Google Shape;16;p41"/>
          <p:cNvSpPr txBox="1"/>
          <p:nvPr>
            <p:ph type="ctrTitle"/>
          </p:nvPr>
        </p:nvSpPr>
        <p:spPr>
          <a:xfrm>
            <a:off x="914400" y="1122363"/>
            <a:ext cx="103632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showMasterSp="0" type="obj">
  <p:cSld name="OBJECT">
    <p:spTree>
      <p:nvGrpSpPr>
        <p:cNvPr id="21" name="Shape 21"/>
        <p:cNvGrpSpPr/>
        <p:nvPr/>
      </p:nvGrpSpPr>
      <p:grpSpPr>
        <a:xfrm>
          <a:off x="0" y="0"/>
          <a:ext cx="0" cy="0"/>
          <a:chOff x="0" y="0"/>
          <a:chExt cx="0" cy="0"/>
        </a:xfrm>
      </p:grpSpPr>
      <p:sp>
        <p:nvSpPr>
          <p:cNvPr id="22" name="Google Shape;22;p42"/>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showMasterSp="0" type="secHead">
  <p:cSld name="SECTION_HEADER">
    <p:spTree>
      <p:nvGrpSpPr>
        <p:cNvPr id="27" name="Shape 27"/>
        <p:cNvGrpSpPr/>
        <p:nvPr/>
      </p:nvGrpSpPr>
      <p:grpSpPr>
        <a:xfrm>
          <a:off x="0" y="0"/>
          <a:ext cx="0" cy="0"/>
          <a:chOff x="0" y="0"/>
          <a:chExt cx="0" cy="0"/>
        </a:xfrm>
      </p:grpSpPr>
      <p:sp>
        <p:nvSpPr>
          <p:cNvPr id="28" name="Google Shape;28;p43"/>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showMasterSp="0" type="twoObj">
  <p:cSld name="TWO_OBJECTS">
    <p:spTree>
      <p:nvGrpSpPr>
        <p:cNvPr id="33" name="Shape 33"/>
        <p:cNvGrpSpPr/>
        <p:nvPr/>
      </p:nvGrpSpPr>
      <p:grpSpPr>
        <a:xfrm>
          <a:off x="0" y="0"/>
          <a:ext cx="0" cy="0"/>
          <a:chOff x="0" y="0"/>
          <a:chExt cx="0" cy="0"/>
        </a:xfrm>
      </p:grpSpPr>
      <p:sp>
        <p:nvSpPr>
          <p:cNvPr id="34" name="Google Shape;34;p44"/>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4"/>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4"/>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4"/>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4"/>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showMasterSp="0" type="twoTxTwoObj">
  <p:cSld name="TWO_OBJECTS_WITH_TEXT">
    <p:spTree>
      <p:nvGrpSpPr>
        <p:cNvPr id="40" name="Shape 40"/>
        <p:cNvGrpSpPr/>
        <p:nvPr/>
      </p:nvGrpSpPr>
      <p:grpSpPr>
        <a:xfrm>
          <a:off x="0" y="0"/>
          <a:ext cx="0" cy="0"/>
          <a:chOff x="0" y="0"/>
          <a:chExt cx="0" cy="0"/>
        </a:xfrm>
      </p:grpSpPr>
      <p:sp>
        <p:nvSpPr>
          <p:cNvPr id="41" name="Google Shape;41;p45"/>
          <p:cNvSpPr txBox="1"/>
          <p:nvPr>
            <p:ph type="title"/>
          </p:nvPr>
        </p:nvSpPr>
        <p:spPr>
          <a:xfrm>
            <a:off x="839788"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5"/>
          <p:cNvSpPr txBox="1"/>
          <p:nvPr>
            <p:ph idx="1" type="body"/>
          </p:nvPr>
        </p:nvSpPr>
        <p:spPr>
          <a:xfrm>
            <a:off x="839789" y="1681163"/>
            <a:ext cx="51576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5"/>
          <p:cNvSpPr txBox="1"/>
          <p:nvPr>
            <p:ph idx="2" type="body"/>
          </p:nvPr>
        </p:nvSpPr>
        <p:spPr>
          <a:xfrm>
            <a:off x="839789" y="2505075"/>
            <a:ext cx="51576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5"/>
          <p:cNvSpPr txBox="1"/>
          <p:nvPr>
            <p:ph idx="3" type="body"/>
          </p:nvPr>
        </p:nvSpPr>
        <p:spPr>
          <a:xfrm>
            <a:off x="6172200" y="1681163"/>
            <a:ext cx="51832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5"/>
          <p:cNvSpPr txBox="1"/>
          <p:nvPr>
            <p:ph idx="4" type="body"/>
          </p:nvPr>
        </p:nvSpPr>
        <p:spPr>
          <a:xfrm>
            <a:off x="6172200" y="2505075"/>
            <a:ext cx="51832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showMasterSp="0" type="titleOnly">
  <p:cSld name="TITLE_ONLY">
    <p:spTree>
      <p:nvGrpSpPr>
        <p:cNvPr id="49" name="Shape 49"/>
        <p:cNvGrpSpPr/>
        <p:nvPr/>
      </p:nvGrpSpPr>
      <p:grpSpPr>
        <a:xfrm>
          <a:off x="0" y="0"/>
          <a:ext cx="0" cy="0"/>
          <a:chOff x="0" y="0"/>
          <a:chExt cx="0" cy="0"/>
        </a:xfrm>
      </p:grpSpPr>
      <p:sp>
        <p:nvSpPr>
          <p:cNvPr id="50" name="Google Shape;50;p46"/>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6"/>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6"/>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6"/>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showMasterSp="0" type="blank">
  <p:cSld name="BLANK">
    <p:spTree>
      <p:nvGrpSpPr>
        <p:cNvPr id="54" name="Shape 54"/>
        <p:cNvGrpSpPr/>
        <p:nvPr/>
      </p:nvGrpSpPr>
      <p:grpSpPr>
        <a:xfrm>
          <a:off x="0" y="0"/>
          <a:ext cx="0" cy="0"/>
          <a:chOff x="0" y="0"/>
          <a:chExt cx="0" cy="0"/>
        </a:xfrm>
      </p:grpSpPr>
      <p:sp>
        <p:nvSpPr>
          <p:cNvPr id="55" name="Google Shape;55;p4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showMasterSp="0" type="objTx">
  <p:cSld name="OBJECT_WITH_CAPTION_TEXT">
    <p:spTree>
      <p:nvGrpSpPr>
        <p:cNvPr id="58" name="Shape 58"/>
        <p:cNvGrpSpPr/>
        <p:nvPr/>
      </p:nvGrpSpPr>
      <p:grpSpPr>
        <a:xfrm>
          <a:off x="0" y="0"/>
          <a:ext cx="0" cy="0"/>
          <a:chOff x="0" y="0"/>
          <a:chExt cx="0" cy="0"/>
        </a:xfrm>
      </p:grpSpPr>
      <p:sp>
        <p:nvSpPr>
          <p:cNvPr id="59" name="Google Shape;59;p48"/>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8"/>
          <p:cNvSpPr txBox="1"/>
          <p:nvPr>
            <p:ph idx="1" type="body"/>
          </p:nvPr>
        </p:nvSpPr>
        <p:spPr>
          <a:xfrm>
            <a:off x="5183188" y="987426"/>
            <a:ext cx="61724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8"/>
          <p:cNvSpPr txBox="1"/>
          <p:nvPr>
            <p:ph idx="2"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8"/>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8"/>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showMasterSp="0" type="vertTx">
  <p:cSld name="VERTICAL_TEXT">
    <p:spTree>
      <p:nvGrpSpPr>
        <p:cNvPr id="65" name="Shape 65"/>
        <p:cNvGrpSpPr/>
        <p:nvPr/>
      </p:nvGrpSpPr>
      <p:grpSpPr>
        <a:xfrm>
          <a:off x="0" y="0"/>
          <a:ext cx="0" cy="0"/>
          <a:chOff x="0" y="0"/>
          <a:chExt cx="0" cy="0"/>
        </a:xfrm>
      </p:grpSpPr>
      <p:sp>
        <p:nvSpPr>
          <p:cNvPr id="66" name="Google Shape;66;p49"/>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9"/>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4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showMasterSp="0" type="vertTitleAndTx">
  <p:cSld name="VERTICAL_TITLE_AND_VERTICAL_TEXT">
    <p:spTree>
      <p:nvGrpSpPr>
        <p:cNvPr id="71" name="Shape 71"/>
        <p:cNvGrpSpPr/>
        <p:nvPr/>
      </p:nvGrpSpPr>
      <p:grpSpPr>
        <a:xfrm>
          <a:off x="0" y="0"/>
          <a:ext cx="0" cy="0"/>
          <a:chOff x="0" y="0"/>
          <a:chExt cx="0" cy="0"/>
        </a:xfrm>
      </p:grpSpPr>
      <p:sp>
        <p:nvSpPr>
          <p:cNvPr id="72" name="Google Shape;72;p50"/>
          <p:cNvSpPr txBox="1"/>
          <p:nvPr>
            <p:ph type="title"/>
          </p:nvPr>
        </p:nvSpPr>
        <p:spPr>
          <a:xfrm rot="5400000">
            <a:off x="7133450" y="1956675"/>
            <a:ext cx="5811900" cy="2628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0"/>
          <p:cNvSpPr txBox="1"/>
          <p:nvPr>
            <p:ph idx="1" type="body"/>
          </p:nvPr>
        </p:nvSpPr>
        <p:spPr>
          <a:xfrm rot="5400000">
            <a:off x="1799350" y="-596125"/>
            <a:ext cx="5811900" cy="7734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50"/>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0"/>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0"/>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0"/>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0"/>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0"/>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0"/>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6.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7.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7.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2.png"/><Relationship Id="rId4" Type="http://schemas.openxmlformats.org/officeDocument/2006/relationships/image" Target="../media/image5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1.png"/><Relationship Id="rId4" Type="http://schemas.openxmlformats.org/officeDocument/2006/relationships/image" Target="../media/image5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1.png"/><Relationship Id="rId4" Type="http://schemas.openxmlformats.org/officeDocument/2006/relationships/image" Target="../media/image7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1.png"/><Relationship Id="rId4" Type="http://schemas.openxmlformats.org/officeDocument/2006/relationships/image" Target="../media/image6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1.png"/><Relationship Id="rId4" Type="http://schemas.openxmlformats.org/officeDocument/2006/relationships/image" Target="../media/image6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1.png"/><Relationship Id="rId4" Type="http://schemas.openxmlformats.org/officeDocument/2006/relationships/image" Target="../media/image6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1.png"/><Relationship Id="rId4" Type="http://schemas.openxmlformats.org/officeDocument/2006/relationships/image" Target="../media/image6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1.png"/><Relationship Id="rId4" Type="http://schemas.openxmlformats.org/officeDocument/2006/relationships/image" Target="../media/image6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1.png"/><Relationship Id="rId4" Type="http://schemas.openxmlformats.org/officeDocument/2006/relationships/image" Target="../media/image5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png"/><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9.png"/><Relationship Id="rId4" Type="http://schemas.openxmlformats.org/officeDocument/2006/relationships/image" Target="../media/image6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1.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1.png"/><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1.png"/><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1.png"/><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1.png"/><Relationship Id="rId4" Type="http://schemas.openxmlformats.org/officeDocument/2006/relationships/image" Target="../media/image6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1.png"/><Relationship Id="rId4" Type="http://schemas.openxmlformats.org/officeDocument/2006/relationships/image" Target="../media/image73.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png"/><Relationship Id="rId4" Type="http://schemas.openxmlformats.org/officeDocument/2006/relationships/image" Target="../media/image7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1.png"/><Relationship Id="rId4" Type="http://schemas.openxmlformats.org/officeDocument/2006/relationships/image" Target="../media/image7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1.png"/><Relationship Id="rId4" Type="http://schemas.openxmlformats.org/officeDocument/2006/relationships/image" Target="../media/image7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71.png"/><Relationship Id="rId4" Type="http://schemas.openxmlformats.org/officeDocument/2006/relationships/image" Target="../media/image7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74.png"/><Relationship Id="rId4" Type="http://schemas.openxmlformats.org/officeDocument/2006/relationships/image" Target="../media/image7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74.png"/><Relationship Id="rId4" Type="http://schemas.openxmlformats.org/officeDocument/2006/relationships/image" Target="../media/image8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74.png"/><Relationship Id="rId4" Type="http://schemas.openxmlformats.org/officeDocument/2006/relationships/image" Target="../media/image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4.png"/><Relationship Id="rId4" Type="http://schemas.openxmlformats.org/officeDocument/2006/relationships/image" Target="../media/image79.png"/><Relationship Id="rId5" Type="http://schemas.openxmlformats.org/officeDocument/2006/relationships/image" Target="../media/image8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4.png"/><Relationship Id="rId4" Type="http://schemas.openxmlformats.org/officeDocument/2006/relationships/image" Target="../media/image7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4.png"/><Relationship Id="rId4" Type="http://schemas.openxmlformats.org/officeDocument/2006/relationships/image" Target="../media/image7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74.png"/><Relationship Id="rId4" Type="http://schemas.openxmlformats.org/officeDocument/2006/relationships/image" Target="../media/image8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74.png"/><Relationship Id="rId4" Type="http://schemas.openxmlformats.org/officeDocument/2006/relationships/image" Target="../media/image100.png"/><Relationship Id="rId5" Type="http://schemas.openxmlformats.org/officeDocument/2006/relationships/image" Target="../media/image8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74.png"/><Relationship Id="rId4" Type="http://schemas.openxmlformats.org/officeDocument/2006/relationships/image" Target="../media/image7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74.png"/><Relationship Id="rId4" Type="http://schemas.openxmlformats.org/officeDocument/2006/relationships/image" Target="../media/image92.png"/><Relationship Id="rId5" Type="http://schemas.openxmlformats.org/officeDocument/2006/relationships/image" Target="../media/image8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9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83.png"/><Relationship Id="rId4" Type="http://schemas.openxmlformats.org/officeDocument/2006/relationships/image" Target="../media/image8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84.png"/><Relationship Id="rId4" Type="http://schemas.openxmlformats.org/officeDocument/2006/relationships/image" Target="../media/image8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84.png"/><Relationship Id="rId4" Type="http://schemas.openxmlformats.org/officeDocument/2006/relationships/image" Target="../media/image8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84.png"/><Relationship Id="rId4" Type="http://schemas.openxmlformats.org/officeDocument/2006/relationships/image" Target="../media/image89.png"/><Relationship Id="rId5" Type="http://schemas.openxmlformats.org/officeDocument/2006/relationships/image" Target="../media/image9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84.png"/><Relationship Id="rId4" Type="http://schemas.openxmlformats.org/officeDocument/2006/relationships/image" Target="../media/image94.png"/><Relationship Id="rId5" Type="http://schemas.openxmlformats.org/officeDocument/2006/relationships/image" Target="../media/image9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9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93.png"/><Relationship Id="rId4" Type="http://schemas.openxmlformats.org/officeDocument/2006/relationships/image" Target="../media/image10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96.png"/><Relationship Id="rId4" Type="http://schemas.openxmlformats.org/officeDocument/2006/relationships/image" Target="../media/image104.png"/><Relationship Id="rId5" Type="http://schemas.openxmlformats.org/officeDocument/2006/relationships/image" Target="../media/image11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96.png"/><Relationship Id="rId4" Type="http://schemas.openxmlformats.org/officeDocument/2006/relationships/image" Target="../media/image9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96.png"/><Relationship Id="rId4" Type="http://schemas.openxmlformats.org/officeDocument/2006/relationships/image" Target="../media/image101.png"/><Relationship Id="rId5" Type="http://schemas.openxmlformats.org/officeDocument/2006/relationships/image" Target="../media/image10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0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06.png"/><Relationship Id="rId4" Type="http://schemas.openxmlformats.org/officeDocument/2006/relationships/image" Target="../media/image10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99.png"/><Relationship Id="rId4" Type="http://schemas.openxmlformats.org/officeDocument/2006/relationships/image" Target="../media/image11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08.png"/><Relationship Id="rId4" Type="http://schemas.openxmlformats.org/officeDocument/2006/relationships/image" Target="../media/image11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107.png"/><Relationship Id="rId4" Type="http://schemas.openxmlformats.org/officeDocument/2006/relationships/image" Target="../media/image118.png"/><Relationship Id="rId5" Type="http://schemas.openxmlformats.org/officeDocument/2006/relationships/image" Target="../media/image11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1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111.png"/><Relationship Id="rId4" Type="http://schemas.openxmlformats.org/officeDocument/2006/relationships/image" Target="../media/image11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15.png"/><Relationship Id="rId4" Type="http://schemas.openxmlformats.org/officeDocument/2006/relationships/image" Target="../media/image11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15.png"/><Relationship Id="rId4" Type="http://schemas.openxmlformats.org/officeDocument/2006/relationships/image" Target="../media/image11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15.png"/><Relationship Id="rId4" Type="http://schemas.openxmlformats.org/officeDocument/2006/relationships/image" Target="../media/image11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115.png"/><Relationship Id="rId4" Type="http://schemas.openxmlformats.org/officeDocument/2006/relationships/image" Target="../media/image12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15.png"/><Relationship Id="rId4" Type="http://schemas.openxmlformats.org/officeDocument/2006/relationships/image" Target="../media/image12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15.png"/><Relationship Id="rId4" Type="http://schemas.openxmlformats.org/officeDocument/2006/relationships/image" Target="../media/image121.png"/><Relationship Id="rId5" Type="http://schemas.openxmlformats.org/officeDocument/2006/relationships/image" Target="../media/image12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
          <p:cNvSpPr txBox="1"/>
          <p:nvPr/>
        </p:nvSpPr>
        <p:spPr>
          <a:xfrm>
            <a:off x="1200900" y="1868696"/>
            <a:ext cx="4895100" cy="1296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Font typeface="Arial"/>
              <a:buNone/>
            </a:pPr>
            <a:r>
              <a:rPr b="1" lang="pt-BR" sz="3450">
                <a:solidFill>
                  <a:schemeClr val="lt1"/>
                </a:solidFill>
                <a:latin typeface="Calibri"/>
                <a:ea typeface="Calibri"/>
                <a:cs typeface="Calibri"/>
                <a:sym typeface="Calibri"/>
              </a:rPr>
              <a:t>Técnico em Programação de Jogos Digitais.</a:t>
            </a:r>
            <a:endParaRPr b="1" i="0" sz="3450" u="none" cap="none" strike="noStrike">
              <a:solidFill>
                <a:srgbClr val="FFFFFF"/>
              </a:solidFill>
              <a:latin typeface="Calibri"/>
              <a:ea typeface="Calibri"/>
              <a:cs typeface="Calibri"/>
              <a:sym typeface="Calibri"/>
            </a:endParaRPr>
          </a:p>
        </p:txBody>
      </p:sp>
      <p:sp>
        <p:nvSpPr>
          <p:cNvPr id="83" name="Google Shape;83;p1"/>
          <p:cNvSpPr txBox="1"/>
          <p:nvPr/>
        </p:nvSpPr>
        <p:spPr>
          <a:xfrm>
            <a:off x="1200900" y="3692405"/>
            <a:ext cx="4895100" cy="1241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1" i="0" lang="pt-BR" sz="2400" u="none" cap="none" strike="noStrike">
                <a:solidFill>
                  <a:srgbClr val="FBE4D4"/>
                </a:solidFill>
                <a:latin typeface="Calibri"/>
                <a:ea typeface="Calibri"/>
                <a:cs typeface="Calibri"/>
                <a:sym typeface="Calibri"/>
              </a:rPr>
              <a:t>Professor: Chagas Junior </a:t>
            </a:r>
            <a:endParaRPr b="1" i="0" sz="2400" u="none" cap="none" strike="noStrike">
              <a:solidFill>
                <a:srgbClr val="FBE4D4"/>
              </a:solidFill>
              <a:latin typeface="Calibri"/>
              <a:ea typeface="Calibri"/>
              <a:cs typeface="Calibri"/>
              <a:sym typeface="Calibri"/>
            </a:endParaRPr>
          </a:p>
        </p:txBody>
      </p:sp>
      <p:pic>
        <p:nvPicPr>
          <p:cNvPr id="84" name="Google Shape;84;p1"/>
          <p:cNvPicPr preferRelativeResize="0"/>
          <p:nvPr/>
        </p:nvPicPr>
        <p:blipFill rotWithShape="1">
          <a:blip r:embed="rId4">
            <a:alphaModFix/>
          </a:blip>
          <a:srcRect b="0" l="0" r="0" t="0"/>
          <a:stretch/>
        </p:blipFill>
        <p:spPr>
          <a:xfrm>
            <a:off x="7813431" y="2054564"/>
            <a:ext cx="4091523" cy="12413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2"/>
          <p:cNvSpPr txBox="1"/>
          <p:nvPr/>
        </p:nvSpPr>
        <p:spPr>
          <a:xfrm>
            <a:off x="762000" y="2370741"/>
            <a:ext cx="10668000" cy="2116517"/>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750"/>
              <a:buFont typeface="Calibri"/>
              <a:buNone/>
            </a:pPr>
            <a:r>
              <a:rPr b="1" lang="pt-BR" sz="3500">
                <a:solidFill>
                  <a:schemeClr val="lt1"/>
                </a:solidFill>
                <a:latin typeface="Calibri"/>
                <a:ea typeface="Calibri"/>
                <a:cs typeface="Calibri"/>
                <a:sym typeface="Calibri"/>
              </a:rPr>
              <a:t>UC: Lógica Computacional</a:t>
            </a:r>
            <a:endParaRPr b="1" sz="3700">
              <a:solidFill>
                <a:schemeClr val="lt1"/>
              </a:solidFill>
              <a:latin typeface="Calibri"/>
              <a:ea typeface="Calibri"/>
              <a:cs typeface="Calibri"/>
              <a:sym typeface="Calibri"/>
            </a:endParaRPr>
          </a:p>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Introdução ao Portugol.</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8"/>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Portugol</a:t>
            </a:r>
            <a:endParaRPr/>
          </a:p>
        </p:txBody>
      </p:sp>
      <p:sp>
        <p:nvSpPr>
          <p:cNvPr id="95" name="Google Shape;95;p8"/>
          <p:cNvSpPr txBox="1"/>
          <p:nvPr>
            <p:ph idx="1" type="body"/>
          </p:nvPr>
        </p:nvSpPr>
        <p:spPr>
          <a:xfrm>
            <a:off x="838200" y="1607325"/>
            <a:ext cx="5824200" cy="4351200"/>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lang="pt-BR" sz="2600"/>
              <a:t>	O </a:t>
            </a:r>
            <a:r>
              <a:rPr b="1" lang="pt-BR" sz="2600"/>
              <a:t>Portugol</a:t>
            </a:r>
            <a:r>
              <a:rPr lang="pt-BR" sz="2600"/>
              <a:t> é uma pseudo-</a:t>
            </a:r>
            <a:r>
              <a:rPr b="1" lang="pt-BR" sz="2600"/>
              <a:t>linguagem</a:t>
            </a:r>
            <a:r>
              <a:rPr lang="pt-BR" sz="2600"/>
              <a:t> algorítmica muito utilizada na descrição de algoritmos, destaca-se pelo uso de comandos em português, o que facilita o aprendizado da lógica de programação, habituando o iniciante com o formalismo de programação.</a:t>
            </a:r>
            <a:endParaRPr sz="2600"/>
          </a:p>
          <a:p>
            <a:pPr indent="0" lvl="0" marL="114300" rtl="0" algn="just">
              <a:lnSpc>
                <a:spcPct val="90000"/>
              </a:lnSpc>
              <a:spcBef>
                <a:spcPts val="1000"/>
              </a:spcBef>
              <a:spcAft>
                <a:spcPts val="0"/>
              </a:spcAft>
              <a:buSzPts val="1800"/>
              <a:buNone/>
            </a:pPr>
            <a:r>
              <a:t/>
            </a:r>
            <a:endParaRPr sz="2600"/>
          </a:p>
          <a:p>
            <a:pPr indent="0" lvl="0" marL="114300" rtl="0" algn="just">
              <a:lnSpc>
                <a:spcPct val="90000"/>
              </a:lnSpc>
              <a:spcBef>
                <a:spcPts val="1000"/>
              </a:spcBef>
              <a:spcAft>
                <a:spcPts val="0"/>
              </a:spcAft>
              <a:buSzPts val="1800"/>
              <a:buNone/>
            </a:pPr>
            <a:r>
              <a:rPr lang="pt-BR" sz="2600"/>
              <a:t>link: http://lite.acad.univali.br/portugol/</a:t>
            </a:r>
            <a:endParaRPr sz="2600"/>
          </a:p>
        </p:txBody>
      </p:sp>
      <p:pic>
        <p:nvPicPr>
          <p:cNvPr id="96" name="Google Shape;96;p8"/>
          <p:cNvPicPr preferRelativeResize="0"/>
          <p:nvPr/>
        </p:nvPicPr>
        <p:blipFill rotWithShape="1">
          <a:blip r:embed="rId4">
            <a:alphaModFix/>
          </a:blip>
          <a:srcRect b="0" l="0" r="0" t="0"/>
          <a:stretch/>
        </p:blipFill>
        <p:spPr>
          <a:xfrm>
            <a:off x="6990650" y="1607325"/>
            <a:ext cx="3975676" cy="3975676"/>
          </a:xfrm>
          <a:prstGeom prst="rect">
            <a:avLst/>
          </a:prstGeom>
          <a:noFill/>
          <a:ln>
            <a:noFill/>
          </a:ln>
        </p:spPr>
      </p:pic>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g1238039ca46_0_4"/>
          <p:cNvSpPr txBox="1"/>
          <p:nvPr>
            <p:ph type="title"/>
          </p:nvPr>
        </p:nvSpPr>
        <p:spPr>
          <a:xfrm>
            <a:off x="2548925" y="2816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Portugol</a:t>
            </a:r>
            <a:endParaRPr/>
          </a:p>
        </p:txBody>
      </p:sp>
      <p:sp>
        <p:nvSpPr>
          <p:cNvPr id="102" name="Google Shape;102;g1238039ca46_0_4"/>
          <p:cNvSpPr txBox="1"/>
          <p:nvPr>
            <p:ph idx="1" type="body"/>
          </p:nvPr>
        </p:nvSpPr>
        <p:spPr>
          <a:xfrm>
            <a:off x="4664875" y="1437263"/>
            <a:ext cx="5824200" cy="4351200"/>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lang="pt-BR" sz="2600"/>
              <a:t>	Estrutura Básica:</a:t>
            </a:r>
            <a:endParaRPr sz="2600"/>
          </a:p>
        </p:txBody>
      </p:sp>
      <p:pic>
        <p:nvPicPr>
          <p:cNvPr id="103" name="Google Shape;103;g1238039ca46_0_4"/>
          <p:cNvPicPr preferRelativeResize="0"/>
          <p:nvPr/>
        </p:nvPicPr>
        <p:blipFill rotWithShape="1">
          <a:blip r:embed="rId4">
            <a:alphaModFix/>
          </a:blip>
          <a:srcRect b="0" l="0" r="0" t="0"/>
          <a:stretch/>
        </p:blipFill>
        <p:spPr>
          <a:xfrm>
            <a:off x="435175" y="180025"/>
            <a:ext cx="4229700" cy="6025302"/>
          </a:xfrm>
          <a:prstGeom prst="rect">
            <a:avLst/>
          </a:prstGeom>
          <a:noFill/>
          <a:ln>
            <a:noFill/>
          </a:ln>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g1261e3f943e_0_6"/>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Tipos de Dados</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g1261e3f943e_0_10"/>
          <p:cNvSpPr/>
          <p:nvPr/>
        </p:nvSpPr>
        <p:spPr>
          <a:xfrm>
            <a:off x="3581400" y="351631"/>
            <a:ext cx="78867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b="1" i="0" lang="pt-BR" sz="4400" u="none" cap="none" strike="noStrike">
                <a:solidFill>
                  <a:schemeClr val="dk1"/>
                </a:solidFill>
                <a:latin typeface="Arial"/>
                <a:ea typeface="Arial"/>
                <a:cs typeface="Arial"/>
                <a:sym typeface="Arial"/>
              </a:rPr>
              <a:t>Tipos de Dados</a:t>
            </a:r>
            <a:endParaRPr b="0" i="0" sz="1400" u="none" cap="none" strike="noStrike">
              <a:solidFill>
                <a:srgbClr val="000000"/>
              </a:solidFill>
              <a:latin typeface="Arial"/>
              <a:ea typeface="Arial"/>
              <a:cs typeface="Arial"/>
              <a:sym typeface="Arial"/>
            </a:endParaRPr>
          </a:p>
        </p:txBody>
      </p:sp>
      <p:sp>
        <p:nvSpPr>
          <p:cNvPr id="114" name="Google Shape;114;g1261e3f943e_0_10"/>
          <p:cNvSpPr/>
          <p:nvPr/>
        </p:nvSpPr>
        <p:spPr>
          <a:xfrm>
            <a:off x="1081200" y="1677200"/>
            <a:ext cx="103869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15000"/>
              </a:lnSpc>
              <a:spcBef>
                <a:spcPts val="1200"/>
              </a:spcBef>
              <a:spcAft>
                <a:spcPts val="0"/>
              </a:spcAft>
              <a:buClr>
                <a:schemeClr val="dk1"/>
              </a:buClr>
              <a:buSzPts val="1100"/>
              <a:buFont typeface="Arial"/>
              <a:buNone/>
            </a:pPr>
            <a:r>
              <a:rPr b="0" i="0" lang="pt-BR" sz="2800" u="none" cap="none" strike="noStrike">
                <a:solidFill>
                  <a:schemeClr val="dk1"/>
                </a:solidFill>
                <a:latin typeface="Calibri"/>
                <a:ea typeface="Calibri"/>
                <a:cs typeface="Calibri"/>
                <a:sym typeface="Calibri"/>
              </a:rPr>
              <a:t>Se pararmos para pensar que tudo que o computador compreende é representado através de Zeros e Uns. Então a resposta é  Zero e Um. Certo? Certo! Mas como então o computador pode exibir mensagens na tela, apresentar ambientes gráficos cheios de janelas, compreender o significado das teclas do teclado ou dos cliques do mouse.</a:t>
            </a:r>
            <a:endParaRPr b="0" i="0" sz="2800" u="none" cap="none" strike="noStrike">
              <a:solidFill>
                <a:schemeClr val="dk1"/>
              </a:solidFill>
              <a:latin typeface="Calibri"/>
              <a:ea typeface="Calibri"/>
              <a:cs typeface="Calibri"/>
              <a:sym typeface="Calibri"/>
            </a:endParaRPr>
          </a:p>
          <a:p>
            <a:pPr indent="0" lvl="0" marL="0" marR="0" rtl="0" algn="just">
              <a:lnSpc>
                <a:spcPct val="115000"/>
              </a:lnSpc>
              <a:spcBef>
                <a:spcPts val="1200"/>
              </a:spcBef>
              <a:spcAft>
                <a:spcPts val="1200"/>
              </a:spcAft>
              <a:buClr>
                <a:schemeClr val="dk1"/>
              </a:buClr>
              <a:buSzPts val="11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g1261e3f943e_0_15"/>
          <p:cNvSpPr/>
          <p:nvPr/>
        </p:nvSpPr>
        <p:spPr>
          <a:xfrm>
            <a:off x="3581400" y="351631"/>
            <a:ext cx="78867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b="1" i="0" lang="pt-BR" sz="4400" u="none" cap="none" strike="noStrike">
                <a:solidFill>
                  <a:schemeClr val="dk1"/>
                </a:solidFill>
                <a:latin typeface="Arial"/>
                <a:ea typeface="Arial"/>
                <a:cs typeface="Arial"/>
                <a:sym typeface="Arial"/>
              </a:rPr>
              <a:t>Tipos de Dados</a:t>
            </a:r>
            <a:endParaRPr b="0" i="0" sz="1400" u="none" cap="none" strike="noStrike">
              <a:solidFill>
                <a:srgbClr val="000000"/>
              </a:solidFill>
              <a:latin typeface="Arial"/>
              <a:ea typeface="Arial"/>
              <a:cs typeface="Arial"/>
              <a:sym typeface="Arial"/>
            </a:endParaRPr>
          </a:p>
        </p:txBody>
      </p:sp>
      <p:sp>
        <p:nvSpPr>
          <p:cNvPr id="120" name="Google Shape;120;g1261e3f943e_0_15"/>
          <p:cNvSpPr/>
          <p:nvPr/>
        </p:nvSpPr>
        <p:spPr>
          <a:xfrm>
            <a:off x="1081200" y="1677200"/>
            <a:ext cx="103869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15000"/>
              </a:lnSpc>
              <a:spcBef>
                <a:spcPts val="120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Bom, tudo começa com a definição de uma série de códigos. Por exemplo. A letra "a" do teclado é representada pela seguinte sequência de zeros e uns "01000001". O número 22 é representado por "00010110". E assim todos os dados que são armazenados pelo computador podem ser representados em zeros e ums.</a:t>
            </a:r>
            <a:endParaRPr b="0" i="0" sz="2800" u="none" cap="none" strike="noStrike">
              <a:solidFill>
                <a:schemeClr val="dk1"/>
              </a:solidFill>
              <a:latin typeface="Calibri"/>
              <a:ea typeface="Calibri"/>
              <a:cs typeface="Calibri"/>
              <a:sym typeface="Calibri"/>
            </a:endParaRPr>
          </a:p>
          <a:p>
            <a:pPr indent="0" lvl="0" marL="0" marR="0" rtl="0" algn="just">
              <a:lnSpc>
                <a:spcPct val="115000"/>
              </a:lnSpc>
              <a:spcBef>
                <a:spcPts val="1200"/>
              </a:spcBef>
              <a:spcAft>
                <a:spcPts val="120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g1261e3f943e_0_20"/>
          <p:cNvSpPr/>
          <p:nvPr/>
        </p:nvSpPr>
        <p:spPr>
          <a:xfrm>
            <a:off x="3581400" y="351631"/>
            <a:ext cx="78867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b="1" i="0" lang="pt-BR" sz="4400" u="none" cap="none" strike="noStrike">
                <a:solidFill>
                  <a:schemeClr val="dk1"/>
                </a:solidFill>
                <a:latin typeface="Arial"/>
                <a:ea typeface="Arial"/>
                <a:cs typeface="Arial"/>
                <a:sym typeface="Arial"/>
              </a:rPr>
              <a:t>Tipos de Dados</a:t>
            </a:r>
            <a:endParaRPr b="0" i="0" sz="1400" u="none" cap="none" strike="noStrike">
              <a:solidFill>
                <a:srgbClr val="000000"/>
              </a:solidFill>
              <a:latin typeface="Arial"/>
              <a:ea typeface="Arial"/>
              <a:cs typeface="Arial"/>
              <a:sym typeface="Arial"/>
            </a:endParaRPr>
          </a:p>
        </p:txBody>
      </p:sp>
      <p:sp>
        <p:nvSpPr>
          <p:cNvPr id="126" name="Google Shape;126;g1261e3f943e_0_20"/>
          <p:cNvSpPr/>
          <p:nvPr/>
        </p:nvSpPr>
        <p:spPr>
          <a:xfrm>
            <a:off x="1081200" y="1677200"/>
            <a:ext cx="103869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15000"/>
              </a:lnSpc>
              <a:spcBef>
                <a:spcPts val="120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Sendo assim, existem alguns tipos básicos de dados nos quais valores podem ser armazenados no computador. O Portugol exige que o tipo de dado de um valor seja do mesmo tipo da variável ao qual este valor será atribuído.	</a:t>
            </a:r>
            <a:endParaRPr b="0" i="0" sz="2800" u="none" cap="none" strike="noStrike">
              <a:solidFill>
                <a:schemeClr val="dk1"/>
              </a:solidFill>
              <a:latin typeface="Calibri"/>
              <a:ea typeface="Calibri"/>
              <a:cs typeface="Calibri"/>
              <a:sym typeface="Calibri"/>
            </a:endParaRPr>
          </a:p>
          <a:p>
            <a:pPr indent="0" lvl="0" marL="457200" marR="0" rtl="0" algn="l">
              <a:lnSpc>
                <a:spcPct val="90000"/>
              </a:lnSpc>
              <a:spcBef>
                <a:spcPts val="120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São divididos em três tipos principais: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Numéricos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Caracteres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Lógicos</a:t>
            </a:r>
            <a:endParaRPr b="0" i="0" sz="2800" u="none" cap="none" strike="noStrike">
              <a:solidFill>
                <a:schemeClr val="dk1"/>
              </a:solidFill>
              <a:latin typeface="Calibri"/>
              <a:ea typeface="Calibri"/>
              <a:cs typeface="Calibri"/>
              <a:sym typeface="Calibri"/>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g1261e3f943e_0_25"/>
          <p:cNvSpPr/>
          <p:nvPr/>
        </p:nvSpPr>
        <p:spPr>
          <a:xfrm>
            <a:off x="2152650" y="365919"/>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800"/>
              <a:buFont typeface="Arial"/>
              <a:buNone/>
            </a:pPr>
            <a:r>
              <a:rPr b="1" i="0" lang="pt-BR" sz="4800" u="none" cap="none" strike="noStrike">
                <a:solidFill>
                  <a:schemeClr val="dk1"/>
                </a:solidFill>
                <a:latin typeface="Arial"/>
                <a:ea typeface="Arial"/>
                <a:cs typeface="Arial"/>
                <a:sym typeface="Arial"/>
              </a:rPr>
              <a:t>Tipo Numérico</a:t>
            </a:r>
            <a:endParaRPr b="0" i="0" sz="1400" u="none" cap="none" strike="noStrike">
              <a:solidFill>
                <a:srgbClr val="000000"/>
              </a:solidFill>
              <a:latin typeface="Arial"/>
              <a:ea typeface="Arial"/>
              <a:cs typeface="Arial"/>
              <a:sym typeface="Arial"/>
            </a:endParaRPr>
          </a:p>
        </p:txBody>
      </p:sp>
      <p:sp>
        <p:nvSpPr>
          <p:cNvPr id="132" name="Google Shape;132;g1261e3f943e_0_25"/>
          <p:cNvSpPr/>
          <p:nvPr/>
        </p:nvSpPr>
        <p:spPr>
          <a:xfrm>
            <a:off x="895349" y="1826418"/>
            <a:ext cx="10977600" cy="4351200"/>
          </a:xfrm>
          <a:prstGeom prst="rect">
            <a:avLst/>
          </a:prstGeom>
          <a:noFill/>
          <a:ln>
            <a:noFill/>
          </a:ln>
        </p:spPr>
        <p:txBody>
          <a:bodyPr anchorCtr="0" anchor="t" bIns="45700" lIns="91425" spcFirstLastPara="1" rIns="91425" wrap="square" tIns="45700">
            <a:noAutofit/>
          </a:bodyPr>
          <a:lstStyle/>
          <a:p>
            <a:pPr indent="457200" lvl="0" marL="0" marR="0" rtl="0" algn="l">
              <a:lnSpc>
                <a:spcPct val="90000"/>
              </a:lnSpc>
              <a:spcBef>
                <a:spcPts val="500"/>
              </a:spcBef>
              <a:spcAft>
                <a:spcPts val="0"/>
              </a:spcAft>
              <a:buClr>
                <a:srgbClr val="000000"/>
              </a:buClr>
              <a:buSzPts val="2800"/>
              <a:buFont typeface="Arial"/>
              <a:buNone/>
            </a:pPr>
            <a:r>
              <a:rPr b="0" i="0" lang="pt-BR" sz="2800" u="none" cap="none" strike="noStrike">
                <a:solidFill>
                  <a:schemeClr val="dk1"/>
                </a:solidFill>
                <a:latin typeface="Arial"/>
                <a:ea typeface="Arial"/>
                <a:cs typeface="Arial"/>
                <a:sym typeface="Arial"/>
              </a:rPr>
              <a:t>É o tipo de dado que armazena valores numéricos. Paras o tipo de dado números temos:</a:t>
            </a:r>
            <a:endParaRPr b="0" i="0" sz="2800" u="none" cap="none" strike="noStrike">
              <a:solidFill>
                <a:schemeClr val="dk1"/>
              </a:solidFill>
              <a:latin typeface="Arial"/>
              <a:ea typeface="Arial"/>
              <a:cs typeface="Arial"/>
              <a:sym typeface="Arial"/>
            </a:endParaRPr>
          </a:p>
          <a:p>
            <a:pPr indent="457200" lvl="0" marL="0" marR="0" rtl="0" algn="l">
              <a:lnSpc>
                <a:spcPct val="90000"/>
              </a:lnSpc>
              <a:spcBef>
                <a:spcPts val="50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406400" lvl="0" marL="457200" marR="0" rtl="0" algn="l">
              <a:lnSpc>
                <a:spcPct val="90000"/>
              </a:lnSpc>
              <a:spcBef>
                <a:spcPts val="500"/>
              </a:spcBef>
              <a:spcAft>
                <a:spcPts val="0"/>
              </a:spcAft>
              <a:buClr>
                <a:schemeClr val="dk1"/>
              </a:buClr>
              <a:buSzPts val="2800"/>
              <a:buFont typeface="Arial"/>
              <a:buChar char="●"/>
            </a:pPr>
            <a:r>
              <a:rPr b="0" i="0" lang="pt-BR" sz="2800" u="none" cap="none" strike="noStrike">
                <a:solidFill>
                  <a:schemeClr val="dk1"/>
                </a:solidFill>
                <a:latin typeface="Arial"/>
                <a:ea typeface="Arial"/>
                <a:cs typeface="Arial"/>
                <a:sym typeface="Arial"/>
              </a:rPr>
              <a:t>Inteiro;</a:t>
            </a:r>
            <a:endParaRPr b="0" i="0" sz="2800" u="none" cap="none" strike="noStrike">
              <a:solidFill>
                <a:schemeClr val="dk1"/>
              </a:solidFill>
              <a:latin typeface="Arial"/>
              <a:ea typeface="Arial"/>
              <a:cs typeface="Arial"/>
              <a:sym typeface="Arial"/>
            </a:endParaRPr>
          </a:p>
          <a:p>
            <a:pPr indent="-406400" lvl="0" marL="457200" marR="0" rtl="0" algn="l">
              <a:lnSpc>
                <a:spcPct val="90000"/>
              </a:lnSpc>
              <a:spcBef>
                <a:spcPts val="0"/>
              </a:spcBef>
              <a:spcAft>
                <a:spcPts val="0"/>
              </a:spcAft>
              <a:buClr>
                <a:schemeClr val="dk1"/>
              </a:buClr>
              <a:buSzPts val="2800"/>
              <a:buFont typeface="Arial"/>
              <a:buChar char="●"/>
            </a:pPr>
            <a:r>
              <a:rPr b="0" i="0" lang="pt-BR" sz="2800" u="none" cap="none" strike="noStrike">
                <a:solidFill>
                  <a:schemeClr val="dk1"/>
                </a:solidFill>
                <a:latin typeface="Arial"/>
                <a:ea typeface="Arial"/>
                <a:cs typeface="Arial"/>
                <a:sym typeface="Arial"/>
              </a:rPr>
              <a:t>Real.</a:t>
            </a:r>
            <a:endParaRPr b="0" i="0" sz="2800" u="none" cap="none" strike="noStrike">
              <a:solidFill>
                <a:schemeClr val="dk1"/>
              </a:solidFill>
              <a:latin typeface="Arial"/>
              <a:ea typeface="Arial"/>
              <a:cs typeface="Arial"/>
              <a:sym typeface="Arial"/>
            </a:endParaRPr>
          </a:p>
        </p:txBody>
      </p:sp>
      <p:pic>
        <p:nvPicPr>
          <p:cNvPr id="133" name="Google Shape;133;g1261e3f943e_0_25"/>
          <p:cNvPicPr preferRelativeResize="0"/>
          <p:nvPr/>
        </p:nvPicPr>
        <p:blipFill rotWithShape="1">
          <a:blip r:embed="rId4">
            <a:alphaModFix/>
          </a:blip>
          <a:srcRect b="0" l="0" r="0" t="0"/>
          <a:stretch/>
        </p:blipFill>
        <p:spPr>
          <a:xfrm>
            <a:off x="4126950" y="2704526"/>
            <a:ext cx="5832201" cy="3280625"/>
          </a:xfrm>
          <a:prstGeom prst="rect">
            <a:avLst/>
          </a:prstGeom>
          <a:noFill/>
          <a:ln>
            <a:noFill/>
          </a:ln>
        </p:spPr>
      </p:pic>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g1261e3f943e_0_31"/>
          <p:cNvSpPr/>
          <p:nvPr/>
        </p:nvSpPr>
        <p:spPr>
          <a:xfrm>
            <a:off x="2152650" y="365919"/>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800"/>
              <a:buFont typeface="Arial"/>
              <a:buNone/>
            </a:pPr>
            <a:r>
              <a:rPr b="1" i="0" lang="pt-BR" sz="4800" u="none" cap="none" strike="noStrike">
                <a:solidFill>
                  <a:schemeClr val="dk1"/>
                </a:solidFill>
                <a:latin typeface="Arial"/>
                <a:ea typeface="Arial"/>
                <a:cs typeface="Arial"/>
                <a:sym typeface="Arial"/>
              </a:rPr>
              <a:t>Tipo Inteiro</a:t>
            </a:r>
            <a:endParaRPr b="0" i="0" sz="1400" u="none" cap="none" strike="noStrike">
              <a:solidFill>
                <a:srgbClr val="000000"/>
              </a:solidFill>
              <a:latin typeface="Arial"/>
              <a:ea typeface="Arial"/>
              <a:cs typeface="Arial"/>
              <a:sym typeface="Arial"/>
            </a:endParaRPr>
          </a:p>
        </p:txBody>
      </p:sp>
      <p:sp>
        <p:nvSpPr>
          <p:cNvPr id="139" name="Google Shape;139;g1261e3f943e_0_31"/>
          <p:cNvSpPr/>
          <p:nvPr/>
        </p:nvSpPr>
        <p:spPr>
          <a:xfrm>
            <a:off x="824449" y="1560618"/>
            <a:ext cx="10977600" cy="4351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1200"/>
              </a:spcBef>
              <a:spcAft>
                <a:spcPts val="120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Em determinadas situações faz-se necessário a utilização de valores inteiros em um algoritmo. Como faríamos, por exemplo, uma simples soma entre dois números pertencentes ao conjunto dos números inteiros? Simples. Utilizando variáveis do tipo inteiro. </a:t>
            </a:r>
            <a:endParaRPr b="0" i="0" sz="2800" u="none" cap="none" strike="noStrike">
              <a:solidFill>
                <a:schemeClr val="dk1"/>
              </a:solidFill>
              <a:latin typeface="Calibri"/>
              <a:ea typeface="Calibri"/>
              <a:cs typeface="Calibri"/>
              <a:sym typeface="Calibri"/>
            </a:endParaRPr>
          </a:p>
        </p:txBody>
      </p:sp>
      <p:pic>
        <p:nvPicPr>
          <p:cNvPr id="140" name="Google Shape;140;g1261e3f943e_0_31"/>
          <p:cNvPicPr preferRelativeResize="0"/>
          <p:nvPr/>
        </p:nvPicPr>
        <p:blipFill rotWithShape="1">
          <a:blip r:embed="rId4">
            <a:alphaModFix/>
          </a:blip>
          <a:srcRect b="0" l="0" r="0" t="0"/>
          <a:stretch/>
        </p:blipFill>
        <p:spPr>
          <a:xfrm>
            <a:off x="3796975" y="3437850"/>
            <a:ext cx="5032551" cy="2830825"/>
          </a:xfrm>
          <a:prstGeom prst="rect">
            <a:avLst/>
          </a:prstGeom>
          <a:noFill/>
          <a:ln>
            <a:noFill/>
          </a:ln>
        </p:spPr>
      </p:pic>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g1261e3f943e_0_37"/>
          <p:cNvSpPr/>
          <p:nvPr/>
        </p:nvSpPr>
        <p:spPr>
          <a:xfrm>
            <a:off x="2152650" y="365919"/>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800"/>
              <a:buFont typeface="Arial"/>
              <a:buNone/>
            </a:pPr>
            <a:r>
              <a:rPr b="1" i="0" lang="pt-BR" sz="4800" u="none" cap="none" strike="noStrike">
                <a:solidFill>
                  <a:schemeClr val="dk1"/>
                </a:solidFill>
                <a:latin typeface="Arial"/>
                <a:ea typeface="Arial"/>
                <a:cs typeface="Arial"/>
                <a:sym typeface="Arial"/>
              </a:rPr>
              <a:t>Tipo Inteiro</a:t>
            </a:r>
            <a:endParaRPr b="0" i="0" sz="1400" u="none" cap="none" strike="noStrike">
              <a:solidFill>
                <a:srgbClr val="000000"/>
              </a:solidFill>
              <a:latin typeface="Arial"/>
              <a:ea typeface="Arial"/>
              <a:cs typeface="Arial"/>
              <a:sym typeface="Arial"/>
            </a:endParaRPr>
          </a:p>
        </p:txBody>
      </p:sp>
      <p:sp>
        <p:nvSpPr>
          <p:cNvPr id="146" name="Google Shape;146;g1261e3f943e_0_37"/>
          <p:cNvSpPr/>
          <p:nvPr/>
        </p:nvSpPr>
        <p:spPr>
          <a:xfrm>
            <a:off x="824449" y="1560618"/>
            <a:ext cx="10977600" cy="4351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1200"/>
              </a:spcBef>
              <a:spcAft>
                <a:spcPts val="120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Uma variável do tipo inteiro pode ser entendida como uma variável que contém qualquer número que pertença ao conjunto dos números inteiros. Podem ser positivos, negativos ou nulos.</a:t>
            </a:r>
            <a:endParaRPr b="0" i="0" sz="2800" u="none" cap="none" strike="noStrike">
              <a:solidFill>
                <a:schemeClr val="dk1"/>
              </a:solidFill>
              <a:latin typeface="Calibri"/>
              <a:ea typeface="Calibri"/>
              <a:cs typeface="Calibri"/>
              <a:sym typeface="Calibri"/>
            </a:endParaRPr>
          </a:p>
        </p:txBody>
      </p:sp>
      <p:pic>
        <p:nvPicPr>
          <p:cNvPr id="147" name="Google Shape;147;g1261e3f943e_0_37"/>
          <p:cNvPicPr preferRelativeResize="0"/>
          <p:nvPr/>
        </p:nvPicPr>
        <p:blipFill rotWithShape="1">
          <a:blip r:embed="rId4">
            <a:alphaModFix/>
          </a:blip>
          <a:srcRect b="0" l="0" r="0" t="0"/>
          <a:stretch/>
        </p:blipFill>
        <p:spPr>
          <a:xfrm>
            <a:off x="3708375" y="3463750"/>
            <a:ext cx="5032551" cy="2830825"/>
          </a:xfrm>
          <a:prstGeom prst="rect">
            <a:avLst/>
          </a:prstGeom>
          <a:noFill/>
          <a:ln>
            <a:noFill/>
          </a:ln>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1261e3f943e_0_43"/>
          <p:cNvSpPr/>
          <p:nvPr/>
        </p:nvSpPr>
        <p:spPr>
          <a:xfrm>
            <a:off x="2152650" y="365919"/>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800"/>
              <a:buFont typeface="Arial"/>
              <a:buNone/>
            </a:pPr>
            <a:r>
              <a:rPr b="1" i="0" lang="pt-BR" sz="4800" u="none" cap="none" strike="noStrike">
                <a:solidFill>
                  <a:schemeClr val="dk1"/>
                </a:solidFill>
                <a:latin typeface="Arial"/>
                <a:ea typeface="Arial"/>
                <a:cs typeface="Arial"/>
                <a:sym typeface="Arial"/>
              </a:rPr>
              <a:t>Tipo Real</a:t>
            </a:r>
            <a:endParaRPr b="0" i="0" sz="1400" u="none" cap="none" strike="noStrike">
              <a:solidFill>
                <a:srgbClr val="000000"/>
              </a:solidFill>
              <a:latin typeface="Arial"/>
              <a:ea typeface="Arial"/>
              <a:cs typeface="Arial"/>
              <a:sym typeface="Arial"/>
            </a:endParaRPr>
          </a:p>
        </p:txBody>
      </p:sp>
      <p:sp>
        <p:nvSpPr>
          <p:cNvPr id="153" name="Google Shape;153;g1261e3f943e_0_43"/>
          <p:cNvSpPr/>
          <p:nvPr/>
        </p:nvSpPr>
        <p:spPr>
          <a:xfrm>
            <a:off x="824449" y="1560618"/>
            <a:ext cx="109776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00000"/>
              </a:lnSpc>
              <a:spcBef>
                <a:spcPts val="1200"/>
              </a:spcBef>
              <a:spcAft>
                <a:spcPts val="1200"/>
              </a:spcAft>
              <a:buClr>
                <a:schemeClr val="dk1"/>
              </a:buClr>
              <a:buSzPts val="1100"/>
              <a:buFont typeface="Arial"/>
              <a:buNone/>
            </a:pPr>
            <a:r>
              <a:rPr b="0" i="0" lang="pt-BR" sz="2800" u="none" cap="none" strike="noStrike">
                <a:solidFill>
                  <a:schemeClr val="dk1"/>
                </a:solidFill>
                <a:latin typeface="Arial"/>
                <a:ea typeface="Arial"/>
                <a:cs typeface="Arial"/>
                <a:sym typeface="Arial"/>
              </a:rPr>
              <a:t>Em algumas situações é necessário armazenar valores que não pertencem aos números inteiros. Por exemplo, se quiséssemos armazenar o valor da divisão de 8 por 3, como faríamos? Este problema pode ser solucionado com uma variável do tipo real. </a:t>
            </a:r>
            <a:endParaRPr b="0" i="0" sz="2800" u="none" cap="none" strike="noStrike">
              <a:solidFill>
                <a:schemeClr val="dk1"/>
              </a:solidFill>
              <a:latin typeface="Calibri"/>
              <a:ea typeface="Calibri"/>
              <a:cs typeface="Calibri"/>
              <a:sym typeface="Calibri"/>
            </a:endParaRPr>
          </a:p>
        </p:txBody>
      </p:sp>
      <p:pic>
        <p:nvPicPr>
          <p:cNvPr id="154" name="Google Shape;154;g1261e3f943e_0_43"/>
          <p:cNvPicPr preferRelativeResize="0"/>
          <p:nvPr/>
        </p:nvPicPr>
        <p:blipFill rotWithShape="1">
          <a:blip r:embed="rId4">
            <a:alphaModFix/>
          </a:blip>
          <a:srcRect b="0" l="0" r="0" t="0"/>
          <a:stretch/>
        </p:blipFill>
        <p:spPr>
          <a:xfrm>
            <a:off x="3708375" y="3463750"/>
            <a:ext cx="5032551" cy="2830825"/>
          </a:xfrm>
          <a:prstGeom prst="rect">
            <a:avLst/>
          </a:prstGeom>
          <a:noFill/>
          <a:ln>
            <a:noFill/>
          </a:ln>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g1261e3f943e_0_49"/>
          <p:cNvSpPr/>
          <p:nvPr/>
        </p:nvSpPr>
        <p:spPr>
          <a:xfrm>
            <a:off x="2152650" y="365919"/>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800"/>
              <a:buFont typeface="Arial"/>
              <a:buNone/>
            </a:pPr>
            <a:r>
              <a:rPr b="1" i="0" lang="pt-BR" sz="4800" u="none" cap="none" strike="noStrike">
                <a:solidFill>
                  <a:schemeClr val="dk1"/>
                </a:solidFill>
                <a:latin typeface="Arial"/>
                <a:ea typeface="Arial"/>
                <a:cs typeface="Arial"/>
                <a:sym typeface="Arial"/>
              </a:rPr>
              <a:t>Tipo Real</a:t>
            </a:r>
            <a:endParaRPr b="0" i="0" sz="1400" u="none" cap="none" strike="noStrike">
              <a:solidFill>
                <a:srgbClr val="000000"/>
              </a:solidFill>
              <a:latin typeface="Arial"/>
              <a:ea typeface="Arial"/>
              <a:cs typeface="Arial"/>
              <a:sym typeface="Arial"/>
            </a:endParaRPr>
          </a:p>
        </p:txBody>
      </p:sp>
      <p:sp>
        <p:nvSpPr>
          <p:cNvPr id="160" name="Google Shape;160;g1261e3f943e_0_49"/>
          <p:cNvSpPr/>
          <p:nvPr/>
        </p:nvSpPr>
        <p:spPr>
          <a:xfrm>
            <a:off x="824449" y="1560618"/>
            <a:ext cx="109776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00000"/>
              </a:lnSpc>
              <a:spcBef>
                <a:spcPts val="1200"/>
              </a:spcBef>
              <a:spcAft>
                <a:spcPts val="1200"/>
              </a:spcAft>
              <a:buClr>
                <a:srgbClr val="000000"/>
              </a:buClr>
              <a:buSzPts val="2800"/>
              <a:buFont typeface="Arial"/>
              <a:buNone/>
            </a:pPr>
            <a:r>
              <a:rPr b="0" i="0" lang="pt-BR" sz="2800" u="none" cap="none" strike="noStrike">
                <a:solidFill>
                  <a:schemeClr val="dk1"/>
                </a:solidFill>
                <a:latin typeface="Arial"/>
                <a:ea typeface="Arial"/>
                <a:cs typeface="Arial"/>
                <a:sym typeface="Arial"/>
              </a:rPr>
              <a:t>Uma variável do tipo real armazena um número real como uma fração decimal possivelmente infinita, como o número PI 3.1415926535. Os valores do tipo de dado real são números separados por pontos e não por vírgulas.</a:t>
            </a:r>
            <a:endParaRPr b="0" i="0" sz="2800" u="none" cap="none" strike="noStrike">
              <a:solidFill>
                <a:schemeClr val="dk1"/>
              </a:solidFill>
              <a:latin typeface="Calibri"/>
              <a:ea typeface="Calibri"/>
              <a:cs typeface="Calibri"/>
              <a:sym typeface="Calibri"/>
            </a:endParaRPr>
          </a:p>
        </p:txBody>
      </p:sp>
      <p:pic>
        <p:nvPicPr>
          <p:cNvPr id="161" name="Google Shape;161;g1261e3f943e_0_49"/>
          <p:cNvPicPr preferRelativeResize="0"/>
          <p:nvPr/>
        </p:nvPicPr>
        <p:blipFill rotWithShape="1">
          <a:blip r:embed="rId4">
            <a:alphaModFix/>
          </a:blip>
          <a:srcRect b="0" l="0" r="0" t="0"/>
          <a:stretch/>
        </p:blipFill>
        <p:spPr>
          <a:xfrm>
            <a:off x="3708375" y="3463750"/>
            <a:ext cx="5032551" cy="2830825"/>
          </a:xfrm>
          <a:prstGeom prst="rect">
            <a:avLst/>
          </a:prstGeom>
          <a:noFill/>
          <a:ln>
            <a:noFill/>
          </a:ln>
        </p:spPr>
      </p:pic>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g1261e3f943e_0_55"/>
          <p:cNvSpPr/>
          <p:nvPr/>
        </p:nvSpPr>
        <p:spPr>
          <a:xfrm>
            <a:off x="2152650" y="337344"/>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400"/>
              <a:buFont typeface="Arial"/>
              <a:buNone/>
            </a:pPr>
            <a:r>
              <a:rPr b="0" i="0" lang="pt-BR" sz="4400" u="none" cap="none" strike="noStrike">
                <a:solidFill>
                  <a:schemeClr val="dk1"/>
                </a:solidFill>
                <a:latin typeface="Arial"/>
                <a:ea typeface="Arial"/>
                <a:cs typeface="Arial"/>
                <a:sym typeface="Arial"/>
              </a:rPr>
              <a:t>Tipo Caractere</a:t>
            </a:r>
            <a:endParaRPr b="0" i="0" sz="1400" u="none" cap="none" strike="noStrike">
              <a:solidFill>
                <a:srgbClr val="000000"/>
              </a:solidFill>
              <a:latin typeface="Arial"/>
              <a:ea typeface="Arial"/>
              <a:cs typeface="Arial"/>
              <a:sym typeface="Arial"/>
            </a:endParaRPr>
          </a:p>
        </p:txBody>
      </p:sp>
      <p:sp>
        <p:nvSpPr>
          <p:cNvPr id="167" name="Google Shape;167;g1261e3f943e_0_55"/>
          <p:cNvSpPr/>
          <p:nvPr/>
        </p:nvSpPr>
        <p:spPr>
          <a:xfrm>
            <a:off x="632630" y="1662900"/>
            <a:ext cx="10868400" cy="4351200"/>
          </a:xfrm>
          <a:prstGeom prst="rect">
            <a:avLst/>
          </a:prstGeom>
          <a:noFill/>
          <a:ln>
            <a:noFill/>
          </a:ln>
        </p:spPr>
        <p:txBody>
          <a:bodyPr anchorCtr="0" anchor="t" bIns="45700" lIns="91425" spcFirstLastPara="1" rIns="91425" wrap="square" tIns="45700">
            <a:noAutofit/>
          </a:bodyPr>
          <a:lstStyle/>
          <a:p>
            <a:pPr indent="457200" lvl="0" marL="0" marR="0" rtl="0" algn="l">
              <a:lnSpc>
                <a:spcPct val="90000"/>
              </a:lnSpc>
              <a:spcBef>
                <a:spcPts val="0"/>
              </a:spcBef>
              <a:spcAft>
                <a:spcPts val="0"/>
              </a:spcAft>
              <a:buClr>
                <a:srgbClr val="000000"/>
              </a:buClr>
              <a:buSzPts val="2800"/>
              <a:buFont typeface="Arial"/>
              <a:buNone/>
            </a:pPr>
            <a:r>
              <a:rPr b="0" i="0" lang="pt-BR" sz="2800" u="none" cap="none" strike="noStrike">
                <a:solidFill>
                  <a:schemeClr val="dk1"/>
                </a:solidFill>
                <a:latin typeface="Arial"/>
                <a:ea typeface="Arial"/>
                <a:cs typeface="Arial"/>
                <a:sym typeface="Arial"/>
              </a:rPr>
              <a:t>Se referem a sequências que contenham letras, números e símbolos.</a:t>
            </a:r>
            <a:endParaRPr b="0" i="0" sz="1400" u="none" cap="none" strike="noStrike">
              <a:solidFill>
                <a:srgbClr val="000000"/>
              </a:solidFill>
              <a:latin typeface="Arial"/>
              <a:ea typeface="Arial"/>
              <a:cs typeface="Arial"/>
              <a:sym typeface="Arial"/>
            </a:endParaRPr>
          </a:p>
          <a:p>
            <a:pPr indent="457200" lvl="0" marL="0" marR="0" rtl="0" algn="l">
              <a:lnSpc>
                <a:spcPct val="90000"/>
              </a:lnSpc>
              <a:spcBef>
                <a:spcPts val="1000"/>
              </a:spcBef>
              <a:spcAft>
                <a:spcPts val="0"/>
              </a:spcAft>
              <a:buClr>
                <a:srgbClr val="000000"/>
              </a:buClr>
              <a:buSzPts val="2800"/>
              <a:buFont typeface="Arial"/>
              <a:buNone/>
            </a:pPr>
            <a:r>
              <a:rPr b="0" i="0" lang="pt-BR" sz="2800" u="none" cap="none" strike="noStrike">
                <a:solidFill>
                  <a:schemeClr val="dk1"/>
                </a:solidFill>
                <a:latin typeface="Arial"/>
                <a:ea typeface="Arial"/>
                <a:cs typeface="Arial"/>
                <a:sym typeface="Arial"/>
              </a:rPr>
              <a:t>Os caracteres devem ser representados sempre entre aspas(“ ”)  no código.</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2800"/>
              <a:buFont typeface="Arial"/>
              <a:buChar char="•"/>
            </a:pPr>
            <a:r>
              <a:rPr b="0" i="0" lang="pt-BR" sz="2800" u="none" cap="none" strike="noStrike">
                <a:solidFill>
                  <a:schemeClr val="dk1"/>
                </a:solidFill>
                <a:latin typeface="Arial"/>
                <a:ea typeface="Arial"/>
                <a:cs typeface="Arial"/>
                <a:sym typeface="Arial"/>
              </a:rPr>
              <a:t>Caracter;</a:t>
            </a:r>
            <a:endParaRPr b="0" i="0" sz="2800" u="none" cap="none" strike="noStrike">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2800"/>
              <a:buFont typeface="Arial"/>
              <a:buChar char="•"/>
            </a:pPr>
            <a:r>
              <a:rPr b="0" i="0" lang="pt-BR" sz="2800" u="none" cap="none" strike="noStrike">
                <a:solidFill>
                  <a:schemeClr val="dk1"/>
                </a:solidFill>
                <a:latin typeface="Arial"/>
                <a:ea typeface="Arial"/>
                <a:cs typeface="Arial"/>
                <a:sym typeface="Arial"/>
              </a:rPr>
              <a:t>Cadeia: </a:t>
            </a:r>
            <a:endParaRPr b="0" i="0" sz="1400" u="none" cap="none" strike="noStrike">
              <a:solidFill>
                <a:srgbClr val="000000"/>
              </a:solidFill>
              <a:latin typeface="Arial"/>
              <a:ea typeface="Arial"/>
              <a:cs typeface="Arial"/>
              <a:sym typeface="Arial"/>
            </a:endParaRPr>
          </a:p>
        </p:txBody>
      </p:sp>
      <p:pic>
        <p:nvPicPr>
          <p:cNvPr id="168" name="Google Shape;168;g1261e3f943e_0_55"/>
          <p:cNvPicPr preferRelativeResize="0"/>
          <p:nvPr/>
        </p:nvPicPr>
        <p:blipFill rotWithShape="1">
          <a:blip r:embed="rId4">
            <a:alphaModFix/>
          </a:blip>
          <a:srcRect b="0" l="0" r="0" t="0"/>
          <a:stretch/>
        </p:blipFill>
        <p:spPr>
          <a:xfrm>
            <a:off x="3626050" y="3184700"/>
            <a:ext cx="5482500" cy="2741250"/>
          </a:xfrm>
          <a:prstGeom prst="rect">
            <a:avLst/>
          </a:prstGeom>
          <a:noFill/>
          <a:ln>
            <a:noFill/>
          </a:ln>
        </p:spPr>
      </p:pic>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g1261e3f943e_0_61"/>
          <p:cNvSpPr/>
          <p:nvPr/>
        </p:nvSpPr>
        <p:spPr>
          <a:xfrm>
            <a:off x="2152650" y="337344"/>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400"/>
              <a:buFont typeface="Arial"/>
              <a:buNone/>
            </a:pPr>
            <a:r>
              <a:rPr b="0" i="0" lang="pt-BR" sz="4400" u="none" cap="none" strike="noStrike">
                <a:solidFill>
                  <a:schemeClr val="dk1"/>
                </a:solidFill>
                <a:latin typeface="Arial"/>
                <a:ea typeface="Arial"/>
                <a:cs typeface="Arial"/>
                <a:sym typeface="Arial"/>
              </a:rPr>
              <a:t>Tipo Caracter</a:t>
            </a:r>
            <a:endParaRPr b="0" i="0" sz="1400" u="none" cap="none" strike="noStrike">
              <a:solidFill>
                <a:srgbClr val="000000"/>
              </a:solidFill>
              <a:latin typeface="Arial"/>
              <a:ea typeface="Arial"/>
              <a:cs typeface="Arial"/>
              <a:sym typeface="Arial"/>
            </a:endParaRPr>
          </a:p>
        </p:txBody>
      </p:sp>
      <p:sp>
        <p:nvSpPr>
          <p:cNvPr id="174" name="Google Shape;174;g1261e3f943e_0_61"/>
          <p:cNvSpPr/>
          <p:nvPr/>
        </p:nvSpPr>
        <p:spPr>
          <a:xfrm>
            <a:off x="632630" y="1662900"/>
            <a:ext cx="108684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00000"/>
              </a:lnSpc>
              <a:spcBef>
                <a:spcPts val="1200"/>
              </a:spcBef>
              <a:spcAft>
                <a:spcPts val="120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Em determinadas situações faz-se necessário o uso de símbolos, letras ou outro tipo de conteúdo. Por exemplo, em um jogo da velha, seriam necessárias variáveis que tivessem conteúdos de 'X' e '0'. Para este tipo de situação, existe a variável do tipo caracter. </a:t>
            </a:r>
            <a:endParaRPr b="0" i="0" sz="2800" u="none" cap="none" strike="noStrike">
              <a:solidFill>
                <a:srgbClr val="000000"/>
              </a:solidFill>
              <a:latin typeface="Calibri"/>
              <a:ea typeface="Calibri"/>
              <a:cs typeface="Calibri"/>
              <a:sym typeface="Calibri"/>
            </a:endParaRPr>
          </a:p>
        </p:txBody>
      </p:sp>
      <p:pic>
        <p:nvPicPr>
          <p:cNvPr id="175" name="Google Shape;175;g1261e3f943e_0_61"/>
          <p:cNvPicPr preferRelativeResize="0"/>
          <p:nvPr/>
        </p:nvPicPr>
        <p:blipFill rotWithShape="1">
          <a:blip r:embed="rId4">
            <a:alphaModFix/>
          </a:blip>
          <a:srcRect b="0" l="0" r="0" t="0"/>
          <a:stretch/>
        </p:blipFill>
        <p:spPr>
          <a:xfrm>
            <a:off x="3325575" y="3503650"/>
            <a:ext cx="5482500" cy="2741250"/>
          </a:xfrm>
          <a:prstGeom prst="rect">
            <a:avLst/>
          </a:prstGeom>
          <a:noFill/>
          <a:ln>
            <a:noFill/>
          </a:ln>
        </p:spPr>
      </p:pic>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79" name="Shape 179"/>
        <p:cNvGrpSpPr/>
        <p:nvPr/>
      </p:nvGrpSpPr>
      <p:grpSpPr>
        <a:xfrm>
          <a:off x="0" y="0"/>
          <a:ext cx="0" cy="0"/>
          <a:chOff x="0" y="0"/>
          <a:chExt cx="0" cy="0"/>
        </a:xfrm>
      </p:grpSpPr>
      <p:sp>
        <p:nvSpPr>
          <p:cNvPr id="180" name="Google Shape;180;g1261e3f943e_0_67"/>
          <p:cNvSpPr/>
          <p:nvPr/>
        </p:nvSpPr>
        <p:spPr>
          <a:xfrm>
            <a:off x="2152650" y="337344"/>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400"/>
              <a:buFont typeface="Arial"/>
              <a:buNone/>
            </a:pPr>
            <a:r>
              <a:rPr b="0" i="0" lang="pt-BR" sz="4400" u="none" cap="none" strike="noStrike">
                <a:solidFill>
                  <a:schemeClr val="dk1"/>
                </a:solidFill>
                <a:latin typeface="Arial"/>
                <a:ea typeface="Arial"/>
                <a:cs typeface="Arial"/>
                <a:sym typeface="Arial"/>
              </a:rPr>
              <a:t>Tipo Caracter</a:t>
            </a:r>
            <a:endParaRPr b="0" i="0" sz="1400" u="none" cap="none" strike="noStrike">
              <a:solidFill>
                <a:srgbClr val="000000"/>
              </a:solidFill>
              <a:latin typeface="Arial"/>
              <a:ea typeface="Arial"/>
              <a:cs typeface="Arial"/>
              <a:sym typeface="Arial"/>
            </a:endParaRPr>
          </a:p>
        </p:txBody>
      </p:sp>
      <p:sp>
        <p:nvSpPr>
          <p:cNvPr id="181" name="Google Shape;181;g1261e3f943e_0_67"/>
          <p:cNvSpPr/>
          <p:nvPr/>
        </p:nvSpPr>
        <p:spPr>
          <a:xfrm>
            <a:off x="632630" y="1662900"/>
            <a:ext cx="108684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00000"/>
              </a:lnSpc>
              <a:spcBef>
                <a:spcPts val="1200"/>
              </a:spcBef>
              <a:spcAft>
                <a:spcPts val="120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A variável do tipo característica é aquela que contém uma informação composta de apenas UM cartão alfanumérico ou especial. Exemplos de caracteres são letras, números, pontuação e etc.</a:t>
            </a:r>
            <a:endParaRPr b="0" i="0" sz="2800" u="none" cap="none" strike="noStrike">
              <a:solidFill>
                <a:srgbClr val="000000"/>
              </a:solidFill>
              <a:latin typeface="Calibri"/>
              <a:ea typeface="Calibri"/>
              <a:cs typeface="Calibri"/>
              <a:sym typeface="Calibri"/>
            </a:endParaRPr>
          </a:p>
        </p:txBody>
      </p:sp>
      <p:pic>
        <p:nvPicPr>
          <p:cNvPr id="182" name="Google Shape;182;g1261e3f943e_0_67"/>
          <p:cNvPicPr preferRelativeResize="0"/>
          <p:nvPr/>
        </p:nvPicPr>
        <p:blipFill rotWithShape="1">
          <a:blip r:embed="rId4">
            <a:alphaModFix/>
          </a:blip>
          <a:srcRect b="0" l="0" r="0" t="0"/>
          <a:stretch/>
        </p:blipFill>
        <p:spPr>
          <a:xfrm>
            <a:off x="3325575" y="3503650"/>
            <a:ext cx="5482500" cy="2741250"/>
          </a:xfrm>
          <a:prstGeom prst="rect">
            <a:avLst/>
          </a:prstGeom>
          <a:noFill/>
          <a:ln>
            <a:noFill/>
          </a:ln>
        </p:spPr>
      </p:pic>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g1261e3f943e_0_73"/>
          <p:cNvSpPr/>
          <p:nvPr/>
        </p:nvSpPr>
        <p:spPr>
          <a:xfrm>
            <a:off x="2152650" y="337344"/>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400"/>
              <a:buFont typeface="Arial"/>
              <a:buNone/>
            </a:pPr>
            <a:r>
              <a:rPr b="0" i="0" lang="pt-BR" sz="4400" u="none" cap="none" strike="noStrike">
                <a:solidFill>
                  <a:schemeClr val="dk1"/>
                </a:solidFill>
                <a:latin typeface="Arial"/>
                <a:ea typeface="Arial"/>
                <a:cs typeface="Arial"/>
                <a:sym typeface="Arial"/>
              </a:rPr>
              <a:t>Tipo Cadeia</a:t>
            </a:r>
            <a:endParaRPr b="0" i="0" sz="1400" u="none" cap="none" strike="noStrike">
              <a:solidFill>
                <a:srgbClr val="000000"/>
              </a:solidFill>
              <a:latin typeface="Arial"/>
              <a:ea typeface="Arial"/>
              <a:cs typeface="Arial"/>
              <a:sym typeface="Arial"/>
            </a:endParaRPr>
          </a:p>
        </p:txBody>
      </p:sp>
      <p:sp>
        <p:nvSpPr>
          <p:cNvPr id="188" name="Google Shape;188;g1261e3f943e_0_73"/>
          <p:cNvSpPr/>
          <p:nvPr/>
        </p:nvSpPr>
        <p:spPr>
          <a:xfrm>
            <a:off x="661805" y="1253400"/>
            <a:ext cx="10868400" cy="4351200"/>
          </a:xfrm>
          <a:prstGeom prst="rect">
            <a:avLst/>
          </a:prstGeom>
          <a:noFill/>
          <a:ln>
            <a:noFill/>
          </a:ln>
        </p:spPr>
        <p:txBody>
          <a:bodyPr anchorCtr="0" anchor="t" bIns="45700" lIns="91425" spcFirstLastPara="1" rIns="91425" wrap="square" tIns="45700">
            <a:noAutofit/>
          </a:bodyPr>
          <a:lstStyle/>
          <a:p>
            <a:pPr indent="457200" lvl="0" marL="0" marR="0" rtl="0" algn="just">
              <a:lnSpc>
                <a:spcPct val="100000"/>
              </a:lnSpc>
              <a:spcBef>
                <a:spcPts val="1200"/>
              </a:spcBef>
              <a:spcAft>
                <a:spcPts val="1200"/>
              </a:spcAft>
              <a:buClr>
                <a:schemeClr val="dk1"/>
              </a:buClr>
              <a:buSzPts val="1100"/>
              <a:buFont typeface="Arial"/>
              <a:buNone/>
            </a:pPr>
            <a:r>
              <a:rPr b="0" i="0" lang="pt-BR" sz="2800" u="none" cap="none" strike="noStrike">
                <a:solidFill>
                  <a:schemeClr val="dk1"/>
                </a:solidFill>
                <a:latin typeface="Calibri"/>
                <a:ea typeface="Calibri"/>
                <a:cs typeface="Calibri"/>
                <a:sym typeface="Calibri"/>
              </a:rPr>
              <a:t>Em algumas situações precisa-se armazenar em uma variável, um texto ou uma quantidade grande de caracteres. Para armazenar este tipo de conteúdo, utiliza-se uma variÁvel do tipo cadeia. Cadeia é uma sequência ordenada de caracteres (símbolos) escolhidos a partir de um conjunto pré-determinado.</a:t>
            </a:r>
            <a:endParaRPr b="0" i="0" sz="2800" u="none" cap="none" strike="noStrike">
              <a:solidFill>
                <a:srgbClr val="000000"/>
              </a:solidFill>
              <a:latin typeface="Calibri"/>
              <a:ea typeface="Calibri"/>
              <a:cs typeface="Calibri"/>
              <a:sym typeface="Calibri"/>
            </a:endParaRPr>
          </a:p>
        </p:txBody>
      </p:sp>
      <p:pic>
        <p:nvPicPr>
          <p:cNvPr id="189" name="Google Shape;189;g1261e3f943e_0_73"/>
          <p:cNvPicPr preferRelativeResize="0"/>
          <p:nvPr/>
        </p:nvPicPr>
        <p:blipFill rotWithShape="1">
          <a:blip r:embed="rId4">
            <a:alphaModFix/>
          </a:blip>
          <a:srcRect b="0" l="0" r="0" t="0"/>
          <a:stretch/>
        </p:blipFill>
        <p:spPr>
          <a:xfrm>
            <a:off x="3325575" y="3503650"/>
            <a:ext cx="5482500" cy="2741250"/>
          </a:xfrm>
          <a:prstGeom prst="rect">
            <a:avLst/>
          </a:prstGeom>
          <a:noFill/>
          <a:ln>
            <a:noFill/>
          </a:ln>
        </p:spPr>
      </p:pic>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g1261e3f943e_0_79"/>
          <p:cNvSpPr/>
          <p:nvPr/>
        </p:nvSpPr>
        <p:spPr>
          <a:xfrm>
            <a:off x="2152649" y="351631"/>
            <a:ext cx="7886700" cy="1325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800"/>
              <a:buFont typeface="Arial"/>
              <a:buNone/>
            </a:pPr>
            <a:r>
              <a:rPr b="1" i="0" lang="pt-BR" sz="4800" u="none" cap="none" strike="noStrike">
                <a:solidFill>
                  <a:schemeClr val="dk1"/>
                </a:solidFill>
                <a:latin typeface="Arial"/>
                <a:ea typeface="Arial"/>
                <a:cs typeface="Arial"/>
                <a:sym typeface="Arial"/>
              </a:rPr>
              <a:t>Tipo Lógico</a:t>
            </a:r>
            <a:endParaRPr b="0" i="0" sz="1400" u="none" cap="none" strike="noStrike">
              <a:solidFill>
                <a:srgbClr val="000000"/>
              </a:solidFill>
              <a:latin typeface="Arial"/>
              <a:ea typeface="Arial"/>
              <a:cs typeface="Arial"/>
              <a:sym typeface="Arial"/>
            </a:endParaRPr>
          </a:p>
        </p:txBody>
      </p:sp>
      <p:sp>
        <p:nvSpPr>
          <p:cNvPr id="195" name="Google Shape;195;g1261e3f943e_0_79"/>
          <p:cNvSpPr/>
          <p:nvPr/>
        </p:nvSpPr>
        <p:spPr>
          <a:xfrm>
            <a:off x="752474" y="1562894"/>
            <a:ext cx="10687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120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Em determinadas situações faz-se necessário trabalhar com informações do tipo verdadeiro e falso. Este tipo de necessidade aparece muito em operações relacionais para exibir se determinada condição é verdadeira ou falsa. </a:t>
            </a:r>
            <a:endParaRPr b="0" i="0" sz="2800" u="none" cap="none" strike="noStrike">
              <a:solidFill>
                <a:schemeClr val="dk1"/>
              </a:solidFill>
              <a:latin typeface="Calibri"/>
              <a:ea typeface="Calibri"/>
              <a:cs typeface="Calibri"/>
              <a:sym typeface="Calibri"/>
            </a:endParaRPr>
          </a:p>
        </p:txBody>
      </p:sp>
      <p:pic>
        <p:nvPicPr>
          <p:cNvPr id="196" name="Google Shape;196;g1261e3f943e_0_79"/>
          <p:cNvPicPr preferRelativeResize="0"/>
          <p:nvPr/>
        </p:nvPicPr>
        <p:blipFill rotWithShape="1">
          <a:blip r:embed="rId4">
            <a:alphaModFix/>
          </a:blip>
          <a:srcRect b="0" l="0" r="0" t="0"/>
          <a:stretch/>
        </p:blipFill>
        <p:spPr>
          <a:xfrm>
            <a:off x="4498179" y="3038537"/>
            <a:ext cx="3195639" cy="2828070"/>
          </a:xfrm>
          <a:prstGeom prst="rect">
            <a:avLst/>
          </a:prstGeom>
          <a:noFill/>
          <a:ln>
            <a:noFill/>
          </a:ln>
        </p:spPr>
      </p:pic>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00" name="Shape 200"/>
        <p:cNvGrpSpPr/>
        <p:nvPr/>
      </p:nvGrpSpPr>
      <p:grpSpPr>
        <a:xfrm>
          <a:off x="0" y="0"/>
          <a:ext cx="0" cy="0"/>
          <a:chOff x="0" y="0"/>
          <a:chExt cx="0" cy="0"/>
        </a:xfrm>
      </p:grpSpPr>
      <p:grpSp>
        <p:nvGrpSpPr>
          <p:cNvPr id="201" name="Google Shape;201;g1261e3f943e_0_85"/>
          <p:cNvGrpSpPr/>
          <p:nvPr/>
        </p:nvGrpSpPr>
        <p:grpSpPr>
          <a:xfrm>
            <a:off x="1213287" y="728669"/>
            <a:ext cx="9765633" cy="4876872"/>
            <a:chOff x="1478756" y="828675"/>
            <a:chExt cx="9027207" cy="4433923"/>
          </a:xfrm>
        </p:grpSpPr>
        <p:sp>
          <p:nvSpPr>
            <p:cNvPr id="202" name="Google Shape;202;g1261e3f943e_0_85"/>
            <p:cNvSpPr/>
            <p:nvPr/>
          </p:nvSpPr>
          <p:spPr>
            <a:xfrm>
              <a:off x="4732734" y="828675"/>
              <a:ext cx="2497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Tipos de Dados</a:t>
              </a:r>
              <a:endParaRPr b="0" i="0" sz="1400" u="none" cap="none" strike="noStrike">
                <a:solidFill>
                  <a:srgbClr val="000000"/>
                </a:solidFill>
                <a:latin typeface="Arial"/>
                <a:ea typeface="Arial"/>
                <a:cs typeface="Arial"/>
                <a:sym typeface="Arial"/>
              </a:endParaRPr>
            </a:p>
          </p:txBody>
        </p:sp>
        <p:sp>
          <p:nvSpPr>
            <p:cNvPr id="203" name="Google Shape;203;g1261e3f943e_0_85"/>
            <p:cNvSpPr/>
            <p:nvPr/>
          </p:nvSpPr>
          <p:spPr>
            <a:xfrm>
              <a:off x="1478756" y="1995487"/>
              <a:ext cx="2497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Números</a:t>
              </a:r>
              <a:endParaRPr b="0" i="0" sz="1400" u="none" cap="none" strike="noStrike">
                <a:solidFill>
                  <a:srgbClr val="000000"/>
                </a:solidFill>
                <a:latin typeface="Arial"/>
                <a:ea typeface="Arial"/>
                <a:cs typeface="Arial"/>
                <a:sym typeface="Arial"/>
              </a:endParaRPr>
            </a:p>
          </p:txBody>
        </p:sp>
        <p:sp>
          <p:nvSpPr>
            <p:cNvPr id="204" name="Google Shape;204;g1261e3f943e_0_85"/>
            <p:cNvSpPr/>
            <p:nvPr/>
          </p:nvSpPr>
          <p:spPr>
            <a:xfrm>
              <a:off x="4743450" y="1995487"/>
              <a:ext cx="2497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Caracteres</a:t>
              </a:r>
              <a:endParaRPr b="0" i="0" sz="1400" u="none" cap="none" strike="noStrike">
                <a:solidFill>
                  <a:srgbClr val="000000"/>
                </a:solidFill>
                <a:latin typeface="Arial"/>
                <a:ea typeface="Arial"/>
                <a:cs typeface="Arial"/>
                <a:sym typeface="Arial"/>
              </a:endParaRPr>
            </a:p>
          </p:txBody>
        </p:sp>
        <p:sp>
          <p:nvSpPr>
            <p:cNvPr id="205" name="Google Shape;205;g1261e3f943e_0_85"/>
            <p:cNvSpPr/>
            <p:nvPr/>
          </p:nvSpPr>
          <p:spPr>
            <a:xfrm>
              <a:off x="8008144" y="1995486"/>
              <a:ext cx="2497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Lógico</a:t>
              </a:r>
              <a:endParaRPr b="0" i="0" sz="1400" u="none" cap="none" strike="noStrike">
                <a:solidFill>
                  <a:srgbClr val="000000"/>
                </a:solidFill>
                <a:latin typeface="Arial"/>
                <a:ea typeface="Arial"/>
                <a:cs typeface="Arial"/>
                <a:sym typeface="Arial"/>
              </a:endParaRPr>
            </a:p>
          </p:txBody>
        </p:sp>
        <p:sp>
          <p:nvSpPr>
            <p:cNvPr id="206" name="Google Shape;206;g1261e3f943e_0_85"/>
            <p:cNvSpPr/>
            <p:nvPr/>
          </p:nvSpPr>
          <p:spPr>
            <a:xfrm>
              <a:off x="2771775" y="3067048"/>
              <a:ext cx="1204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inteiro</a:t>
              </a:r>
              <a:endParaRPr b="0" i="0" sz="1400" u="none" cap="none" strike="noStrike">
                <a:solidFill>
                  <a:srgbClr val="000000"/>
                </a:solidFill>
                <a:latin typeface="Arial"/>
                <a:ea typeface="Arial"/>
                <a:cs typeface="Arial"/>
                <a:sym typeface="Arial"/>
              </a:endParaRPr>
            </a:p>
          </p:txBody>
        </p:sp>
        <p:sp>
          <p:nvSpPr>
            <p:cNvPr id="207" name="Google Shape;207;g1261e3f943e_0_85"/>
            <p:cNvSpPr/>
            <p:nvPr/>
          </p:nvSpPr>
          <p:spPr>
            <a:xfrm>
              <a:off x="2771775" y="4419598"/>
              <a:ext cx="1204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real</a:t>
              </a:r>
              <a:endParaRPr b="0" i="0" sz="1400" u="none" cap="none" strike="noStrike">
                <a:solidFill>
                  <a:srgbClr val="000000"/>
                </a:solidFill>
                <a:latin typeface="Arial"/>
                <a:ea typeface="Arial"/>
                <a:cs typeface="Arial"/>
                <a:sym typeface="Arial"/>
              </a:endParaRPr>
            </a:p>
          </p:txBody>
        </p:sp>
        <p:cxnSp>
          <p:nvCxnSpPr>
            <p:cNvPr id="208" name="Google Shape;208;g1261e3f943e_0_85"/>
            <p:cNvCxnSpPr>
              <a:stCxn id="207" idx="1"/>
            </p:cNvCxnSpPr>
            <p:nvPr/>
          </p:nvCxnSpPr>
          <p:spPr>
            <a:xfrm rot="10800000">
              <a:off x="1842975" y="2838598"/>
              <a:ext cx="928800" cy="2002500"/>
            </a:xfrm>
            <a:prstGeom prst="bentConnector2">
              <a:avLst/>
            </a:prstGeom>
            <a:noFill/>
            <a:ln cap="flat" cmpd="sng" w="38100">
              <a:solidFill>
                <a:srgbClr val="3E6EC2"/>
              </a:solidFill>
              <a:prstDash val="solid"/>
              <a:round/>
              <a:headEnd len="sm" w="sm" type="none"/>
              <a:tailEnd len="sm" w="sm" type="none"/>
            </a:ln>
          </p:spPr>
        </p:cxnSp>
        <p:cxnSp>
          <p:nvCxnSpPr>
            <p:cNvPr id="209" name="Google Shape;209;g1261e3f943e_0_85"/>
            <p:cNvCxnSpPr>
              <a:stCxn id="206" idx="1"/>
            </p:cNvCxnSpPr>
            <p:nvPr/>
          </p:nvCxnSpPr>
          <p:spPr>
            <a:xfrm rot="10800000">
              <a:off x="1842975" y="3488548"/>
              <a:ext cx="928800" cy="0"/>
            </a:xfrm>
            <a:prstGeom prst="straightConnector1">
              <a:avLst/>
            </a:prstGeom>
            <a:noFill/>
            <a:ln cap="flat" cmpd="sng" w="38100">
              <a:solidFill>
                <a:srgbClr val="3E6EC2"/>
              </a:solidFill>
              <a:prstDash val="solid"/>
              <a:round/>
              <a:headEnd len="sm" w="sm" type="none"/>
              <a:tailEnd len="sm" w="sm" type="none"/>
            </a:ln>
          </p:spPr>
        </p:cxnSp>
        <p:sp>
          <p:nvSpPr>
            <p:cNvPr id="210" name="Google Shape;210;g1261e3f943e_0_85"/>
            <p:cNvSpPr/>
            <p:nvPr/>
          </p:nvSpPr>
          <p:spPr>
            <a:xfrm>
              <a:off x="6025749" y="3067043"/>
              <a:ext cx="17193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caracter</a:t>
              </a:r>
              <a:endParaRPr b="0" i="0" sz="1400" u="none" cap="none" strike="noStrike">
                <a:solidFill>
                  <a:srgbClr val="000000"/>
                </a:solidFill>
                <a:latin typeface="Arial"/>
                <a:ea typeface="Arial"/>
                <a:cs typeface="Arial"/>
                <a:sym typeface="Arial"/>
              </a:endParaRPr>
            </a:p>
          </p:txBody>
        </p:sp>
        <p:sp>
          <p:nvSpPr>
            <p:cNvPr id="211" name="Google Shape;211;g1261e3f943e_0_85"/>
            <p:cNvSpPr/>
            <p:nvPr/>
          </p:nvSpPr>
          <p:spPr>
            <a:xfrm>
              <a:off x="6025753" y="4419598"/>
              <a:ext cx="1204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cadeia</a:t>
              </a:r>
              <a:endParaRPr b="0" i="0" sz="1400" u="none" cap="none" strike="noStrike">
                <a:solidFill>
                  <a:srgbClr val="000000"/>
                </a:solidFill>
                <a:latin typeface="Arial"/>
                <a:ea typeface="Arial"/>
                <a:cs typeface="Arial"/>
                <a:sym typeface="Arial"/>
              </a:endParaRPr>
            </a:p>
          </p:txBody>
        </p:sp>
        <p:cxnSp>
          <p:nvCxnSpPr>
            <p:cNvPr id="212" name="Google Shape;212;g1261e3f943e_0_85"/>
            <p:cNvCxnSpPr>
              <a:stCxn id="211" idx="1"/>
            </p:cNvCxnSpPr>
            <p:nvPr/>
          </p:nvCxnSpPr>
          <p:spPr>
            <a:xfrm rot="10800000">
              <a:off x="5096953" y="2838598"/>
              <a:ext cx="928800" cy="2002500"/>
            </a:xfrm>
            <a:prstGeom prst="bentConnector2">
              <a:avLst/>
            </a:prstGeom>
            <a:noFill/>
            <a:ln cap="flat" cmpd="sng" w="38100">
              <a:solidFill>
                <a:srgbClr val="3E6EC2"/>
              </a:solidFill>
              <a:prstDash val="solid"/>
              <a:round/>
              <a:headEnd len="sm" w="sm" type="none"/>
              <a:tailEnd len="sm" w="sm" type="none"/>
            </a:ln>
          </p:spPr>
        </p:cxnSp>
        <p:cxnSp>
          <p:nvCxnSpPr>
            <p:cNvPr id="213" name="Google Shape;213;g1261e3f943e_0_85"/>
            <p:cNvCxnSpPr>
              <a:stCxn id="210" idx="1"/>
            </p:cNvCxnSpPr>
            <p:nvPr/>
          </p:nvCxnSpPr>
          <p:spPr>
            <a:xfrm rot="10800000">
              <a:off x="5096949" y="3488543"/>
              <a:ext cx="928800" cy="0"/>
            </a:xfrm>
            <a:prstGeom prst="straightConnector1">
              <a:avLst/>
            </a:prstGeom>
            <a:noFill/>
            <a:ln cap="flat" cmpd="sng" w="38100">
              <a:solidFill>
                <a:srgbClr val="3E6EC2"/>
              </a:solidFill>
              <a:prstDash val="solid"/>
              <a:round/>
              <a:headEnd len="sm" w="sm" type="none"/>
              <a:tailEnd len="sm" w="sm" type="none"/>
            </a:ln>
          </p:spPr>
        </p:cxnSp>
        <p:sp>
          <p:nvSpPr>
            <p:cNvPr id="214" name="Google Shape;214;g1261e3f943e_0_85"/>
            <p:cNvSpPr/>
            <p:nvPr/>
          </p:nvSpPr>
          <p:spPr>
            <a:xfrm>
              <a:off x="9301163" y="3214684"/>
              <a:ext cx="1204800" cy="8430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pt-BR" sz="2800" u="none" cap="none" strike="noStrike">
                  <a:solidFill>
                    <a:schemeClr val="lt1"/>
                  </a:solidFill>
                  <a:latin typeface="Arial"/>
                  <a:ea typeface="Arial"/>
                  <a:cs typeface="Arial"/>
                  <a:sym typeface="Arial"/>
                </a:rPr>
                <a:t>lógico</a:t>
              </a:r>
              <a:endParaRPr b="0" i="0" sz="1400" u="none" cap="none" strike="noStrike">
                <a:solidFill>
                  <a:srgbClr val="000000"/>
                </a:solidFill>
                <a:latin typeface="Arial"/>
                <a:ea typeface="Arial"/>
                <a:cs typeface="Arial"/>
                <a:sym typeface="Arial"/>
              </a:endParaRPr>
            </a:p>
          </p:txBody>
        </p:sp>
        <p:cxnSp>
          <p:nvCxnSpPr>
            <p:cNvPr id="215" name="Google Shape;215;g1261e3f943e_0_85"/>
            <p:cNvCxnSpPr>
              <a:stCxn id="214" idx="1"/>
            </p:cNvCxnSpPr>
            <p:nvPr/>
          </p:nvCxnSpPr>
          <p:spPr>
            <a:xfrm rot="10800000">
              <a:off x="8658263" y="2838484"/>
              <a:ext cx="642900" cy="797700"/>
            </a:xfrm>
            <a:prstGeom prst="bentConnector2">
              <a:avLst/>
            </a:prstGeom>
            <a:noFill/>
            <a:ln cap="flat" cmpd="sng" w="38100">
              <a:solidFill>
                <a:srgbClr val="3E6EC2"/>
              </a:solidFill>
              <a:prstDash val="solid"/>
              <a:round/>
              <a:headEnd len="sm" w="sm" type="none"/>
              <a:tailEnd len="sm" w="sm" type="none"/>
            </a:ln>
          </p:spPr>
        </p:cxnSp>
        <p:cxnSp>
          <p:nvCxnSpPr>
            <p:cNvPr id="216" name="Google Shape;216;g1261e3f943e_0_85"/>
            <p:cNvCxnSpPr>
              <a:stCxn id="202" idx="1"/>
              <a:endCxn id="203" idx="0"/>
            </p:cNvCxnSpPr>
            <p:nvPr/>
          </p:nvCxnSpPr>
          <p:spPr>
            <a:xfrm flipH="1">
              <a:off x="2727534" y="1250175"/>
              <a:ext cx="2005200" cy="745200"/>
            </a:xfrm>
            <a:prstGeom prst="bentConnector2">
              <a:avLst/>
            </a:prstGeom>
            <a:noFill/>
            <a:ln cap="flat" cmpd="sng" w="38100">
              <a:solidFill>
                <a:srgbClr val="3E6EC2"/>
              </a:solidFill>
              <a:prstDash val="solid"/>
              <a:round/>
              <a:headEnd len="sm" w="sm" type="none"/>
              <a:tailEnd len="sm" w="sm" type="none"/>
            </a:ln>
          </p:spPr>
        </p:cxnSp>
        <p:cxnSp>
          <p:nvCxnSpPr>
            <p:cNvPr id="217" name="Google Shape;217;g1261e3f943e_0_85"/>
            <p:cNvCxnSpPr>
              <a:stCxn id="202" idx="2"/>
              <a:endCxn id="204" idx="0"/>
            </p:cNvCxnSpPr>
            <p:nvPr/>
          </p:nvCxnSpPr>
          <p:spPr>
            <a:xfrm>
              <a:off x="5981634" y="1671675"/>
              <a:ext cx="10800" cy="323700"/>
            </a:xfrm>
            <a:prstGeom prst="straightConnector1">
              <a:avLst/>
            </a:prstGeom>
            <a:noFill/>
            <a:ln cap="flat" cmpd="sng" w="38100">
              <a:solidFill>
                <a:srgbClr val="3E6EC2"/>
              </a:solidFill>
              <a:prstDash val="solid"/>
              <a:round/>
              <a:headEnd len="sm" w="sm" type="none"/>
              <a:tailEnd len="sm" w="sm" type="none"/>
            </a:ln>
          </p:spPr>
        </p:cxnSp>
        <p:cxnSp>
          <p:nvCxnSpPr>
            <p:cNvPr id="218" name="Google Shape;218;g1261e3f943e_0_85"/>
            <p:cNvCxnSpPr>
              <a:stCxn id="202" idx="3"/>
              <a:endCxn id="205" idx="0"/>
            </p:cNvCxnSpPr>
            <p:nvPr/>
          </p:nvCxnSpPr>
          <p:spPr>
            <a:xfrm>
              <a:off x="7230534" y="1250175"/>
              <a:ext cx="2026500" cy="745200"/>
            </a:xfrm>
            <a:prstGeom prst="bentConnector2">
              <a:avLst/>
            </a:prstGeom>
            <a:noFill/>
            <a:ln cap="flat" cmpd="sng" w="38100">
              <a:solidFill>
                <a:srgbClr val="3E6EC2"/>
              </a:solidFill>
              <a:prstDash val="solid"/>
              <a:round/>
              <a:headEnd len="sm" w="sm" type="none"/>
              <a:tailEnd len="sm" w="sm" type="none"/>
            </a:ln>
          </p:spPr>
        </p:cxnSp>
      </p:gr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g1261e3f943e_0_174"/>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Variáveis e Constantes.</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g1261e3f943e_0_178"/>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Variáveis</a:t>
            </a:r>
            <a:endParaRPr/>
          </a:p>
        </p:txBody>
      </p:sp>
      <p:sp>
        <p:nvSpPr>
          <p:cNvPr id="229" name="Google Shape;229;g1261e3f943e_0_1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pt-BR"/>
              <a:t>	Espaço na memória capaz de Armazenar um tipo de informação (dado);</a:t>
            </a:r>
            <a:endParaRPr/>
          </a:p>
        </p:txBody>
      </p:sp>
      <p:pic>
        <p:nvPicPr>
          <p:cNvPr id="230" name="Google Shape;230;g1261e3f943e_0_178"/>
          <p:cNvPicPr preferRelativeResize="0"/>
          <p:nvPr/>
        </p:nvPicPr>
        <p:blipFill rotWithShape="1">
          <a:blip r:embed="rId4">
            <a:alphaModFix/>
          </a:blip>
          <a:srcRect b="0" l="0" r="0" t="0"/>
          <a:stretch/>
        </p:blipFill>
        <p:spPr>
          <a:xfrm>
            <a:off x="4410813" y="2577217"/>
            <a:ext cx="3370375" cy="3280658"/>
          </a:xfrm>
          <a:prstGeom prst="rect">
            <a:avLst/>
          </a:prstGeom>
          <a:noFill/>
          <a:ln>
            <a:noFill/>
          </a:ln>
        </p:spPr>
      </p:pic>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g1261e3f943e_0_184"/>
          <p:cNvSpPr txBox="1"/>
          <p:nvPr>
            <p:ph idx="1" type="body"/>
          </p:nvPr>
        </p:nvSpPr>
        <p:spPr>
          <a:xfrm>
            <a:off x="838200" y="1880200"/>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pt-BR"/>
              <a:t>Uma variável é declarada da seguinte forma;</a:t>
            </a:r>
            <a:endParaRPr/>
          </a:p>
        </p:txBody>
      </p:sp>
      <p:sp>
        <p:nvSpPr>
          <p:cNvPr id="236" name="Google Shape;236;g1261e3f943e_0_184"/>
          <p:cNvSpPr/>
          <p:nvPr/>
        </p:nvSpPr>
        <p:spPr>
          <a:xfrm>
            <a:off x="838199" y="4770411"/>
            <a:ext cx="28860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Tipo(Qual forma de dado será armazenada)</a:t>
            </a:r>
            <a:endParaRPr b="0" i="0" sz="1400" u="none" cap="none" strike="noStrike">
              <a:solidFill>
                <a:srgbClr val="000000"/>
              </a:solidFill>
              <a:latin typeface="Arial"/>
              <a:ea typeface="Arial"/>
              <a:cs typeface="Arial"/>
              <a:sym typeface="Arial"/>
            </a:endParaRPr>
          </a:p>
        </p:txBody>
      </p:sp>
      <p:sp>
        <p:nvSpPr>
          <p:cNvPr id="237" name="Google Shape;237;g1261e3f943e_0_184"/>
          <p:cNvSpPr/>
          <p:nvPr/>
        </p:nvSpPr>
        <p:spPr>
          <a:xfrm>
            <a:off x="4652962" y="4770411"/>
            <a:ext cx="28860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Nome (Identificador. Deve ser um nome único);</a:t>
            </a:r>
            <a:endParaRPr b="0" i="0" sz="1400" u="none" cap="none" strike="noStrike">
              <a:solidFill>
                <a:srgbClr val="000000"/>
              </a:solidFill>
              <a:latin typeface="Arial"/>
              <a:ea typeface="Arial"/>
              <a:cs typeface="Arial"/>
              <a:sym typeface="Arial"/>
            </a:endParaRPr>
          </a:p>
        </p:txBody>
      </p:sp>
      <p:sp>
        <p:nvSpPr>
          <p:cNvPr id="238" name="Google Shape;238;g1261e3f943e_0_184"/>
          <p:cNvSpPr/>
          <p:nvPr/>
        </p:nvSpPr>
        <p:spPr>
          <a:xfrm>
            <a:off x="8467725" y="4770411"/>
            <a:ext cx="28860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Dado a ser armazenado inicialmente </a:t>
            </a:r>
            <a:endParaRPr b="0" i="0" sz="1400" u="none" cap="none" strike="noStrike">
              <a:solidFill>
                <a:srgbClr val="000000"/>
              </a:solidFill>
              <a:latin typeface="Arial"/>
              <a:ea typeface="Arial"/>
              <a:cs typeface="Arial"/>
              <a:sym typeface="Arial"/>
            </a:endParaRPr>
          </a:p>
        </p:txBody>
      </p:sp>
      <p:cxnSp>
        <p:nvCxnSpPr>
          <p:cNvPr id="239" name="Google Shape;239;g1261e3f943e_0_184"/>
          <p:cNvCxnSpPr>
            <a:stCxn id="236" idx="0"/>
          </p:cNvCxnSpPr>
          <p:nvPr/>
        </p:nvCxnSpPr>
        <p:spPr>
          <a:xfrm flipH="1" rot="10800000">
            <a:off x="2281199" y="3614811"/>
            <a:ext cx="1276500" cy="1155600"/>
          </a:xfrm>
          <a:prstGeom prst="straightConnector1">
            <a:avLst/>
          </a:prstGeom>
          <a:noFill/>
          <a:ln cap="flat" cmpd="sng" w="57150">
            <a:solidFill>
              <a:srgbClr val="3E6EC2"/>
            </a:solidFill>
            <a:prstDash val="solid"/>
            <a:round/>
            <a:headEnd len="sm" w="sm" type="none"/>
            <a:tailEnd len="med" w="med" type="triangle"/>
          </a:ln>
        </p:spPr>
      </p:cxnSp>
      <p:cxnSp>
        <p:nvCxnSpPr>
          <p:cNvPr id="240" name="Google Shape;240;g1261e3f943e_0_184"/>
          <p:cNvCxnSpPr>
            <a:stCxn id="237" idx="0"/>
          </p:cNvCxnSpPr>
          <p:nvPr/>
        </p:nvCxnSpPr>
        <p:spPr>
          <a:xfrm rot="10800000">
            <a:off x="6078862" y="3614811"/>
            <a:ext cx="17100" cy="1155600"/>
          </a:xfrm>
          <a:prstGeom prst="straightConnector1">
            <a:avLst/>
          </a:prstGeom>
          <a:noFill/>
          <a:ln cap="flat" cmpd="sng" w="57150">
            <a:solidFill>
              <a:srgbClr val="3E6EC2"/>
            </a:solidFill>
            <a:prstDash val="solid"/>
            <a:round/>
            <a:headEnd len="sm" w="sm" type="none"/>
            <a:tailEnd len="med" w="med" type="triangle"/>
          </a:ln>
        </p:spPr>
      </p:cxnSp>
      <p:cxnSp>
        <p:nvCxnSpPr>
          <p:cNvPr id="241" name="Google Shape;241;g1261e3f943e_0_184"/>
          <p:cNvCxnSpPr>
            <a:stCxn id="238" idx="0"/>
          </p:cNvCxnSpPr>
          <p:nvPr/>
        </p:nvCxnSpPr>
        <p:spPr>
          <a:xfrm rot="10800000">
            <a:off x="8786325" y="3492711"/>
            <a:ext cx="1124400" cy="1277700"/>
          </a:xfrm>
          <a:prstGeom prst="straightConnector1">
            <a:avLst/>
          </a:prstGeom>
          <a:noFill/>
          <a:ln cap="flat" cmpd="sng" w="57150">
            <a:solidFill>
              <a:srgbClr val="3E6EC2"/>
            </a:solidFill>
            <a:prstDash val="solid"/>
            <a:round/>
            <a:headEnd len="sm" w="sm" type="none"/>
            <a:tailEnd len="med" w="med" type="triangle"/>
          </a:ln>
        </p:spPr>
      </p:cxnSp>
      <p:sp>
        <p:nvSpPr>
          <p:cNvPr id="242" name="Google Shape;242;g1261e3f943e_0_184"/>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Declarando uma Variável</a:t>
            </a:r>
            <a:endParaRPr/>
          </a:p>
        </p:txBody>
      </p:sp>
      <p:pic>
        <p:nvPicPr>
          <p:cNvPr id="243" name="Google Shape;243;g1261e3f943e_0_184"/>
          <p:cNvPicPr preferRelativeResize="0"/>
          <p:nvPr/>
        </p:nvPicPr>
        <p:blipFill rotWithShape="1">
          <a:blip r:embed="rId4">
            <a:alphaModFix/>
          </a:blip>
          <a:srcRect b="0" l="0" r="0" t="0"/>
          <a:stretch/>
        </p:blipFill>
        <p:spPr>
          <a:xfrm>
            <a:off x="3008400" y="2474000"/>
            <a:ext cx="5732425" cy="1039000"/>
          </a:xfrm>
          <a:prstGeom prst="rect">
            <a:avLst/>
          </a:prstGeom>
          <a:noFill/>
          <a:ln>
            <a:noFill/>
          </a:ln>
        </p:spPr>
      </p:pic>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id="248" name="Google Shape;248;g1261e3f943e_0_196"/>
          <p:cNvSpPr txBox="1"/>
          <p:nvPr>
            <p:ph idx="1" type="body"/>
          </p:nvPr>
        </p:nvSpPr>
        <p:spPr>
          <a:xfrm>
            <a:off x="838200" y="1825625"/>
            <a:ext cx="10515600" cy="5763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pt-BR"/>
              <a:t>Uma variável é declarada da seguinte forma;</a:t>
            </a:r>
            <a:endParaRPr/>
          </a:p>
        </p:txBody>
      </p:sp>
      <p:sp>
        <p:nvSpPr>
          <p:cNvPr id="249" name="Google Shape;249;g1261e3f943e_0_196"/>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Declarando uma Constante</a:t>
            </a:r>
            <a:endParaRPr/>
          </a:p>
        </p:txBody>
      </p:sp>
      <p:sp>
        <p:nvSpPr>
          <p:cNvPr id="250" name="Google Shape;250;g1261e3f943e_0_196"/>
          <p:cNvSpPr/>
          <p:nvPr/>
        </p:nvSpPr>
        <p:spPr>
          <a:xfrm>
            <a:off x="1565824" y="4679436"/>
            <a:ext cx="28860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Tipo(Qual forma de dado será armazenada)</a:t>
            </a:r>
            <a:endParaRPr b="0" i="0" sz="1400" u="none" cap="none" strike="noStrike">
              <a:solidFill>
                <a:srgbClr val="000000"/>
              </a:solidFill>
              <a:latin typeface="Arial"/>
              <a:ea typeface="Arial"/>
              <a:cs typeface="Arial"/>
              <a:sym typeface="Arial"/>
            </a:endParaRPr>
          </a:p>
        </p:txBody>
      </p:sp>
      <p:sp>
        <p:nvSpPr>
          <p:cNvPr id="251" name="Google Shape;251;g1261e3f943e_0_196"/>
          <p:cNvSpPr/>
          <p:nvPr/>
        </p:nvSpPr>
        <p:spPr>
          <a:xfrm>
            <a:off x="4980387" y="4770411"/>
            <a:ext cx="28860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Nome (Identificador. Deve ser um nome único);</a:t>
            </a:r>
            <a:endParaRPr b="0" i="0" sz="1400" u="none" cap="none" strike="noStrike">
              <a:solidFill>
                <a:srgbClr val="000000"/>
              </a:solidFill>
              <a:latin typeface="Arial"/>
              <a:ea typeface="Arial"/>
              <a:cs typeface="Arial"/>
              <a:sym typeface="Arial"/>
            </a:endParaRPr>
          </a:p>
        </p:txBody>
      </p:sp>
      <p:sp>
        <p:nvSpPr>
          <p:cNvPr id="252" name="Google Shape;252;g1261e3f943e_0_196"/>
          <p:cNvSpPr/>
          <p:nvPr/>
        </p:nvSpPr>
        <p:spPr>
          <a:xfrm>
            <a:off x="8467725" y="4770411"/>
            <a:ext cx="28860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Dado a ser armazenado inicialmente </a:t>
            </a:r>
            <a:endParaRPr b="0" i="0" sz="1400" u="none" cap="none" strike="noStrike">
              <a:solidFill>
                <a:srgbClr val="000000"/>
              </a:solidFill>
              <a:latin typeface="Arial"/>
              <a:ea typeface="Arial"/>
              <a:cs typeface="Arial"/>
              <a:sym typeface="Arial"/>
            </a:endParaRPr>
          </a:p>
        </p:txBody>
      </p:sp>
      <p:cxnSp>
        <p:nvCxnSpPr>
          <p:cNvPr id="253" name="Google Shape;253;g1261e3f943e_0_196"/>
          <p:cNvCxnSpPr>
            <a:stCxn id="252" idx="0"/>
          </p:cNvCxnSpPr>
          <p:nvPr/>
        </p:nvCxnSpPr>
        <p:spPr>
          <a:xfrm flipH="1" rot="10800000">
            <a:off x="9910725" y="3365211"/>
            <a:ext cx="421800" cy="1405200"/>
          </a:xfrm>
          <a:prstGeom prst="straightConnector1">
            <a:avLst/>
          </a:prstGeom>
          <a:noFill/>
          <a:ln cap="flat" cmpd="sng" w="57150">
            <a:solidFill>
              <a:srgbClr val="3E6EC2"/>
            </a:solidFill>
            <a:prstDash val="solid"/>
            <a:round/>
            <a:headEnd len="sm" w="sm" type="none"/>
            <a:tailEnd len="med" w="med" type="triangle"/>
          </a:ln>
        </p:spPr>
      </p:cxnSp>
      <p:sp>
        <p:nvSpPr>
          <p:cNvPr id="254" name="Google Shape;254;g1261e3f943e_0_196"/>
          <p:cNvSpPr/>
          <p:nvPr/>
        </p:nvSpPr>
        <p:spPr>
          <a:xfrm>
            <a:off x="340146" y="3328894"/>
            <a:ext cx="1684200" cy="914400"/>
          </a:xfrm>
          <a:prstGeom prst="rect">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Arial"/>
                <a:ea typeface="Arial"/>
                <a:cs typeface="Arial"/>
                <a:sym typeface="Arial"/>
              </a:rPr>
              <a:t>Termo da constante</a:t>
            </a:r>
            <a:endParaRPr b="0" i="0" sz="1400" u="none" cap="none" strike="noStrike">
              <a:solidFill>
                <a:schemeClr val="lt1"/>
              </a:solidFill>
              <a:latin typeface="Arial"/>
              <a:ea typeface="Arial"/>
              <a:cs typeface="Arial"/>
              <a:sym typeface="Arial"/>
            </a:endParaRPr>
          </a:p>
        </p:txBody>
      </p:sp>
      <p:pic>
        <p:nvPicPr>
          <p:cNvPr id="255" name="Google Shape;255;g1261e3f943e_0_196"/>
          <p:cNvPicPr preferRelativeResize="0"/>
          <p:nvPr/>
        </p:nvPicPr>
        <p:blipFill rotWithShape="1">
          <a:blip r:embed="rId4">
            <a:alphaModFix/>
          </a:blip>
          <a:srcRect b="0" l="0" r="0" t="0"/>
          <a:stretch/>
        </p:blipFill>
        <p:spPr>
          <a:xfrm>
            <a:off x="1844563" y="2401913"/>
            <a:ext cx="8933375" cy="1141487"/>
          </a:xfrm>
          <a:prstGeom prst="rect">
            <a:avLst/>
          </a:prstGeom>
          <a:noFill/>
          <a:ln>
            <a:noFill/>
          </a:ln>
        </p:spPr>
      </p:pic>
      <p:cxnSp>
        <p:nvCxnSpPr>
          <p:cNvPr id="256" name="Google Shape;256;g1261e3f943e_0_196"/>
          <p:cNvCxnSpPr>
            <a:stCxn id="254" idx="3"/>
          </p:cNvCxnSpPr>
          <p:nvPr/>
        </p:nvCxnSpPr>
        <p:spPr>
          <a:xfrm flipH="1" rot="10800000">
            <a:off x="2024346" y="3328894"/>
            <a:ext cx="831600" cy="457200"/>
          </a:xfrm>
          <a:prstGeom prst="straightConnector1">
            <a:avLst/>
          </a:prstGeom>
          <a:noFill/>
          <a:ln cap="flat" cmpd="sng" w="57150">
            <a:solidFill>
              <a:srgbClr val="3E6EC2"/>
            </a:solidFill>
            <a:prstDash val="solid"/>
            <a:round/>
            <a:headEnd len="sm" w="sm" type="none"/>
            <a:tailEnd len="med" w="med" type="triangle"/>
          </a:ln>
        </p:spPr>
      </p:cxnSp>
      <p:cxnSp>
        <p:nvCxnSpPr>
          <p:cNvPr id="257" name="Google Shape;257;g1261e3f943e_0_196"/>
          <p:cNvCxnSpPr>
            <a:stCxn id="250" idx="0"/>
          </p:cNvCxnSpPr>
          <p:nvPr/>
        </p:nvCxnSpPr>
        <p:spPr>
          <a:xfrm flipH="1" rot="10800000">
            <a:off x="3008824" y="3365436"/>
            <a:ext cx="2103000" cy="1314000"/>
          </a:xfrm>
          <a:prstGeom prst="straightConnector1">
            <a:avLst/>
          </a:prstGeom>
          <a:noFill/>
          <a:ln cap="flat" cmpd="sng" w="57150">
            <a:solidFill>
              <a:srgbClr val="3E6EC2"/>
            </a:solidFill>
            <a:prstDash val="solid"/>
            <a:round/>
            <a:headEnd len="sm" w="sm" type="none"/>
            <a:tailEnd len="med" w="med" type="triangle"/>
          </a:ln>
        </p:spPr>
      </p:cxnSp>
      <p:cxnSp>
        <p:nvCxnSpPr>
          <p:cNvPr id="258" name="Google Shape;258;g1261e3f943e_0_196"/>
          <p:cNvCxnSpPr>
            <a:stCxn id="251" idx="0"/>
          </p:cNvCxnSpPr>
          <p:nvPr/>
        </p:nvCxnSpPr>
        <p:spPr>
          <a:xfrm flipH="1" rot="10800000">
            <a:off x="6423387" y="3347211"/>
            <a:ext cx="1089600" cy="1423200"/>
          </a:xfrm>
          <a:prstGeom prst="straightConnector1">
            <a:avLst/>
          </a:prstGeom>
          <a:noFill/>
          <a:ln cap="flat" cmpd="sng" w="57150">
            <a:solidFill>
              <a:srgbClr val="3E6EC2"/>
            </a:solidFill>
            <a:prstDash val="solid"/>
            <a:round/>
            <a:headEnd len="sm" w="sm" type="none"/>
            <a:tailEnd len="med" w="med" type="triangle"/>
          </a:ln>
        </p:spPr>
      </p:cxn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62" name="Shape 262"/>
        <p:cNvGrpSpPr/>
        <p:nvPr/>
      </p:nvGrpSpPr>
      <p:grpSpPr>
        <a:xfrm>
          <a:off x="0" y="0"/>
          <a:ext cx="0" cy="0"/>
          <a:chOff x="0" y="0"/>
          <a:chExt cx="0" cy="0"/>
        </a:xfrm>
      </p:grpSpPr>
      <p:sp>
        <p:nvSpPr>
          <p:cNvPr id="263" name="Google Shape;263;g1261e3f943e_0_210"/>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Exemplos de Declaração de Variáveis </a:t>
            </a:r>
            <a:endParaRPr/>
          </a:p>
        </p:txBody>
      </p:sp>
      <p:pic>
        <p:nvPicPr>
          <p:cNvPr id="264" name="Google Shape;264;g1261e3f943e_0_210"/>
          <p:cNvPicPr preferRelativeResize="0"/>
          <p:nvPr/>
        </p:nvPicPr>
        <p:blipFill rotWithShape="1">
          <a:blip r:embed="rId4">
            <a:alphaModFix/>
          </a:blip>
          <a:srcRect b="0" l="0" r="0" t="0"/>
          <a:stretch/>
        </p:blipFill>
        <p:spPr>
          <a:xfrm>
            <a:off x="2087100" y="1964998"/>
            <a:ext cx="8017800" cy="3310400"/>
          </a:xfrm>
          <a:prstGeom prst="rect">
            <a:avLst/>
          </a:prstGeom>
          <a:noFill/>
          <a:ln>
            <a:noFill/>
          </a:ln>
        </p:spPr>
      </p:pic>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68" name="Shape 268"/>
        <p:cNvGrpSpPr/>
        <p:nvPr/>
      </p:nvGrpSpPr>
      <p:grpSpPr>
        <a:xfrm>
          <a:off x="0" y="0"/>
          <a:ext cx="0" cy="0"/>
          <a:chOff x="0" y="0"/>
          <a:chExt cx="0" cy="0"/>
        </a:xfrm>
      </p:grpSpPr>
      <p:sp>
        <p:nvSpPr>
          <p:cNvPr id="269" name="Google Shape;269;g1261e3f943e_0_215"/>
          <p:cNvSpPr txBox="1"/>
          <p:nvPr>
            <p:ph type="title"/>
          </p:nvPr>
        </p:nvSpPr>
        <p:spPr>
          <a:xfrm>
            <a:off x="838200" y="17801"/>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Símbolos Utilizados</a:t>
            </a:r>
            <a:endParaRPr b="1">
              <a:solidFill>
                <a:srgbClr val="1F3864"/>
              </a:solidFill>
              <a:latin typeface="Arial"/>
              <a:ea typeface="Arial"/>
              <a:cs typeface="Arial"/>
              <a:sym typeface="Arial"/>
            </a:endParaRPr>
          </a:p>
        </p:txBody>
      </p:sp>
      <p:graphicFrame>
        <p:nvGraphicFramePr>
          <p:cNvPr id="270" name="Google Shape;270;g1261e3f943e_0_215"/>
          <p:cNvGraphicFramePr/>
          <p:nvPr/>
        </p:nvGraphicFramePr>
        <p:xfrm>
          <a:off x="595313" y="1234440"/>
          <a:ext cx="3000000" cy="3000000"/>
        </p:xfrm>
        <a:graphic>
          <a:graphicData uri="http://schemas.openxmlformats.org/drawingml/2006/table">
            <a:tbl>
              <a:tblPr bandRow="1" firstRow="1">
                <a:noFill/>
                <a:tableStyleId>{F9F39181-5E57-4B2B-97EB-2FA1AD30C05B}</a:tableStyleId>
              </a:tblPr>
              <a:tblGrid>
                <a:gridCol w="2396125"/>
                <a:gridCol w="8605250"/>
              </a:tblGrid>
              <a:tr h="515925">
                <a:tc>
                  <a:txBody>
                    <a:bodyPr/>
                    <a:lstStyle/>
                    <a:p>
                      <a:pPr indent="0" lvl="0" marL="0" marR="0" rtl="0" algn="ctr">
                        <a:lnSpc>
                          <a:spcPct val="100000"/>
                        </a:lnSpc>
                        <a:spcBef>
                          <a:spcPts val="0"/>
                        </a:spcBef>
                        <a:spcAft>
                          <a:spcPts val="0"/>
                        </a:spcAft>
                        <a:buClr>
                          <a:srgbClr val="000000"/>
                        </a:buClr>
                        <a:buSzPts val="3200"/>
                        <a:buFont typeface="Arial"/>
                        <a:buNone/>
                      </a:pPr>
                      <a:r>
                        <a:rPr lang="pt-BR" sz="3200" u="none" cap="none" strike="noStrike"/>
                        <a:t>Símbolos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3200"/>
                        <a:buFont typeface="Arial"/>
                        <a:buNone/>
                      </a:pPr>
                      <a:r>
                        <a:rPr lang="pt-BR" sz="3200" u="none" cap="none" strike="noStrike"/>
                        <a:t>Descrição</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 )</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É utilizado para colocar os parâmetros de um função</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 }</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Indica as ações dentro de um função</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Entre palavras, aciona variáveis ou função de uma classe. Entre números, representa uma vírgula. </a:t>
                      </a:r>
                      <a:endParaRPr sz="1400" u="none" cap="none" strike="noStrike"/>
                    </a:p>
                  </a:txBody>
                  <a:tcPr marT="45725" marB="45725" marR="91450" marL="91450" anchor="ctr"/>
                </a:tc>
              </a:tr>
            </a:tbl>
          </a:graphicData>
        </a:graphic>
      </p:graphicFrame>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74" name="Shape 274"/>
        <p:cNvGrpSpPr/>
        <p:nvPr/>
      </p:nvGrpSpPr>
      <p:grpSpPr>
        <a:xfrm>
          <a:off x="0" y="0"/>
          <a:ext cx="0" cy="0"/>
          <a:chOff x="0" y="0"/>
          <a:chExt cx="0" cy="0"/>
        </a:xfrm>
      </p:grpSpPr>
      <p:sp>
        <p:nvSpPr>
          <p:cNvPr id="275" name="Google Shape;275;g1261e3f943e_0_220"/>
          <p:cNvSpPr txBox="1"/>
          <p:nvPr>
            <p:ph type="title"/>
          </p:nvPr>
        </p:nvSpPr>
        <p:spPr>
          <a:xfrm>
            <a:off x="838200" y="17801"/>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Símbolos Utilizados</a:t>
            </a:r>
            <a:endParaRPr b="1">
              <a:solidFill>
                <a:srgbClr val="1F3864"/>
              </a:solidFill>
              <a:latin typeface="Arial"/>
              <a:ea typeface="Arial"/>
              <a:cs typeface="Arial"/>
              <a:sym typeface="Arial"/>
            </a:endParaRPr>
          </a:p>
        </p:txBody>
      </p:sp>
      <p:graphicFrame>
        <p:nvGraphicFramePr>
          <p:cNvPr id="276" name="Google Shape;276;g1261e3f943e_0_220"/>
          <p:cNvGraphicFramePr/>
          <p:nvPr/>
        </p:nvGraphicFramePr>
        <p:xfrm>
          <a:off x="1323975" y="1386840"/>
          <a:ext cx="3000000" cy="3000000"/>
        </p:xfrm>
        <a:graphic>
          <a:graphicData uri="http://schemas.openxmlformats.org/drawingml/2006/table">
            <a:tbl>
              <a:tblPr bandRow="1" firstRow="1">
                <a:noFill/>
                <a:tableStyleId>{F9F39181-5E57-4B2B-97EB-2FA1AD30C05B}</a:tableStyleId>
              </a:tblPr>
              <a:tblGrid>
                <a:gridCol w="2078700"/>
                <a:gridCol w="7465350"/>
              </a:tblGrid>
              <a:tr h="515925">
                <a:tc>
                  <a:txBody>
                    <a:bodyPr/>
                    <a:lstStyle/>
                    <a:p>
                      <a:pPr indent="0" lvl="0" marL="0" marR="0" rtl="0" algn="ctr">
                        <a:lnSpc>
                          <a:spcPct val="100000"/>
                        </a:lnSpc>
                        <a:spcBef>
                          <a:spcPts val="0"/>
                        </a:spcBef>
                        <a:spcAft>
                          <a:spcPts val="0"/>
                        </a:spcAft>
                        <a:buClr>
                          <a:srgbClr val="000000"/>
                        </a:buClr>
                        <a:buSzPts val="3200"/>
                        <a:buFont typeface="Arial"/>
                        <a:buNone/>
                      </a:pPr>
                      <a:r>
                        <a:rPr lang="pt-BR" sz="3200" u="none" cap="none" strike="noStrike"/>
                        <a:t>Símbolos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3200"/>
                        <a:buFont typeface="Arial"/>
                        <a:buNone/>
                      </a:pPr>
                      <a:r>
                        <a:rPr lang="pt-BR" sz="3200" u="none" cap="none" strike="noStrike"/>
                        <a:t>Descrição</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Representa uma cadeia</a:t>
                      </a:r>
                      <a:endParaRPr sz="28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Representa um caracter</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Comenta toda uma linha</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 */</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Comenta todo um bloco</a:t>
                      </a:r>
                      <a:endParaRPr sz="1400" u="none" cap="none" strike="noStrike"/>
                    </a:p>
                  </a:txBody>
                  <a:tcPr marT="45725" marB="45725" marR="91450" marL="91450" anchor="ctr"/>
                </a:tc>
              </a:tr>
              <a:tr h="529300">
                <a:tc>
                  <a:txBody>
                    <a:bodyPr/>
                    <a:lstStyle/>
                    <a:p>
                      <a:pPr indent="0" lvl="0" marL="0" marR="0" rtl="0" algn="ctr">
                        <a:lnSpc>
                          <a:spcPct val="100000"/>
                        </a:lnSpc>
                        <a:spcBef>
                          <a:spcPts val="0"/>
                        </a:spcBef>
                        <a:spcAft>
                          <a:spcPts val="0"/>
                        </a:spcAft>
                        <a:buClr>
                          <a:srgbClr val="000000"/>
                        </a:buClr>
                        <a:buSzPts val="3600"/>
                        <a:buFont typeface="Arial"/>
                        <a:buNone/>
                      </a:pPr>
                      <a:r>
                        <a:rPr lang="pt-BR" sz="3600" u="none" cap="none" strike="noStrike"/>
                        <a:t>\n</a:t>
                      </a:r>
                      <a:endParaRPr sz="36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800"/>
                        <a:buFont typeface="Arial"/>
                        <a:buNone/>
                      </a:pPr>
                      <a:r>
                        <a:rPr lang="pt-BR" sz="2800" u="none" cap="none" strike="noStrike"/>
                        <a:t>Quebra de linha em uma cadeia</a:t>
                      </a:r>
                      <a:endParaRPr sz="2800" u="none" cap="none" strike="noStrike"/>
                    </a:p>
                  </a:txBody>
                  <a:tcPr marT="45725" marB="45725" marR="91450" marL="91450" anchor="ctr"/>
                </a:tc>
              </a:tr>
            </a:tbl>
          </a:graphicData>
        </a:graphic>
      </p:graphicFrame>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80" name="Shape 280"/>
        <p:cNvGrpSpPr/>
        <p:nvPr/>
      </p:nvGrpSpPr>
      <p:grpSpPr>
        <a:xfrm>
          <a:off x="0" y="0"/>
          <a:ext cx="0" cy="0"/>
          <a:chOff x="0" y="0"/>
          <a:chExt cx="0" cy="0"/>
        </a:xfrm>
      </p:grpSpPr>
      <p:sp>
        <p:nvSpPr>
          <p:cNvPr id="281" name="Google Shape;281;g1261e3f943e_0_293"/>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Entrada e Saída.</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g1261e3f943e_0_297"/>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lang="pt-BR"/>
              <a:t>	Entrada/saída é um termo utilizado quase que exclusivamente no ramo da computação (ou informática), indicando entrada (inserção) de dados por meio de algum código ou programa, para algum outro programa ou hardware, bem como a sua saída (obtenção de dados) ou retorno de dados, como resultado de alguma operação de algum programa, consequentemente resultado de alguma entrada.</a:t>
            </a:r>
            <a:endParaRPr/>
          </a:p>
        </p:txBody>
      </p:sp>
      <p:sp>
        <p:nvSpPr>
          <p:cNvPr id="287" name="Google Shape;287;g1261e3f943e_0_29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Entrada e </a:t>
            </a:r>
            <a:r>
              <a:rPr b="1" lang="pt-BR">
                <a:solidFill>
                  <a:schemeClr val="dk1"/>
                </a:solidFill>
                <a:latin typeface="Arial"/>
                <a:ea typeface="Arial"/>
                <a:cs typeface="Arial"/>
                <a:sym typeface="Arial"/>
              </a:rPr>
              <a:t>Saída de dados</a:t>
            </a:r>
            <a:endParaRPr/>
          </a:p>
        </p:txBody>
      </p:sp>
      <p:pic>
        <p:nvPicPr>
          <p:cNvPr id="288" name="Google Shape;288;g1261e3f943e_0_297"/>
          <p:cNvPicPr preferRelativeResize="0"/>
          <p:nvPr/>
        </p:nvPicPr>
        <p:blipFill rotWithShape="1">
          <a:blip r:embed="rId4">
            <a:alphaModFix/>
          </a:blip>
          <a:srcRect b="0" l="0" r="0" t="0"/>
          <a:stretch/>
        </p:blipFill>
        <p:spPr>
          <a:xfrm>
            <a:off x="8271400" y="2052550"/>
            <a:ext cx="3423475" cy="3423475"/>
          </a:xfrm>
          <a:prstGeom prst="rect">
            <a:avLst/>
          </a:prstGeom>
          <a:noFill/>
          <a:ln>
            <a:noFill/>
          </a:ln>
        </p:spPr>
      </p:pic>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92" name="Shape 292"/>
        <p:cNvGrpSpPr/>
        <p:nvPr/>
      </p:nvGrpSpPr>
      <p:grpSpPr>
        <a:xfrm>
          <a:off x="0" y="0"/>
          <a:ext cx="0" cy="0"/>
          <a:chOff x="0" y="0"/>
          <a:chExt cx="0" cy="0"/>
        </a:xfrm>
      </p:grpSpPr>
      <p:sp>
        <p:nvSpPr>
          <p:cNvPr id="293" name="Google Shape;293;g1261e3f943e_0_303"/>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Autofit/>
          </a:bodyPr>
          <a:lstStyle/>
          <a:p>
            <a:pPr indent="0" lvl="0" marL="114300" rtl="0" algn="just">
              <a:lnSpc>
                <a:spcPct val="90000"/>
              </a:lnSpc>
              <a:spcBef>
                <a:spcPts val="1000"/>
              </a:spcBef>
              <a:spcAft>
                <a:spcPts val="0"/>
              </a:spcAft>
              <a:buSzPts val="1800"/>
              <a:buNone/>
            </a:pPr>
            <a:r>
              <a:rPr lang="pt-BR"/>
              <a:t>	A instrução de entrada de dados possibilita que o algoritmo capture dados provenientes do ambiente externo (fora da máquina) e armazene em variáveis. Assim um algoritmo consegue representar e realizar operações em informações que foram fornecidas por um usuário tais como: nome, idade, salário, sexo, etc. </a:t>
            </a:r>
            <a:endParaRPr/>
          </a:p>
        </p:txBody>
      </p:sp>
      <p:sp>
        <p:nvSpPr>
          <p:cNvPr id="294" name="Google Shape;294;g1261e3f943e_0_30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Entrada </a:t>
            </a:r>
            <a:r>
              <a:rPr b="1" lang="pt-BR">
                <a:solidFill>
                  <a:schemeClr val="dk1"/>
                </a:solidFill>
                <a:latin typeface="Arial"/>
                <a:ea typeface="Arial"/>
                <a:cs typeface="Arial"/>
                <a:sym typeface="Arial"/>
              </a:rPr>
              <a:t>de dados</a:t>
            </a:r>
            <a:endParaRPr/>
          </a:p>
        </p:txBody>
      </p:sp>
      <p:pic>
        <p:nvPicPr>
          <p:cNvPr id="295" name="Google Shape;295;g1261e3f943e_0_303"/>
          <p:cNvPicPr preferRelativeResize="0"/>
          <p:nvPr/>
        </p:nvPicPr>
        <p:blipFill rotWithShape="1">
          <a:blip r:embed="rId4">
            <a:alphaModFix/>
          </a:blip>
          <a:srcRect b="0" l="0" r="0" t="0"/>
          <a:stretch/>
        </p:blipFill>
        <p:spPr>
          <a:xfrm>
            <a:off x="8271400" y="2052550"/>
            <a:ext cx="3423475" cy="3423475"/>
          </a:xfrm>
          <a:prstGeom prst="rect">
            <a:avLst/>
          </a:prstGeom>
          <a:noFill/>
          <a:ln>
            <a:noFill/>
          </a:ln>
        </p:spPr>
      </p:pic>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299" name="Shape 299"/>
        <p:cNvGrpSpPr/>
        <p:nvPr/>
      </p:nvGrpSpPr>
      <p:grpSpPr>
        <a:xfrm>
          <a:off x="0" y="0"/>
          <a:ext cx="0" cy="0"/>
          <a:chOff x="0" y="0"/>
          <a:chExt cx="0" cy="0"/>
        </a:xfrm>
      </p:grpSpPr>
      <p:sp>
        <p:nvSpPr>
          <p:cNvPr id="300" name="Google Shape;300;g1261e3f943e_0_309"/>
          <p:cNvSpPr txBox="1"/>
          <p:nvPr>
            <p:ph idx="1" type="body"/>
          </p:nvPr>
        </p:nvSpPr>
        <p:spPr>
          <a:xfrm>
            <a:off x="591750" y="1579825"/>
            <a:ext cx="7108200" cy="4138200"/>
          </a:xfrm>
          <a:prstGeom prst="rect">
            <a:avLst/>
          </a:prstGeom>
          <a:noFill/>
          <a:ln>
            <a:noFill/>
          </a:ln>
        </p:spPr>
        <p:txBody>
          <a:bodyPr anchorCtr="0" anchor="t" bIns="45700" lIns="91425" spcFirstLastPara="1" rIns="91425" wrap="square" tIns="45700">
            <a:noAutofit/>
          </a:bodyPr>
          <a:lstStyle/>
          <a:p>
            <a:pPr indent="0" lvl="0" marL="114300" rtl="0" algn="just">
              <a:lnSpc>
                <a:spcPct val="90000"/>
              </a:lnSpc>
              <a:spcBef>
                <a:spcPts val="1000"/>
              </a:spcBef>
              <a:spcAft>
                <a:spcPts val="0"/>
              </a:spcAft>
              <a:buSzPts val="1800"/>
              <a:buNone/>
            </a:pPr>
            <a:r>
              <a:rPr lang="pt-BR"/>
              <a:t>	Instrução leia: O Comando leia é utilizado quando se deseja obter informações do teclado do computador, ou seja, é um comando de entrada de dados. Esse comando aguarda um valor a ser digitado e o atribui diretamente na variável.</a:t>
            </a:r>
            <a:endParaRPr/>
          </a:p>
          <a:p>
            <a:pPr indent="0" lvl="0" marL="114300" rtl="0" algn="just">
              <a:lnSpc>
                <a:spcPct val="90000"/>
              </a:lnSpc>
              <a:spcBef>
                <a:spcPts val="1000"/>
              </a:spcBef>
              <a:spcAft>
                <a:spcPts val="0"/>
              </a:spcAft>
              <a:buSzPts val="1800"/>
              <a:buNone/>
            </a:pPr>
            <a:r>
              <a:t/>
            </a:r>
            <a:endParaRPr/>
          </a:p>
          <a:p>
            <a:pPr indent="0" lvl="0" marL="114300" rtl="0" algn="just">
              <a:lnSpc>
                <a:spcPct val="90000"/>
              </a:lnSpc>
              <a:spcBef>
                <a:spcPts val="1000"/>
              </a:spcBef>
              <a:spcAft>
                <a:spcPts val="0"/>
              </a:spcAft>
              <a:buSzPts val="1800"/>
              <a:buNone/>
            </a:pPr>
            <a:r>
              <a:t/>
            </a:r>
            <a:endParaRPr/>
          </a:p>
        </p:txBody>
      </p:sp>
      <p:sp>
        <p:nvSpPr>
          <p:cNvPr id="301" name="Google Shape;301;g1261e3f943e_0_309"/>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Entrada d</a:t>
            </a:r>
            <a:r>
              <a:rPr b="1" lang="pt-BR">
                <a:solidFill>
                  <a:schemeClr val="dk1"/>
                </a:solidFill>
                <a:latin typeface="Arial"/>
                <a:ea typeface="Arial"/>
                <a:cs typeface="Arial"/>
                <a:sym typeface="Arial"/>
              </a:rPr>
              <a:t>e dados</a:t>
            </a:r>
            <a:endParaRPr/>
          </a:p>
        </p:txBody>
      </p:sp>
      <p:pic>
        <p:nvPicPr>
          <p:cNvPr id="302" name="Google Shape;302;g1261e3f943e_0_309"/>
          <p:cNvPicPr preferRelativeResize="0"/>
          <p:nvPr/>
        </p:nvPicPr>
        <p:blipFill rotWithShape="1">
          <a:blip r:embed="rId4">
            <a:alphaModFix/>
          </a:blip>
          <a:srcRect b="0" l="0" r="0" t="0"/>
          <a:stretch/>
        </p:blipFill>
        <p:spPr>
          <a:xfrm>
            <a:off x="8271400" y="2052550"/>
            <a:ext cx="3423475" cy="3423475"/>
          </a:xfrm>
          <a:prstGeom prst="rect">
            <a:avLst/>
          </a:prstGeom>
          <a:noFill/>
          <a:ln>
            <a:noFill/>
          </a:ln>
        </p:spPr>
      </p:pic>
      <p:pic>
        <p:nvPicPr>
          <p:cNvPr id="303" name="Google Shape;303;g1261e3f943e_0_309"/>
          <p:cNvPicPr preferRelativeResize="0"/>
          <p:nvPr/>
        </p:nvPicPr>
        <p:blipFill rotWithShape="1">
          <a:blip r:embed="rId5">
            <a:alphaModFix/>
          </a:blip>
          <a:srcRect b="0" l="0" r="0" t="0"/>
          <a:stretch/>
        </p:blipFill>
        <p:spPr>
          <a:xfrm>
            <a:off x="1708650" y="4165725"/>
            <a:ext cx="5056350" cy="2057050"/>
          </a:xfrm>
          <a:prstGeom prst="rect">
            <a:avLst/>
          </a:prstGeom>
          <a:noFill/>
          <a:ln>
            <a:noFill/>
          </a:ln>
        </p:spPr>
      </p:pic>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g1261e3f943e_0_316"/>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Autofit/>
          </a:bodyPr>
          <a:lstStyle/>
          <a:p>
            <a:pPr indent="0" lvl="0" marL="114300" rtl="0" algn="just">
              <a:lnSpc>
                <a:spcPct val="90000"/>
              </a:lnSpc>
              <a:spcBef>
                <a:spcPts val="1000"/>
              </a:spcBef>
              <a:spcAft>
                <a:spcPts val="0"/>
              </a:spcAft>
              <a:buSzPts val="1800"/>
              <a:buNone/>
            </a:pPr>
            <a:r>
              <a:rPr lang="pt-BR"/>
              <a:t>	A instrução de saída de dados permite ao algoritmo exibir dados na tela do computador. Ela é utilizada para exibir mensagens, resultados de cálculos, informações contidas nas variáveis, etc.</a:t>
            </a:r>
            <a:endParaRPr/>
          </a:p>
        </p:txBody>
      </p:sp>
      <p:sp>
        <p:nvSpPr>
          <p:cNvPr id="309" name="Google Shape;309;g1261e3f943e_0_316"/>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Saída de dados</a:t>
            </a:r>
            <a:endParaRPr/>
          </a:p>
        </p:txBody>
      </p:sp>
      <p:pic>
        <p:nvPicPr>
          <p:cNvPr id="310" name="Google Shape;310;g1261e3f943e_0_316"/>
          <p:cNvPicPr preferRelativeResize="0"/>
          <p:nvPr/>
        </p:nvPicPr>
        <p:blipFill rotWithShape="1">
          <a:blip r:embed="rId4">
            <a:alphaModFix/>
          </a:blip>
          <a:srcRect b="0" l="0" r="0" t="0"/>
          <a:stretch/>
        </p:blipFill>
        <p:spPr>
          <a:xfrm>
            <a:off x="8271400" y="2052550"/>
            <a:ext cx="3423475" cy="3423475"/>
          </a:xfrm>
          <a:prstGeom prst="rect">
            <a:avLst/>
          </a:prstGeom>
          <a:noFill/>
          <a:ln>
            <a:noFill/>
          </a:ln>
        </p:spPr>
      </p:pic>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14" name="Shape 314"/>
        <p:cNvGrpSpPr/>
        <p:nvPr/>
      </p:nvGrpSpPr>
      <p:grpSpPr>
        <a:xfrm>
          <a:off x="0" y="0"/>
          <a:ext cx="0" cy="0"/>
          <a:chOff x="0" y="0"/>
          <a:chExt cx="0" cy="0"/>
        </a:xfrm>
      </p:grpSpPr>
      <p:sp>
        <p:nvSpPr>
          <p:cNvPr id="315" name="Google Shape;315;g1261e3f943e_0_322"/>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Autofit/>
          </a:bodyPr>
          <a:lstStyle/>
          <a:p>
            <a:pPr indent="0" lvl="0" marL="114300" rtl="0" algn="just">
              <a:lnSpc>
                <a:spcPct val="90000"/>
              </a:lnSpc>
              <a:spcBef>
                <a:spcPts val="1000"/>
              </a:spcBef>
              <a:spcAft>
                <a:spcPts val="0"/>
              </a:spcAft>
              <a:buSzPts val="1800"/>
              <a:buNone/>
            </a:pPr>
            <a:r>
              <a:rPr lang="pt-BR"/>
              <a:t>	Instrução escreva: O comando escreva é utilizado quando deseja-se mostrar informações no console da IDE, ou seja, é um comando de saÍda de dados.</a:t>
            </a:r>
            <a:endParaRPr/>
          </a:p>
          <a:p>
            <a:pPr indent="0" lvl="0" marL="114300" rtl="0" algn="just">
              <a:lnSpc>
                <a:spcPct val="90000"/>
              </a:lnSpc>
              <a:spcBef>
                <a:spcPts val="1000"/>
              </a:spcBef>
              <a:spcAft>
                <a:spcPts val="0"/>
              </a:spcAft>
              <a:buSzPts val="1800"/>
              <a:buNone/>
            </a:pPr>
            <a:r>
              <a:t/>
            </a:r>
            <a:endParaRPr/>
          </a:p>
        </p:txBody>
      </p:sp>
      <p:sp>
        <p:nvSpPr>
          <p:cNvPr id="316" name="Google Shape;316;g1261e3f943e_0_322"/>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solidFill>
                  <a:schemeClr val="dk1"/>
                </a:solidFill>
                <a:latin typeface="Arial"/>
                <a:ea typeface="Arial"/>
                <a:cs typeface="Arial"/>
                <a:sym typeface="Arial"/>
              </a:rPr>
              <a:t>Saída de dados</a:t>
            </a:r>
            <a:endParaRPr/>
          </a:p>
        </p:txBody>
      </p:sp>
      <p:pic>
        <p:nvPicPr>
          <p:cNvPr id="317" name="Google Shape;317;g1261e3f943e_0_322"/>
          <p:cNvPicPr preferRelativeResize="0"/>
          <p:nvPr/>
        </p:nvPicPr>
        <p:blipFill rotWithShape="1">
          <a:blip r:embed="rId4">
            <a:alphaModFix/>
          </a:blip>
          <a:srcRect b="0" l="0" r="0" t="0"/>
          <a:stretch/>
        </p:blipFill>
        <p:spPr>
          <a:xfrm>
            <a:off x="8271400" y="2052550"/>
            <a:ext cx="3423475" cy="3423475"/>
          </a:xfrm>
          <a:prstGeom prst="rect">
            <a:avLst/>
          </a:prstGeom>
          <a:noFill/>
          <a:ln>
            <a:noFill/>
          </a:ln>
        </p:spPr>
      </p:pic>
      <p:pic>
        <p:nvPicPr>
          <p:cNvPr id="318" name="Google Shape;318;g1261e3f943e_0_322"/>
          <p:cNvPicPr preferRelativeResize="0"/>
          <p:nvPr/>
        </p:nvPicPr>
        <p:blipFill rotWithShape="1">
          <a:blip r:embed="rId5">
            <a:alphaModFix/>
          </a:blip>
          <a:srcRect b="0" l="0" r="0" t="0"/>
          <a:stretch/>
        </p:blipFill>
        <p:spPr>
          <a:xfrm>
            <a:off x="731398" y="4271450"/>
            <a:ext cx="7010850" cy="767975"/>
          </a:xfrm>
          <a:prstGeom prst="rect">
            <a:avLst/>
          </a:prstGeom>
          <a:noFill/>
          <a:ln>
            <a:noFill/>
          </a:ln>
        </p:spPr>
      </p:pic>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22" name="Shape 322"/>
        <p:cNvGrpSpPr/>
        <p:nvPr/>
      </p:nvGrpSpPr>
      <p:grpSpPr>
        <a:xfrm>
          <a:off x="0" y="0"/>
          <a:ext cx="0" cy="0"/>
          <a:chOff x="0" y="0"/>
          <a:chExt cx="0" cy="0"/>
        </a:xfrm>
      </p:grpSpPr>
      <p:sp>
        <p:nvSpPr>
          <p:cNvPr id="323" name="Google Shape;323;g1261e3f943e_0_397"/>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Funções.</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27" name="Shape 327"/>
        <p:cNvGrpSpPr/>
        <p:nvPr/>
      </p:nvGrpSpPr>
      <p:grpSpPr>
        <a:xfrm>
          <a:off x="0" y="0"/>
          <a:ext cx="0" cy="0"/>
          <a:chOff x="0" y="0"/>
          <a:chExt cx="0" cy="0"/>
        </a:xfrm>
      </p:grpSpPr>
      <p:sp>
        <p:nvSpPr>
          <p:cNvPr id="328" name="Google Shape;328;g1261e3f943e_0_401"/>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lang="pt-BR"/>
              <a:t>	Se lhe fosse solicitado um algoritmo para preencher uma matriz, você o resolveria correto? Porém, se ao invés de uma matriz fossem solicitadas dez matrizes? Concordamos que o algoritmo ficaria muito cansativo e repetitivo. </a:t>
            </a:r>
            <a:endParaRPr/>
          </a:p>
        </p:txBody>
      </p:sp>
      <p:sp>
        <p:nvSpPr>
          <p:cNvPr id="329" name="Google Shape;329;g1261e3f943e_0_40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Funções</a:t>
            </a:r>
            <a:endParaRPr/>
          </a:p>
        </p:txBody>
      </p:sp>
      <p:pic>
        <p:nvPicPr>
          <p:cNvPr id="330" name="Google Shape;330;g1261e3f943e_0_401"/>
          <p:cNvPicPr preferRelativeResize="0"/>
          <p:nvPr/>
        </p:nvPicPr>
        <p:blipFill rotWithShape="1">
          <a:blip r:embed="rId4">
            <a:alphaModFix/>
          </a:blip>
          <a:srcRect b="0" l="0" r="0" t="0"/>
          <a:stretch/>
        </p:blipFill>
        <p:spPr>
          <a:xfrm>
            <a:off x="7943325" y="1732224"/>
            <a:ext cx="3698900" cy="3459750"/>
          </a:xfrm>
          <a:prstGeom prst="rect">
            <a:avLst/>
          </a:prstGeom>
          <a:noFill/>
          <a:ln>
            <a:noFill/>
          </a:ln>
        </p:spPr>
      </p:pic>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34" name="Shape 334"/>
        <p:cNvGrpSpPr/>
        <p:nvPr/>
      </p:nvGrpSpPr>
      <p:grpSpPr>
        <a:xfrm>
          <a:off x="0" y="0"/>
          <a:ext cx="0" cy="0"/>
          <a:chOff x="0" y="0"/>
          <a:chExt cx="0" cy="0"/>
        </a:xfrm>
      </p:grpSpPr>
      <p:sp>
        <p:nvSpPr>
          <p:cNvPr id="335" name="Google Shape;335;g1261e3f943e_0_407"/>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rmAutofit/>
          </a:bodyPr>
          <a:lstStyle/>
          <a:p>
            <a:pPr indent="457200" lvl="0" marL="0" rtl="0" algn="just">
              <a:lnSpc>
                <a:spcPct val="90000"/>
              </a:lnSpc>
              <a:spcBef>
                <a:spcPts val="1000"/>
              </a:spcBef>
              <a:spcAft>
                <a:spcPts val="0"/>
              </a:spcAft>
              <a:buSzPts val="1800"/>
              <a:buNone/>
            </a:pPr>
            <a:r>
              <a:rPr lang="pt-BR"/>
              <a:t>Mas, e se pudéssemos repetir o mesmo procedimento, quantas vezes necessário, o escrevendo apenas uma vez? Nós podemos. Para isso, usamos uma função. Função consiste em uma porção de código que resolve um problema muito específico, parte de um problema maior.</a:t>
            </a:r>
            <a:endParaRPr/>
          </a:p>
        </p:txBody>
      </p:sp>
      <p:pic>
        <p:nvPicPr>
          <p:cNvPr id="336" name="Google Shape;336;g1261e3f943e_0_407"/>
          <p:cNvPicPr preferRelativeResize="0"/>
          <p:nvPr/>
        </p:nvPicPr>
        <p:blipFill rotWithShape="1">
          <a:blip r:embed="rId4">
            <a:alphaModFix/>
          </a:blip>
          <a:srcRect b="0" l="0" r="0" t="0"/>
          <a:stretch/>
        </p:blipFill>
        <p:spPr>
          <a:xfrm>
            <a:off x="7943325" y="1732224"/>
            <a:ext cx="3698900" cy="3459750"/>
          </a:xfrm>
          <a:prstGeom prst="rect">
            <a:avLst/>
          </a:prstGeom>
          <a:noFill/>
          <a:ln>
            <a:noFill/>
          </a:ln>
        </p:spPr>
      </p:pic>
      <p:sp>
        <p:nvSpPr>
          <p:cNvPr id="337" name="Google Shape;337;g1261e3f943e_0_40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Funções</a:t>
            </a:r>
            <a:endParaRPr/>
          </a:p>
        </p:txBody>
      </p:sp>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g1261e3f943e_0_413"/>
          <p:cNvSpPr txBox="1"/>
          <p:nvPr>
            <p:ph idx="1" type="body"/>
          </p:nvPr>
        </p:nvSpPr>
        <p:spPr>
          <a:xfrm>
            <a:off x="682725" y="1908025"/>
            <a:ext cx="7108200" cy="4138200"/>
          </a:xfrm>
          <a:prstGeom prst="rect">
            <a:avLst/>
          </a:prstGeom>
          <a:noFill/>
          <a:ln>
            <a:noFill/>
          </a:ln>
        </p:spPr>
        <p:txBody>
          <a:bodyPr anchorCtr="0" anchor="t" bIns="45700" lIns="91425" spcFirstLastPara="1" rIns="91425" wrap="square" tIns="45700">
            <a:normAutofit fontScale="85000" lnSpcReduction="10000"/>
          </a:bodyPr>
          <a:lstStyle/>
          <a:p>
            <a:pPr indent="-379730" lvl="0" marL="457200" rtl="0" algn="just">
              <a:lnSpc>
                <a:spcPct val="115000"/>
              </a:lnSpc>
              <a:spcBef>
                <a:spcPts val="1200"/>
              </a:spcBef>
              <a:spcAft>
                <a:spcPts val="0"/>
              </a:spcAft>
              <a:buSzPct val="100000"/>
              <a:buFont typeface="Calibri"/>
              <a:buChar char="●"/>
            </a:pPr>
            <a:r>
              <a:rPr lang="pt-BR"/>
              <a:t>A redução de código duplicado num programa;</a:t>
            </a:r>
            <a:endParaRPr/>
          </a:p>
          <a:p>
            <a:pPr indent="-379730" lvl="0" marL="457200" rtl="0" algn="just">
              <a:lnSpc>
                <a:spcPct val="115000"/>
              </a:lnSpc>
              <a:spcBef>
                <a:spcPts val="0"/>
              </a:spcBef>
              <a:spcAft>
                <a:spcPts val="0"/>
              </a:spcAft>
              <a:buSzPct val="100000"/>
              <a:buFont typeface="Calibri"/>
              <a:buChar char="●"/>
            </a:pPr>
            <a:r>
              <a:rPr lang="pt-BR"/>
              <a:t>A possibilidade de reutilizar o mesmo código sem grandes alterações em outros programas;</a:t>
            </a:r>
            <a:endParaRPr/>
          </a:p>
          <a:p>
            <a:pPr indent="-379730" lvl="0" marL="457200" rtl="0" algn="just">
              <a:lnSpc>
                <a:spcPct val="115000"/>
              </a:lnSpc>
              <a:spcBef>
                <a:spcPts val="0"/>
              </a:spcBef>
              <a:spcAft>
                <a:spcPts val="0"/>
              </a:spcAft>
              <a:buSzPct val="100000"/>
              <a:buFont typeface="Calibri"/>
              <a:buChar char="●"/>
            </a:pPr>
            <a:r>
              <a:rPr lang="pt-BR"/>
              <a:t>A decomposição de problemas grandes em pequenas partes;</a:t>
            </a:r>
            <a:endParaRPr/>
          </a:p>
          <a:p>
            <a:pPr indent="-379730" lvl="0" marL="457200" rtl="0" algn="just">
              <a:lnSpc>
                <a:spcPct val="115000"/>
              </a:lnSpc>
              <a:spcBef>
                <a:spcPts val="0"/>
              </a:spcBef>
              <a:spcAft>
                <a:spcPts val="0"/>
              </a:spcAft>
              <a:buSzPct val="100000"/>
              <a:buFont typeface="Calibri"/>
              <a:buChar char="●"/>
            </a:pPr>
            <a:r>
              <a:rPr lang="pt-BR"/>
              <a:t>Melhorar a interpretação visual de um programa;</a:t>
            </a:r>
            <a:endParaRPr/>
          </a:p>
          <a:p>
            <a:pPr indent="-379730" lvl="0" marL="457200" rtl="0" algn="just">
              <a:lnSpc>
                <a:spcPct val="115000"/>
              </a:lnSpc>
              <a:spcBef>
                <a:spcPts val="0"/>
              </a:spcBef>
              <a:spcAft>
                <a:spcPts val="0"/>
              </a:spcAft>
              <a:buSzPct val="100000"/>
              <a:buFont typeface="Calibri"/>
              <a:buChar char="●"/>
            </a:pPr>
            <a:r>
              <a:rPr lang="pt-BR"/>
              <a:t>Esconder ou regular uma parte de um programa, mantendo o restante código alheio às questões internas resolvidas dentro dessa função.</a:t>
            </a:r>
            <a:endParaRPr/>
          </a:p>
          <a:p>
            <a:pPr indent="457200" lvl="0" marL="0" rtl="0" algn="just">
              <a:lnSpc>
                <a:spcPct val="90000"/>
              </a:lnSpc>
              <a:spcBef>
                <a:spcPts val="1200"/>
              </a:spcBef>
              <a:spcAft>
                <a:spcPts val="0"/>
              </a:spcAft>
              <a:buSzPct val="64285"/>
              <a:buNone/>
            </a:pPr>
            <a:r>
              <a:t/>
            </a:r>
            <a:endParaRPr/>
          </a:p>
        </p:txBody>
      </p:sp>
      <p:pic>
        <p:nvPicPr>
          <p:cNvPr id="343" name="Google Shape;343;g1261e3f943e_0_413"/>
          <p:cNvPicPr preferRelativeResize="0"/>
          <p:nvPr/>
        </p:nvPicPr>
        <p:blipFill rotWithShape="1">
          <a:blip r:embed="rId4">
            <a:alphaModFix/>
          </a:blip>
          <a:srcRect b="0" l="0" r="0" t="0"/>
          <a:stretch/>
        </p:blipFill>
        <p:spPr>
          <a:xfrm>
            <a:off x="7943325" y="1732224"/>
            <a:ext cx="3698900" cy="3459750"/>
          </a:xfrm>
          <a:prstGeom prst="rect">
            <a:avLst/>
          </a:prstGeom>
          <a:noFill/>
          <a:ln>
            <a:noFill/>
          </a:ln>
        </p:spPr>
      </p:pic>
      <p:sp>
        <p:nvSpPr>
          <p:cNvPr id="344" name="Google Shape;344;g1261e3f943e_0_41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Vantagens em usar Funções</a:t>
            </a:r>
            <a:endParaRPr/>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48" name="Shape 348"/>
        <p:cNvGrpSpPr/>
        <p:nvPr/>
      </p:nvGrpSpPr>
      <p:grpSpPr>
        <a:xfrm>
          <a:off x="0" y="0"/>
          <a:ext cx="0" cy="0"/>
          <a:chOff x="0" y="0"/>
          <a:chExt cx="0" cy="0"/>
        </a:xfrm>
      </p:grpSpPr>
      <p:sp>
        <p:nvSpPr>
          <p:cNvPr id="349" name="Google Shape;349;g1261e3f943e_0_487"/>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Operações.</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53" name="Shape 353"/>
        <p:cNvGrpSpPr/>
        <p:nvPr/>
      </p:nvGrpSpPr>
      <p:grpSpPr>
        <a:xfrm>
          <a:off x="0" y="0"/>
          <a:ext cx="0" cy="0"/>
          <a:chOff x="0" y="0"/>
          <a:chExt cx="0" cy="0"/>
        </a:xfrm>
      </p:grpSpPr>
      <p:sp>
        <p:nvSpPr>
          <p:cNvPr id="354" name="Google Shape;354;g1261e3f943e_0_491"/>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lang="pt-BR"/>
              <a:t>	Uma expressão em uma linguagem de programação é uma combinação de valores explícitos constantes, variáveis, operadores e funções que são interpretadas de acordo com as regras especificadas de precedência e de associação.</a:t>
            </a:r>
            <a:endParaRPr/>
          </a:p>
          <a:p>
            <a:pPr indent="0" lvl="0" marL="114300" rtl="0" algn="just">
              <a:lnSpc>
                <a:spcPct val="90000"/>
              </a:lnSpc>
              <a:spcBef>
                <a:spcPts val="1000"/>
              </a:spcBef>
              <a:spcAft>
                <a:spcPts val="0"/>
              </a:spcAft>
              <a:buSzPts val="1800"/>
              <a:buNone/>
            </a:pPr>
            <a:r>
              <a:t/>
            </a:r>
            <a:endParaRPr/>
          </a:p>
        </p:txBody>
      </p:sp>
      <p:sp>
        <p:nvSpPr>
          <p:cNvPr id="355" name="Google Shape;355;g1261e3f943e_0_49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Expressões</a:t>
            </a:r>
            <a:endParaRPr/>
          </a:p>
        </p:txBody>
      </p:sp>
      <p:pic>
        <p:nvPicPr>
          <p:cNvPr id="356" name="Google Shape;356;g1261e3f943e_0_491"/>
          <p:cNvPicPr preferRelativeResize="0"/>
          <p:nvPr/>
        </p:nvPicPr>
        <p:blipFill rotWithShape="1">
          <a:blip r:embed="rId4">
            <a:alphaModFix/>
          </a:blip>
          <a:srcRect b="0" l="0" r="0" t="0"/>
          <a:stretch/>
        </p:blipFill>
        <p:spPr>
          <a:xfrm>
            <a:off x="8060360" y="1490523"/>
            <a:ext cx="3876975" cy="3876975"/>
          </a:xfrm>
          <a:prstGeom prst="rect">
            <a:avLst/>
          </a:prstGeom>
          <a:noFill/>
          <a:ln>
            <a:noFill/>
          </a:ln>
        </p:spPr>
      </p:pic>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60" name="Shape 360"/>
        <p:cNvGrpSpPr/>
        <p:nvPr/>
      </p:nvGrpSpPr>
      <p:grpSpPr>
        <a:xfrm>
          <a:off x="0" y="0"/>
          <a:ext cx="0" cy="0"/>
          <a:chOff x="0" y="0"/>
          <a:chExt cx="0" cy="0"/>
        </a:xfrm>
      </p:grpSpPr>
      <p:sp>
        <p:nvSpPr>
          <p:cNvPr id="361" name="Google Shape;361;g1261e3f943e_0_497"/>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rmAutofit/>
          </a:bodyPr>
          <a:lstStyle/>
          <a:p>
            <a:pPr indent="0" lvl="0" marL="114300" rtl="0" algn="just">
              <a:lnSpc>
                <a:spcPct val="90000"/>
              </a:lnSpc>
              <a:spcBef>
                <a:spcPts val="1000"/>
              </a:spcBef>
              <a:spcAft>
                <a:spcPts val="0"/>
              </a:spcAft>
              <a:buSzPts val="1800"/>
              <a:buNone/>
            </a:pPr>
            <a:r>
              <a:rPr lang="pt-BR"/>
              <a:t>	Na programação encontramos encontramos quatro tipos de operações, sendo elas:</a:t>
            </a:r>
            <a:endParaRPr/>
          </a:p>
          <a:p>
            <a:pPr indent="-342900" lvl="0" marL="457200" rtl="0" algn="just">
              <a:lnSpc>
                <a:spcPct val="90000"/>
              </a:lnSpc>
              <a:spcBef>
                <a:spcPts val="1000"/>
              </a:spcBef>
              <a:spcAft>
                <a:spcPts val="0"/>
              </a:spcAft>
              <a:buSzPts val="1800"/>
              <a:buChar char="•"/>
            </a:pPr>
            <a:r>
              <a:rPr lang="pt-BR"/>
              <a:t>Operações de Atribuição;</a:t>
            </a:r>
            <a:endParaRPr/>
          </a:p>
          <a:p>
            <a:pPr indent="-342900" lvl="0" marL="457200" rtl="0" algn="just">
              <a:lnSpc>
                <a:spcPct val="90000"/>
              </a:lnSpc>
              <a:spcBef>
                <a:spcPts val="0"/>
              </a:spcBef>
              <a:spcAft>
                <a:spcPts val="0"/>
              </a:spcAft>
              <a:buSzPts val="1800"/>
              <a:buChar char="•"/>
            </a:pPr>
            <a:r>
              <a:rPr lang="pt-BR"/>
              <a:t>Operações Aritméticas;</a:t>
            </a:r>
            <a:endParaRPr/>
          </a:p>
          <a:p>
            <a:pPr indent="-342900" lvl="0" marL="457200" rtl="0" algn="just">
              <a:lnSpc>
                <a:spcPct val="90000"/>
              </a:lnSpc>
              <a:spcBef>
                <a:spcPts val="0"/>
              </a:spcBef>
              <a:spcAft>
                <a:spcPts val="0"/>
              </a:spcAft>
              <a:buSzPts val="1800"/>
              <a:buChar char="•"/>
            </a:pPr>
            <a:r>
              <a:rPr lang="pt-BR"/>
              <a:t>Operações Lógicas;</a:t>
            </a:r>
            <a:endParaRPr/>
          </a:p>
          <a:p>
            <a:pPr indent="-342900" lvl="0" marL="457200" rtl="0" algn="just">
              <a:lnSpc>
                <a:spcPct val="90000"/>
              </a:lnSpc>
              <a:spcBef>
                <a:spcPts val="0"/>
              </a:spcBef>
              <a:spcAft>
                <a:spcPts val="0"/>
              </a:spcAft>
              <a:buSzPts val="1800"/>
              <a:buChar char="•"/>
            </a:pPr>
            <a:r>
              <a:rPr lang="pt-BR"/>
              <a:t>Operações Relacionais.</a:t>
            </a:r>
            <a:endParaRPr/>
          </a:p>
          <a:p>
            <a:pPr indent="0" lvl="0" marL="114300" rtl="0" algn="just">
              <a:lnSpc>
                <a:spcPct val="90000"/>
              </a:lnSpc>
              <a:spcBef>
                <a:spcPts val="1000"/>
              </a:spcBef>
              <a:spcAft>
                <a:spcPts val="0"/>
              </a:spcAft>
              <a:buSzPts val="1800"/>
              <a:buNone/>
            </a:pPr>
            <a:r>
              <a:t/>
            </a:r>
            <a:endParaRPr/>
          </a:p>
        </p:txBody>
      </p:sp>
      <p:sp>
        <p:nvSpPr>
          <p:cNvPr id="362" name="Google Shape;362;g1261e3f943e_0_49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a:t>
            </a:r>
            <a:endParaRPr/>
          </a:p>
        </p:txBody>
      </p:sp>
      <p:pic>
        <p:nvPicPr>
          <p:cNvPr id="363" name="Google Shape;363;g1261e3f943e_0_497"/>
          <p:cNvPicPr preferRelativeResize="0"/>
          <p:nvPr/>
        </p:nvPicPr>
        <p:blipFill rotWithShape="1">
          <a:blip r:embed="rId4">
            <a:alphaModFix/>
          </a:blip>
          <a:srcRect b="0" l="0" r="0" t="0"/>
          <a:stretch/>
        </p:blipFill>
        <p:spPr>
          <a:xfrm>
            <a:off x="8060360" y="1490523"/>
            <a:ext cx="3876975" cy="3876975"/>
          </a:xfrm>
          <a:prstGeom prst="rect">
            <a:avLst/>
          </a:prstGeom>
          <a:noFill/>
          <a:ln>
            <a:noFill/>
          </a:ln>
        </p:spPr>
      </p:pic>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67" name="Shape 367"/>
        <p:cNvGrpSpPr/>
        <p:nvPr/>
      </p:nvGrpSpPr>
      <p:grpSpPr>
        <a:xfrm>
          <a:off x="0" y="0"/>
          <a:ext cx="0" cy="0"/>
          <a:chOff x="0" y="0"/>
          <a:chExt cx="0" cy="0"/>
        </a:xfrm>
      </p:grpSpPr>
      <p:sp>
        <p:nvSpPr>
          <p:cNvPr id="368" name="Google Shape;368;g1261e3f943e_0_503"/>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0" lvl="0" marL="114300" rtl="0" algn="just">
              <a:lnSpc>
                <a:spcPct val="90000"/>
              </a:lnSpc>
              <a:spcBef>
                <a:spcPts val="1000"/>
              </a:spcBef>
              <a:spcAft>
                <a:spcPts val="0"/>
              </a:spcAft>
              <a:buSzPts val="1800"/>
              <a:buNone/>
            </a:pPr>
            <a:r>
              <a:rPr lang="pt-BR"/>
              <a:t>	A instrução de atribuição serve para alterar o valor de uma variável. Ao fazer isso dizemos que estamos atribuindo um novo valor a esta variável. A atribuição de valores pode ser feita de variadas formas. </a:t>
            </a:r>
            <a:endParaRPr/>
          </a:p>
        </p:txBody>
      </p:sp>
      <p:sp>
        <p:nvSpPr>
          <p:cNvPr id="369" name="Google Shape;369;g1261e3f943e_0_50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Atribuição</a:t>
            </a:r>
            <a:endParaRPr/>
          </a:p>
        </p:txBody>
      </p:sp>
      <p:pic>
        <p:nvPicPr>
          <p:cNvPr id="370" name="Google Shape;370;g1261e3f943e_0_503"/>
          <p:cNvPicPr preferRelativeResize="0"/>
          <p:nvPr/>
        </p:nvPicPr>
        <p:blipFill rotWithShape="1">
          <a:blip r:embed="rId4">
            <a:alphaModFix/>
          </a:blip>
          <a:srcRect b="0" l="0" r="0" t="0"/>
          <a:stretch/>
        </p:blipFill>
        <p:spPr>
          <a:xfrm>
            <a:off x="7968375" y="2405301"/>
            <a:ext cx="4223625" cy="2210364"/>
          </a:xfrm>
          <a:prstGeom prst="rect">
            <a:avLst/>
          </a:prstGeom>
          <a:noFill/>
          <a:ln>
            <a:noFill/>
          </a:ln>
        </p:spPr>
      </p:pic>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74" name="Shape 374"/>
        <p:cNvGrpSpPr/>
        <p:nvPr/>
      </p:nvGrpSpPr>
      <p:grpSpPr>
        <a:xfrm>
          <a:off x="0" y="0"/>
          <a:ext cx="0" cy="0"/>
          <a:chOff x="0" y="0"/>
          <a:chExt cx="0" cy="0"/>
        </a:xfrm>
      </p:grpSpPr>
      <p:sp>
        <p:nvSpPr>
          <p:cNvPr id="375" name="Google Shape;375;g1261e3f943e_0_509"/>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342900" lvl="0" marL="114300" rtl="0" algn="just">
              <a:lnSpc>
                <a:spcPct val="90000"/>
              </a:lnSpc>
              <a:spcBef>
                <a:spcPts val="1000"/>
              </a:spcBef>
              <a:spcAft>
                <a:spcPts val="0"/>
              </a:spcAft>
              <a:buSzPts val="1800"/>
              <a:buNone/>
            </a:pPr>
            <a:r>
              <a:rPr lang="pt-BR"/>
              <a:t>Pode-se atribuir valores através de constantes, de dados digitados pelo usuário (Leia) ou mesmo através de comparações e operações com outras variáveis já existentes. </a:t>
            </a:r>
            <a:endParaRPr/>
          </a:p>
          <a:p>
            <a:pPr indent="0" lvl="0" marL="114300" rtl="0" algn="just">
              <a:lnSpc>
                <a:spcPct val="90000"/>
              </a:lnSpc>
              <a:spcBef>
                <a:spcPts val="1000"/>
              </a:spcBef>
              <a:spcAft>
                <a:spcPts val="0"/>
              </a:spcAft>
              <a:buSzPts val="1800"/>
              <a:buNone/>
            </a:pPr>
            <a:r>
              <a:t/>
            </a:r>
            <a:endParaRPr/>
          </a:p>
        </p:txBody>
      </p:sp>
      <p:sp>
        <p:nvSpPr>
          <p:cNvPr id="376" name="Google Shape;376;g1261e3f943e_0_509"/>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Atribuição</a:t>
            </a:r>
            <a:endParaRPr/>
          </a:p>
        </p:txBody>
      </p:sp>
      <p:pic>
        <p:nvPicPr>
          <p:cNvPr id="377" name="Google Shape;377;g1261e3f943e_0_509"/>
          <p:cNvPicPr preferRelativeResize="0"/>
          <p:nvPr/>
        </p:nvPicPr>
        <p:blipFill rotWithShape="1">
          <a:blip r:embed="rId4">
            <a:alphaModFix/>
          </a:blip>
          <a:srcRect b="0" l="0" r="0" t="0"/>
          <a:stretch/>
        </p:blipFill>
        <p:spPr>
          <a:xfrm>
            <a:off x="7968375" y="2405301"/>
            <a:ext cx="4223625" cy="2210364"/>
          </a:xfrm>
          <a:prstGeom prst="rect">
            <a:avLst/>
          </a:prstGeom>
          <a:noFill/>
          <a:ln>
            <a:noFill/>
          </a:ln>
        </p:spPr>
      </p:pic>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81" name="Shape 381"/>
        <p:cNvGrpSpPr/>
        <p:nvPr/>
      </p:nvGrpSpPr>
      <p:grpSpPr>
        <a:xfrm>
          <a:off x="0" y="0"/>
          <a:ext cx="0" cy="0"/>
          <a:chOff x="0" y="0"/>
          <a:chExt cx="0" cy="0"/>
        </a:xfrm>
      </p:grpSpPr>
      <p:sp>
        <p:nvSpPr>
          <p:cNvPr id="382" name="Google Shape;382;g1261e3f943e_0_515"/>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342900" lvl="0" marL="114300" rtl="0" algn="just">
              <a:lnSpc>
                <a:spcPct val="90000"/>
              </a:lnSpc>
              <a:spcBef>
                <a:spcPts val="1000"/>
              </a:spcBef>
              <a:spcAft>
                <a:spcPts val="0"/>
              </a:spcAft>
              <a:buSzPts val="1800"/>
              <a:buNone/>
            </a:pPr>
            <a:r>
              <a:rPr lang="pt-BR"/>
              <a:t>Neste último caso, após a execução da operação, a variável conterÁ o valor resultante da operação. O sinal de igual "=" é o símbolo da atribuição no Portugol. A variável à esquerda do sinal de igual recebe o valor das operações que estiverem À direita.</a:t>
            </a:r>
            <a:endParaRPr/>
          </a:p>
          <a:p>
            <a:pPr indent="0" lvl="0" marL="114300" rtl="0" algn="just">
              <a:lnSpc>
                <a:spcPct val="90000"/>
              </a:lnSpc>
              <a:spcBef>
                <a:spcPts val="1000"/>
              </a:spcBef>
              <a:spcAft>
                <a:spcPts val="0"/>
              </a:spcAft>
              <a:buSzPts val="1800"/>
              <a:buNone/>
            </a:pPr>
            <a:r>
              <a:t/>
            </a:r>
            <a:endParaRPr/>
          </a:p>
        </p:txBody>
      </p:sp>
      <p:sp>
        <p:nvSpPr>
          <p:cNvPr id="383" name="Google Shape;383;g1261e3f943e_0_51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Atribuição</a:t>
            </a:r>
            <a:endParaRPr/>
          </a:p>
        </p:txBody>
      </p:sp>
      <p:pic>
        <p:nvPicPr>
          <p:cNvPr id="384" name="Google Shape;384;g1261e3f943e_0_515"/>
          <p:cNvPicPr preferRelativeResize="0"/>
          <p:nvPr/>
        </p:nvPicPr>
        <p:blipFill rotWithShape="1">
          <a:blip r:embed="rId4">
            <a:alphaModFix/>
          </a:blip>
          <a:srcRect b="0" l="0" r="0" t="0"/>
          <a:stretch/>
        </p:blipFill>
        <p:spPr>
          <a:xfrm>
            <a:off x="7968375" y="2405301"/>
            <a:ext cx="4223625" cy="2210364"/>
          </a:xfrm>
          <a:prstGeom prst="rect">
            <a:avLst/>
          </a:prstGeom>
          <a:noFill/>
          <a:ln>
            <a:noFill/>
          </a:ln>
        </p:spPr>
      </p:pic>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88" name="Shape 388"/>
        <p:cNvGrpSpPr/>
        <p:nvPr/>
      </p:nvGrpSpPr>
      <p:grpSpPr>
        <a:xfrm>
          <a:off x="0" y="0"/>
          <a:ext cx="0" cy="0"/>
          <a:chOff x="0" y="0"/>
          <a:chExt cx="0" cy="0"/>
        </a:xfrm>
      </p:grpSpPr>
      <p:sp>
        <p:nvSpPr>
          <p:cNvPr id="389" name="Google Shape;389;g1261e3f943e_0_521"/>
          <p:cNvSpPr txBox="1"/>
          <p:nvPr>
            <p:ph type="title"/>
          </p:nvPr>
        </p:nvSpPr>
        <p:spPr>
          <a:xfrm>
            <a:off x="838200" y="2267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Atribuição</a:t>
            </a:r>
            <a:endParaRPr/>
          </a:p>
        </p:txBody>
      </p:sp>
      <p:graphicFrame>
        <p:nvGraphicFramePr>
          <p:cNvPr id="390" name="Google Shape;390;g1261e3f943e_0_521"/>
          <p:cNvGraphicFramePr/>
          <p:nvPr/>
        </p:nvGraphicFramePr>
        <p:xfrm>
          <a:off x="347821" y="1221056"/>
          <a:ext cx="3000000" cy="3000000"/>
        </p:xfrm>
        <a:graphic>
          <a:graphicData uri="http://schemas.openxmlformats.org/drawingml/2006/table">
            <a:tbl>
              <a:tblPr bandRow="1" firstRow="1">
                <a:noFill/>
                <a:tableStyleId>{59A1157A-E866-4CD9-903C-35FBB9347F23}</a:tableStyleId>
              </a:tblPr>
              <a:tblGrid>
                <a:gridCol w="1722750"/>
                <a:gridCol w="2060900"/>
                <a:gridCol w="6231250"/>
                <a:gridCol w="1481450"/>
              </a:tblGrid>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OPERADOR</a:t>
                      </a:r>
                      <a:endParaRPr sz="1200" u="none" cap="none" strike="noStrike"/>
                    </a:p>
                  </a:txBody>
                  <a:tcPr marT="45725" marB="45725" marR="91450" marL="91450">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OPERAÇÃO</a:t>
                      </a:r>
                      <a:endParaRPr sz="1200" u="none" cap="none" strike="noStrike"/>
                    </a:p>
                  </a:txBody>
                  <a:tcPr marT="45725" marB="45725" marR="91450" marL="91450">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DESCRIÇÃO</a:t>
                      </a:r>
                      <a:endParaRPr sz="1200" u="none" cap="none" strike="noStrike"/>
                    </a:p>
                  </a:txBody>
                  <a:tcPr marT="45725" marB="45725" marR="91450" marL="91450">
                    <a:lnB cap="flat" cmpd="sng" w="127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Resultado</a:t>
                      </a:r>
                      <a:endParaRPr sz="1200" u="none" cap="none" strike="noStrike"/>
                    </a:p>
                  </a:txBody>
                  <a:tcPr marT="45725" marB="45725" marR="91450" marL="91450">
                    <a:lnB cap="flat" cmpd="sng" w="12700">
                      <a:solidFill>
                        <a:srgbClr val="FFFFFF"/>
                      </a:solidFill>
                      <a:prstDash val="solid"/>
                      <a:round/>
                      <a:headEnd len="sm" w="sm" type="none"/>
                      <a:tailEnd len="sm" w="sm" type="none"/>
                    </a:lnB>
                  </a:tcP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Atribuição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Atribui o valor da direita à esquerda</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4</a:t>
                      </a:r>
                      <a:endParaRPr sz="12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b = 2</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200" u="none" cap="none" strike="noStrike"/>
                    </a:p>
                  </a:txBody>
                  <a:tcPr marT="45725" marB="45725" marR="91450" marL="91450" anchor="ctr">
                    <a:lnT cap="flat" cmpd="sng" w="38100">
                      <a:solidFill>
                        <a:srgbClr val="FFFFFF"/>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Incremento</a:t>
                      </a:r>
                      <a:endParaRPr sz="1200" u="none" cap="none" strike="noStrike"/>
                    </a:p>
                  </a:txBody>
                  <a:tcPr marT="45725" marB="45725" marR="91450" marL="91450" anchor="ctr">
                    <a:lnT cap="flat" cmpd="sng" w="38100">
                      <a:solidFill>
                        <a:srgbClr val="FFFFFF"/>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Soma um a uma variável</a:t>
                      </a:r>
                      <a:endParaRPr sz="1200" u="none" cap="none" strike="noStrike"/>
                    </a:p>
                  </a:txBody>
                  <a:tcPr marT="45725" marB="45725" marR="91450" marL="91450" anchor="ctr">
                    <a:lnT cap="flat" cmpd="sng" w="38100">
                      <a:solidFill>
                        <a:srgbClr val="FFFFFF"/>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(5)</a:t>
                      </a:r>
                      <a:endParaRPr sz="1200" u="none" cap="none" strike="noStrike"/>
                    </a:p>
                  </a:txBody>
                  <a:tcPr marT="45725" marB="45725" marR="91450" marL="91450" anchor="ctr">
                    <a:lnT cap="flat" cmpd="sng" w="38100">
                      <a:solidFill>
                        <a:srgbClr val="FFFFFF"/>
                      </a:solidFill>
                      <a:prstDash val="solid"/>
                      <a:round/>
                      <a:headEnd len="sm" w="sm" type="none"/>
                      <a:tailEnd len="sm" w="sm" type="none"/>
                    </a:lnT>
                  </a:tcP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Decremento</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Subtrai um a uma variável</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(3)</a:t>
                      </a:r>
                      <a:endParaRPr sz="12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Valor mais</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Soma o valor depois do igual ao valor da variável toda vez que ler</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b (6,8,10..)</a:t>
                      </a:r>
                      <a:endParaRPr sz="12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Valor menos</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Subtrai o valor depois do igual ao valor da variável toda vez que ler</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b (2,0,-2...)</a:t>
                      </a:r>
                      <a:endParaRPr sz="12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Valor multiplicado</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Multiplica o valor depois do igual ao valor da variável toda vez que ler</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b (8,16,32...)</a:t>
                      </a:r>
                      <a:endParaRPr sz="12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Valor dividido</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Divide o valor depois do igual ao valor da variável toda vez que ler</a:t>
                      </a:r>
                      <a:endParaRPr sz="12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b (2,1...)</a:t>
                      </a:r>
                      <a:endParaRPr sz="1200" u="none" cap="none" strike="noStrike"/>
                    </a:p>
                  </a:txBody>
                  <a:tcPr marT="45725" marB="45725" marR="91450" marL="91450" anchor="ctr"/>
                </a:tc>
              </a:tr>
            </a:tbl>
          </a:graphicData>
        </a:graphic>
      </p:graphicFrame>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1261e3f943e_0_526"/>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1200"/>
              </a:spcAft>
              <a:buSzPts val="1100"/>
              <a:buNone/>
            </a:pPr>
            <a:r>
              <a:rPr lang="pt-BR"/>
              <a:t>As operações aritméticas são nossas velhas conhecidas da Matemática. Em algoritmos é muito comum usarmos operadores aritméticos para realizar cálculos.</a:t>
            </a:r>
            <a:endParaRPr/>
          </a:p>
        </p:txBody>
      </p:sp>
      <p:sp>
        <p:nvSpPr>
          <p:cNvPr id="396" name="Google Shape;396;g1261e3f943e_0_526"/>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Aritmético</a:t>
            </a:r>
            <a:endParaRPr/>
          </a:p>
        </p:txBody>
      </p:sp>
      <p:pic>
        <p:nvPicPr>
          <p:cNvPr id="397" name="Google Shape;397;g1261e3f943e_0_526"/>
          <p:cNvPicPr preferRelativeResize="0"/>
          <p:nvPr/>
        </p:nvPicPr>
        <p:blipFill rotWithShape="1">
          <a:blip r:embed="rId4">
            <a:alphaModFix/>
          </a:blip>
          <a:srcRect b="0" l="0" r="0" t="0"/>
          <a:stretch/>
        </p:blipFill>
        <p:spPr>
          <a:xfrm>
            <a:off x="8096550" y="2037375"/>
            <a:ext cx="3827051" cy="3179550"/>
          </a:xfrm>
          <a:prstGeom prst="rect">
            <a:avLst/>
          </a:prstGeom>
          <a:noFill/>
          <a:ln>
            <a:noFill/>
          </a:ln>
        </p:spPr>
      </p:pic>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01" name="Shape 401"/>
        <p:cNvGrpSpPr/>
        <p:nvPr/>
      </p:nvGrpSpPr>
      <p:grpSpPr>
        <a:xfrm>
          <a:off x="0" y="0"/>
          <a:ext cx="0" cy="0"/>
          <a:chOff x="0" y="0"/>
          <a:chExt cx="0" cy="0"/>
        </a:xfrm>
      </p:grpSpPr>
      <p:sp>
        <p:nvSpPr>
          <p:cNvPr id="402" name="Google Shape;402;g1261e3f943e_0_532"/>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100"/>
              <a:buNone/>
            </a:pPr>
            <a:r>
              <a:rPr lang="pt-BR"/>
              <a:t>Os símbolos que usamos para os operadores na Matemática mudam um pouquinho em algoritmos. A multiplicação, que na matemática  um xis 'x' ou um ponto "." torna-se um '*', justamente para não confundir com o xis que pode ser uma variável e com o ponto que pode ser a parte decimal de um número real. </a:t>
            </a:r>
            <a:endParaRPr/>
          </a:p>
        </p:txBody>
      </p:sp>
      <p:sp>
        <p:nvSpPr>
          <p:cNvPr id="403" name="Google Shape;403;g1261e3f943e_0_532"/>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Aritmético</a:t>
            </a:r>
            <a:endParaRPr/>
          </a:p>
        </p:txBody>
      </p:sp>
      <p:pic>
        <p:nvPicPr>
          <p:cNvPr id="404" name="Google Shape;404;g1261e3f943e_0_532"/>
          <p:cNvPicPr preferRelativeResize="0"/>
          <p:nvPr/>
        </p:nvPicPr>
        <p:blipFill rotWithShape="1">
          <a:blip r:embed="rId4">
            <a:alphaModFix/>
          </a:blip>
          <a:srcRect b="0" l="0" r="0" t="0"/>
          <a:stretch/>
        </p:blipFill>
        <p:spPr>
          <a:xfrm>
            <a:off x="8096550" y="2128325"/>
            <a:ext cx="3827051" cy="3179550"/>
          </a:xfrm>
          <a:prstGeom prst="rect">
            <a:avLst/>
          </a:prstGeom>
          <a:noFill/>
          <a:ln>
            <a:noFill/>
          </a:ln>
        </p:spPr>
      </p:pic>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08" name="Shape 408"/>
        <p:cNvGrpSpPr/>
        <p:nvPr/>
      </p:nvGrpSpPr>
      <p:grpSpPr>
        <a:xfrm>
          <a:off x="0" y="0"/>
          <a:ext cx="0" cy="0"/>
          <a:chOff x="0" y="0"/>
          <a:chExt cx="0" cy="0"/>
        </a:xfrm>
      </p:grpSpPr>
      <p:sp>
        <p:nvSpPr>
          <p:cNvPr id="409" name="Google Shape;409;g1261e3f943e_0_538"/>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de Aritméticas</a:t>
            </a:r>
            <a:endParaRPr/>
          </a:p>
        </p:txBody>
      </p:sp>
      <p:graphicFrame>
        <p:nvGraphicFramePr>
          <p:cNvPr id="410" name="Google Shape;410;g1261e3f943e_0_538"/>
          <p:cNvGraphicFramePr/>
          <p:nvPr/>
        </p:nvGraphicFramePr>
        <p:xfrm>
          <a:off x="547946" y="1784956"/>
          <a:ext cx="3000000" cy="3000000"/>
        </p:xfrm>
        <a:graphic>
          <a:graphicData uri="http://schemas.openxmlformats.org/drawingml/2006/table">
            <a:tbl>
              <a:tblPr bandRow="1" firstRow="1">
                <a:noFill/>
                <a:tableStyleId>{59A1157A-E866-4CD9-903C-35FBB9347F23}</a:tableStyleId>
              </a:tblPr>
              <a:tblGrid>
                <a:gridCol w="1722750"/>
                <a:gridCol w="2060900"/>
                <a:gridCol w="6231250"/>
                <a:gridCol w="1481450"/>
              </a:tblGrid>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OPERADOR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OPERAÇÃO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DESCRIÇÃO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Resultado</a:t>
                      </a:r>
                      <a:endParaRPr sz="1400" u="none" cap="none" strike="noStrike"/>
                    </a:p>
                  </a:txBody>
                  <a:tcPr marT="45725" marB="45725" marR="91450" marL="91450"/>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Soma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Soma dois valores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 + b = 6</a:t>
                      </a:r>
                      <a:endParaRPr sz="14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Subtração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Subtrai dois valores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 - b = 2</a:t>
                      </a:r>
                      <a:endParaRPr sz="14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Multiplicação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Multiplica dois valores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 * b = 8</a:t>
                      </a:r>
                      <a:endParaRPr sz="14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Divisão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Divide um valor por outro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 / b = 2</a:t>
                      </a:r>
                      <a:endParaRPr sz="14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Resto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Divide um valor por outro e retorna o resto da divisão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a % b = 0</a:t>
                      </a:r>
                      <a:endParaRPr sz="1400" u="none" cap="none" strike="noStrike"/>
                    </a:p>
                  </a:txBody>
                  <a:tcPr marT="45725" marB="45725" marR="91450" marL="91450" anchor="ctr"/>
                </a:tc>
              </a:tr>
            </a:tbl>
          </a:graphicData>
        </a:graphic>
      </p:graphicFrame>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14" name="Shape 414"/>
        <p:cNvGrpSpPr/>
        <p:nvPr/>
      </p:nvGrpSpPr>
      <p:grpSpPr>
        <a:xfrm>
          <a:off x="0" y="0"/>
          <a:ext cx="0" cy="0"/>
          <a:chOff x="0" y="0"/>
          <a:chExt cx="0" cy="0"/>
        </a:xfrm>
      </p:grpSpPr>
      <p:sp>
        <p:nvSpPr>
          <p:cNvPr id="415" name="Google Shape;415;g1261e3f943e_0_543"/>
          <p:cNvSpPr txBox="1"/>
          <p:nvPr>
            <p:ph idx="1" type="body"/>
          </p:nvPr>
        </p:nvSpPr>
        <p:spPr>
          <a:xfrm>
            <a:off x="1146000" y="1726100"/>
            <a:ext cx="10207800" cy="17667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100"/>
              <a:buNone/>
            </a:pPr>
            <a:r>
              <a:rPr lang="pt-BR"/>
              <a:t>As operações lógicas são uma novidade para muitos, pois raramente são vistas na escola. Um operador lógico opera somente valores lógicos, ou seja, é necessário que o valor à esquerda e à direita do operador sejam valores lógicos (verdadeiro ou falso). </a:t>
            </a:r>
            <a:endParaRPr/>
          </a:p>
        </p:txBody>
      </p:sp>
      <p:sp>
        <p:nvSpPr>
          <p:cNvPr id="416" name="Google Shape;416;g1261e3f943e_0_54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Lógicas</a:t>
            </a:r>
            <a:endParaRPr/>
          </a:p>
        </p:txBody>
      </p:sp>
      <p:pic>
        <p:nvPicPr>
          <p:cNvPr id="417" name="Google Shape;417;g1261e3f943e_0_543"/>
          <p:cNvPicPr preferRelativeResize="0"/>
          <p:nvPr/>
        </p:nvPicPr>
        <p:blipFill rotWithShape="1">
          <a:blip r:embed="rId4">
            <a:alphaModFix/>
          </a:blip>
          <a:srcRect b="0" l="0" r="0" t="0"/>
          <a:stretch/>
        </p:blipFill>
        <p:spPr>
          <a:xfrm>
            <a:off x="3619975" y="3888400"/>
            <a:ext cx="4347650" cy="2274926"/>
          </a:xfrm>
          <a:prstGeom prst="rect">
            <a:avLst/>
          </a:prstGeom>
          <a:noFill/>
          <a:ln>
            <a:noFill/>
          </a:ln>
        </p:spPr>
      </p:pic>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21" name="Shape 421"/>
        <p:cNvGrpSpPr/>
        <p:nvPr/>
      </p:nvGrpSpPr>
      <p:grpSpPr>
        <a:xfrm>
          <a:off x="0" y="0"/>
          <a:ext cx="0" cy="0"/>
          <a:chOff x="0" y="0"/>
          <a:chExt cx="0" cy="0"/>
        </a:xfrm>
      </p:grpSpPr>
      <p:sp>
        <p:nvSpPr>
          <p:cNvPr id="422" name="Google Shape;422;g1261e3f943e_0_549"/>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Lógicas</a:t>
            </a:r>
            <a:endParaRPr/>
          </a:p>
        </p:txBody>
      </p:sp>
      <p:graphicFrame>
        <p:nvGraphicFramePr>
          <p:cNvPr id="423" name="Google Shape;423;g1261e3f943e_0_549"/>
          <p:cNvGraphicFramePr/>
          <p:nvPr/>
        </p:nvGraphicFramePr>
        <p:xfrm>
          <a:off x="226285" y="1367195"/>
          <a:ext cx="3000000" cy="3000000"/>
        </p:xfrm>
        <a:graphic>
          <a:graphicData uri="http://schemas.openxmlformats.org/drawingml/2006/table">
            <a:tbl>
              <a:tblPr bandRow="1" firstRow="1">
                <a:noFill/>
                <a:tableStyleId>{59A1157A-E866-4CD9-903C-35FBB9347F23}</a:tableStyleId>
              </a:tblPr>
              <a:tblGrid>
                <a:gridCol w="2090525"/>
                <a:gridCol w="2415525"/>
                <a:gridCol w="4381775"/>
                <a:gridCol w="2851600"/>
              </a:tblGrid>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OPERADOR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OPERAÇÃO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DESCRIÇÃO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Resultado</a:t>
                      </a:r>
                      <a:endParaRPr sz="1400" u="none" cap="none" strike="noStrike"/>
                    </a:p>
                  </a:txBody>
                  <a:tcPr marT="45725" marB="45725" marR="91450" marL="91450"/>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nao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Inverso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Inverte o valor</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c = true;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nao c = false;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d = true;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não d = false;</a:t>
                      </a:r>
                      <a:endParaRPr sz="1400" u="none" cap="none" strike="noStrike"/>
                    </a:p>
                  </a:txBody>
                  <a:tcPr marT="45725" marB="45725" marR="91450" marL="91450" anchor="ctr"/>
                </a:tc>
              </a:tr>
              <a:tr h="745150">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e</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E</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Lógica de Simultaneidade </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c e d = true;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c e !d = false; </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!c e d = false; </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!c e !d = false; </a:t>
                      </a:r>
                      <a:endParaRPr sz="1400" u="none" cap="none" strike="noStrike"/>
                    </a:p>
                  </a:txBody>
                  <a:tcPr marT="45725" marB="45725" marR="91450" marL="91450" anchor="ctr"/>
                </a:tc>
              </a:tr>
              <a:tr h="548275">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ou</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Ou</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Lógica Alternada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pt-BR" sz="2000" u="none" cap="none" strike="noStrike"/>
                        <a:t>c ou d = true;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c ou !d = true;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!c ou d = true;</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rPr lang="pt-BR" sz="2000" u="none" cap="none" strike="noStrike"/>
                        <a:t>!c ou !d = false;</a:t>
                      </a:r>
                      <a:endParaRPr sz="1400" u="none" cap="none" strike="noStrike"/>
                    </a:p>
                  </a:txBody>
                  <a:tcPr marT="45725" marB="45725" marR="91450" marL="91450" anchor="ctr"/>
                </a:tc>
              </a:tr>
            </a:tbl>
          </a:graphicData>
        </a:graphic>
      </p:graphicFrame>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27" name="Shape 427"/>
        <p:cNvGrpSpPr/>
        <p:nvPr/>
      </p:nvGrpSpPr>
      <p:grpSpPr>
        <a:xfrm>
          <a:off x="0" y="0"/>
          <a:ext cx="0" cy="0"/>
          <a:chOff x="0" y="0"/>
          <a:chExt cx="0" cy="0"/>
        </a:xfrm>
      </p:grpSpPr>
      <p:sp>
        <p:nvSpPr>
          <p:cNvPr id="428" name="Google Shape;428;g1261e3f943e_0_554"/>
          <p:cNvSpPr txBox="1"/>
          <p:nvPr>
            <p:ph idx="1" type="body"/>
          </p:nvPr>
        </p:nvSpPr>
        <p:spPr>
          <a:xfrm>
            <a:off x="838200" y="1726100"/>
            <a:ext cx="6420000" cy="33855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100"/>
              <a:buNone/>
            </a:pPr>
            <a:r>
              <a:rPr lang="pt-BR"/>
              <a:t>Vamos imaginar que você precise verificar se um número digitado pelo usuário é positivo ou negativo. Como poderíamos verificar isso? Através de uma operação relacional. As operações relacionais também são nossas conhecidas da Matemática. </a:t>
            </a:r>
            <a:endParaRPr/>
          </a:p>
        </p:txBody>
      </p:sp>
      <p:sp>
        <p:nvSpPr>
          <p:cNvPr id="429" name="Google Shape;429;g1261e3f943e_0_554"/>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Relacionais</a:t>
            </a:r>
            <a:endParaRPr/>
          </a:p>
        </p:txBody>
      </p:sp>
      <p:pic>
        <p:nvPicPr>
          <p:cNvPr id="430" name="Google Shape;430;g1261e3f943e_0_554"/>
          <p:cNvPicPr preferRelativeResize="0"/>
          <p:nvPr/>
        </p:nvPicPr>
        <p:blipFill rotWithShape="1">
          <a:blip r:embed="rId4">
            <a:alphaModFix/>
          </a:blip>
          <a:srcRect b="0" l="0" r="0" t="0"/>
          <a:stretch/>
        </p:blipFill>
        <p:spPr>
          <a:xfrm>
            <a:off x="8538425" y="1726099"/>
            <a:ext cx="3012850" cy="3615425"/>
          </a:xfrm>
          <a:prstGeom prst="rect">
            <a:avLst/>
          </a:prstGeom>
          <a:noFill/>
          <a:ln>
            <a:noFill/>
          </a:ln>
        </p:spPr>
      </p:pic>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34" name="Shape 434"/>
        <p:cNvGrpSpPr/>
        <p:nvPr/>
      </p:nvGrpSpPr>
      <p:grpSpPr>
        <a:xfrm>
          <a:off x="0" y="0"/>
          <a:ext cx="0" cy="0"/>
          <a:chOff x="0" y="0"/>
          <a:chExt cx="0" cy="0"/>
        </a:xfrm>
      </p:grpSpPr>
      <p:sp>
        <p:nvSpPr>
          <p:cNvPr id="435" name="Google Shape;435;g1261e3f943e_0_560"/>
          <p:cNvSpPr txBox="1"/>
          <p:nvPr>
            <p:ph idx="1" type="body"/>
          </p:nvPr>
        </p:nvSpPr>
        <p:spPr>
          <a:xfrm>
            <a:off x="838200" y="1726100"/>
            <a:ext cx="6420000" cy="17667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100"/>
              <a:buNone/>
            </a:pPr>
            <a:r>
              <a:rPr lang="pt-BR"/>
              <a:t>Em algoritmos, os operadores relacionais são importantes, pois permitem realizar comparações que terão como resultado um valor lógico (verdadeiro ou falso).</a:t>
            </a:r>
            <a:endParaRPr/>
          </a:p>
        </p:txBody>
      </p:sp>
      <p:sp>
        <p:nvSpPr>
          <p:cNvPr id="436" name="Google Shape;436;g1261e3f943e_0_560"/>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Relacionais</a:t>
            </a:r>
            <a:endParaRPr/>
          </a:p>
        </p:txBody>
      </p:sp>
      <p:pic>
        <p:nvPicPr>
          <p:cNvPr id="437" name="Google Shape;437;g1261e3f943e_0_560"/>
          <p:cNvPicPr preferRelativeResize="0"/>
          <p:nvPr/>
        </p:nvPicPr>
        <p:blipFill rotWithShape="1">
          <a:blip r:embed="rId4">
            <a:alphaModFix/>
          </a:blip>
          <a:srcRect b="0" l="0" r="0" t="0"/>
          <a:stretch/>
        </p:blipFill>
        <p:spPr>
          <a:xfrm>
            <a:off x="8538425" y="1726099"/>
            <a:ext cx="3012850" cy="3615425"/>
          </a:xfrm>
          <a:prstGeom prst="rect">
            <a:avLst/>
          </a:prstGeom>
          <a:noFill/>
          <a:ln>
            <a:noFill/>
          </a:ln>
        </p:spPr>
      </p:pic>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41" name="Shape 441"/>
        <p:cNvGrpSpPr/>
        <p:nvPr/>
      </p:nvGrpSpPr>
      <p:grpSpPr>
        <a:xfrm>
          <a:off x="0" y="0"/>
          <a:ext cx="0" cy="0"/>
          <a:chOff x="0" y="0"/>
          <a:chExt cx="0" cy="0"/>
        </a:xfrm>
      </p:grpSpPr>
      <p:sp>
        <p:nvSpPr>
          <p:cNvPr id="442" name="Google Shape;442;g1261e3f943e_0_566"/>
          <p:cNvSpPr txBox="1"/>
          <p:nvPr>
            <p:ph type="title"/>
          </p:nvPr>
        </p:nvSpPr>
        <p:spPr>
          <a:xfrm>
            <a:off x="910975" y="1"/>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Operações Relacionais</a:t>
            </a:r>
            <a:endParaRPr/>
          </a:p>
        </p:txBody>
      </p:sp>
      <p:graphicFrame>
        <p:nvGraphicFramePr>
          <p:cNvPr id="443" name="Google Shape;443;g1261e3f943e_0_566"/>
          <p:cNvGraphicFramePr/>
          <p:nvPr/>
        </p:nvGraphicFramePr>
        <p:xfrm>
          <a:off x="390604" y="933062"/>
          <a:ext cx="3000000" cy="3000000"/>
        </p:xfrm>
        <a:graphic>
          <a:graphicData uri="http://schemas.openxmlformats.org/drawingml/2006/table">
            <a:tbl>
              <a:tblPr bandRow="1" firstRow="1">
                <a:noFill/>
                <a:tableStyleId>{59A1157A-E866-4CD9-903C-35FBB9347F23}</a:tableStyleId>
              </a:tblPr>
              <a:tblGrid>
                <a:gridCol w="1654300"/>
                <a:gridCol w="1715925"/>
                <a:gridCol w="6140450"/>
                <a:gridCol w="1900125"/>
              </a:tblGrid>
              <a:tr h="510225">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OPERADOR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OPERAÇÃO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DESCRIÇÃO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Resultado</a:t>
                      </a:r>
                      <a:endParaRPr sz="1400" u="none" cap="none" strike="noStrike"/>
                    </a:p>
                  </a:txBody>
                  <a:tcPr marT="45725" marB="45725" marR="91450" marL="91450"/>
                </a:tc>
              </a:tr>
              <a:tr h="936050">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Igualdade</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Compara se o valor da esquerda é igual o da direita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b (false)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c == d (true)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c == !d (false)</a:t>
                      </a:r>
                      <a:endParaRPr sz="1400" u="none" cap="none" strike="noStrike"/>
                    </a:p>
                  </a:txBody>
                  <a:tcPr marT="45725" marB="45725" marR="91450" marL="91450" anchor="ctr"/>
                </a:tc>
              </a:tr>
              <a:tr h="936050">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Diferente</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Compara se o valor da esquerda é diferente o da direita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 b (true)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c != d (false)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c != !d (true)</a:t>
                      </a:r>
                      <a:endParaRPr sz="1400" u="none" cap="none" strike="noStrike"/>
                    </a:p>
                  </a:txBody>
                  <a:tcPr marT="45725" marB="45725" marR="91450" marL="91450" anchor="ctr"/>
                </a:tc>
              </a:tr>
              <a:tr h="652400">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&gt;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Maior Que</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Compara se o valor da esquerda é maior que o da direita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&gt; b (true)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b &gt; a (false)</a:t>
                      </a:r>
                      <a:endParaRPr sz="1400" u="none" cap="none" strike="noStrike"/>
                    </a:p>
                  </a:txBody>
                  <a:tcPr marT="45725" marB="45725" marR="91450" marL="91450" anchor="ctr"/>
                </a:tc>
              </a:tr>
              <a:tr h="652400">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&lt;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Menor Que</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Compara se o valor da esquerda é menor que o da direita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&lt; b (false)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b &lt; a (true)</a:t>
                      </a:r>
                      <a:endParaRPr sz="1400" u="none" cap="none" strike="noStrike"/>
                    </a:p>
                  </a:txBody>
                  <a:tcPr marT="45725" marB="45725" marR="91450" marL="91450" anchor="ctr"/>
                </a:tc>
              </a:tr>
              <a:tr h="652400">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&gt;=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Maior ou Igual</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Compara se o valor da esquerda é maior ou igual o da direita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&gt;= b (false)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b &gt;= a (true)</a:t>
                      </a:r>
                      <a:endParaRPr sz="1400" u="none" cap="none" strike="noStrike"/>
                    </a:p>
                  </a:txBody>
                  <a:tcPr marT="45725" marB="45725" marR="91450" marL="91450" anchor="ctr"/>
                </a:tc>
              </a:tr>
              <a:tr h="652400">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&gt;=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Menor ou Igual</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Compara se o valor da esquerda é menor ou igual o da direita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pt-BR" sz="1800" u="none" cap="none" strike="noStrike"/>
                        <a:t>a &lt;= b (false)</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pt-BR" sz="1800" u="none" cap="none" strike="noStrike"/>
                        <a:t>b &lt;= a (true)</a:t>
                      </a:r>
                      <a:endParaRPr sz="1400" u="none" cap="none" strike="noStrike"/>
                    </a:p>
                  </a:txBody>
                  <a:tcPr marT="45725" marB="45725" marR="91450" marL="91450" anchor="ctr"/>
                </a:tc>
              </a:tr>
            </a:tbl>
          </a:graphicData>
        </a:graphic>
      </p:graphicFrame>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47" name="Shape 447"/>
        <p:cNvGrpSpPr/>
        <p:nvPr/>
      </p:nvGrpSpPr>
      <p:grpSpPr>
        <a:xfrm>
          <a:off x="0" y="0"/>
          <a:ext cx="0" cy="0"/>
          <a:chOff x="0" y="0"/>
          <a:chExt cx="0" cy="0"/>
        </a:xfrm>
      </p:grpSpPr>
      <p:sp>
        <p:nvSpPr>
          <p:cNvPr id="448" name="Google Shape;448;g1261e3f943e_0_639"/>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Estruturas de Controle.</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52" name="Shape 452"/>
        <p:cNvGrpSpPr/>
        <p:nvPr/>
      </p:nvGrpSpPr>
      <p:grpSpPr>
        <a:xfrm>
          <a:off x="0" y="0"/>
          <a:ext cx="0" cy="0"/>
          <a:chOff x="0" y="0"/>
          <a:chExt cx="0" cy="0"/>
        </a:xfrm>
      </p:grpSpPr>
      <p:sp>
        <p:nvSpPr>
          <p:cNvPr id="453" name="Google Shape;453;g1261e3f943e_0_643"/>
          <p:cNvSpPr txBox="1"/>
          <p:nvPr>
            <p:ph idx="1" type="body"/>
          </p:nvPr>
        </p:nvSpPr>
        <p:spPr>
          <a:xfrm>
            <a:off x="573575" y="1744300"/>
            <a:ext cx="69597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00000"/>
              </a:lnSpc>
              <a:spcBef>
                <a:spcPts val="1200"/>
              </a:spcBef>
              <a:spcAft>
                <a:spcPts val="0"/>
              </a:spcAft>
              <a:buClr>
                <a:schemeClr val="dk1"/>
              </a:buClr>
              <a:buSzPts val="1100"/>
              <a:buFont typeface="Arial"/>
              <a:buNone/>
            </a:pPr>
            <a:r>
              <a:rPr lang="pt-BR" sz="2500"/>
              <a:t>Em determinadas situações é necessário executar ações de acordo com os dados fornecidos pelo programa. Em alguns casos, pode ser necessário que o programa execute uma determinada instrução repetidas vezes, por exemplo. Sendo assim, controlar e manipular a ordem com que instruções serão executadas em função de dados fornecidos pelo programa é essencial, e é para isso que servem as estruturas de controle.</a:t>
            </a:r>
            <a:endParaRPr sz="2500"/>
          </a:p>
          <a:p>
            <a:pPr indent="0" lvl="0" marL="114300" rtl="0" algn="just">
              <a:lnSpc>
                <a:spcPct val="100000"/>
              </a:lnSpc>
              <a:spcBef>
                <a:spcPts val="1200"/>
              </a:spcBef>
              <a:spcAft>
                <a:spcPts val="0"/>
              </a:spcAft>
              <a:buSzPts val="1800"/>
              <a:buNone/>
            </a:pPr>
            <a:r>
              <a:t/>
            </a:r>
            <a:endParaRPr sz="2500"/>
          </a:p>
        </p:txBody>
      </p:sp>
      <p:sp>
        <p:nvSpPr>
          <p:cNvPr id="454" name="Google Shape;454;g1261e3f943e_0_64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Estruturas de Controle</a:t>
            </a:r>
            <a:endParaRPr/>
          </a:p>
        </p:txBody>
      </p:sp>
      <p:pic>
        <p:nvPicPr>
          <p:cNvPr id="455" name="Google Shape;455;g1261e3f943e_0_643"/>
          <p:cNvPicPr preferRelativeResize="0"/>
          <p:nvPr/>
        </p:nvPicPr>
        <p:blipFill rotWithShape="1">
          <a:blip r:embed="rId4">
            <a:alphaModFix/>
          </a:blip>
          <a:srcRect b="0" l="0" r="0" t="0"/>
          <a:stretch/>
        </p:blipFill>
        <p:spPr>
          <a:xfrm>
            <a:off x="7776401" y="2551100"/>
            <a:ext cx="4280550" cy="2675350"/>
          </a:xfrm>
          <a:prstGeom prst="rect">
            <a:avLst/>
          </a:prstGeom>
          <a:noFill/>
          <a:ln>
            <a:noFill/>
          </a:ln>
        </p:spPr>
      </p:pic>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59" name="Shape 459"/>
        <p:cNvGrpSpPr/>
        <p:nvPr/>
      </p:nvGrpSpPr>
      <p:grpSpPr>
        <a:xfrm>
          <a:off x="0" y="0"/>
          <a:ext cx="0" cy="0"/>
          <a:chOff x="0" y="0"/>
          <a:chExt cx="0" cy="0"/>
        </a:xfrm>
      </p:grpSpPr>
      <p:sp>
        <p:nvSpPr>
          <p:cNvPr id="460" name="Google Shape;460;g1261e3f943e_0_649"/>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100"/>
              <a:buNone/>
            </a:pPr>
            <a:r>
              <a:rPr lang="pt-BR"/>
              <a:t>	Estruturas de controle (ou fluxos de controle) referem-se À ordem em que instruções, expressões e chamadas de função são executadas. Sem o uso de estruturas de controle, o programa seria executado de cima para baixo, instruído por instruções, dificultando assim a resolução de diversos problemas.</a:t>
            </a:r>
            <a:endParaRPr/>
          </a:p>
          <a:p>
            <a:pPr indent="0" lvl="0" marL="114300" rtl="0" algn="just">
              <a:lnSpc>
                <a:spcPct val="100000"/>
              </a:lnSpc>
              <a:spcBef>
                <a:spcPts val="1000"/>
              </a:spcBef>
              <a:spcAft>
                <a:spcPts val="0"/>
              </a:spcAft>
              <a:buSzPts val="1800"/>
              <a:buNone/>
            </a:pPr>
            <a:r>
              <a:t/>
            </a:r>
            <a:endParaRPr/>
          </a:p>
        </p:txBody>
      </p:sp>
      <p:sp>
        <p:nvSpPr>
          <p:cNvPr id="461" name="Google Shape;461;g1261e3f943e_0_649"/>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Estruturas de Controle</a:t>
            </a:r>
            <a:endParaRPr/>
          </a:p>
        </p:txBody>
      </p:sp>
      <p:pic>
        <p:nvPicPr>
          <p:cNvPr id="462" name="Google Shape;462;g1261e3f943e_0_649"/>
          <p:cNvPicPr preferRelativeResize="0"/>
          <p:nvPr/>
        </p:nvPicPr>
        <p:blipFill rotWithShape="1">
          <a:blip r:embed="rId4">
            <a:alphaModFix/>
          </a:blip>
          <a:srcRect b="0" l="0" r="0" t="0"/>
          <a:stretch/>
        </p:blipFill>
        <p:spPr>
          <a:xfrm>
            <a:off x="7776401" y="2551100"/>
            <a:ext cx="4280550" cy="2675350"/>
          </a:xfrm>
          <a:prstGeom prst="rect">
            <a:avLst/>
          </a:prstGeom>
          <a:noFill/>
          <a:ln>
            <a:noFill/>
          </a:ln>
        </p:spPr>
      </p:pic>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66" name="Shape 466"/>
        <p:cNvGrpSpPr/>
        <p:nvPr/>
      </p:nvGrpSpPr>
      <p:grpSpPr>
        <a:xfrm>
          <a:off x="0" y="0"/>
          <a:ext cx="0" cy="0"/>
          <a:chOff x="0" y="0"/>
          <a:chExt cx="0" cy="0"/>
        </a:xfrm>
      </p:grpSpPr>
      <p:sp>
        <p:nvSpPr>
          <p:cNvPr id="467" name="Google Shape;467;g1261e3f943e_0_655"/>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1100"/>
              <a:buNone/>
            </a:pPr>
            <a:r>
              <a:rPr lang="pt-BR"/>
              <a:t>	Temos dois exemplos de Estruturas de Controle:</a:t>
            </a:r>
            <a:endParaRPr/>
          </a:p>
          <a:p>
            <a:pPr indent="-342900" lvl="0" marL="457200" rtl="0" algn="just">
              <a:lnSpc>
                <a:spcPct val="115000"/>
              </a:lnSpc>
              <a:spcBef>
                <a:spcPts val="0"/>
              </a:spcBef>
              <a:spcAft>
                <a:spcPts val="0"/>
              </a:spcAft>
              <a:buSzPts val="1800"/>
              <a:buChar char="•"/>
            </a:pPr>
            <a:r>
              <a:rPr lang="pt-BR"/>
              <a:t>Os Desvios Condicionais;</a:t>
            </a:r>
            <a:endParaRPr/>
          </a:p>
          <a:p>
            <a:pPr indent="-342900" lvl="0" marL="457200" rtl="0" algn="just">
              <a:lnSpc>
                <a:spcPct val="115000"/>
              </a:lnSpc>
              <a:spcBef>
                <a:spcPts val="0"/>
              </a:spcBef>
              <a:spcAft>
                <a:spcPts val="0"/>
              </a:spcAft>
              <a:buSzPts val="1800"/>
              <a:buChar char="•"/>
            </a:pPr>
            <a:r>
              <a:rPr lang="pt-BR"/>
              <a:t>Os Laços de Repetição.</a:t>
            </a:r>
            <a:endParaRPr/>
          </a:p>
          <a:p>
            <a:pPr indent="0" lvl="0" marL="114300" rtl="0" algn="just">
              <a:lnSpc>
                <a:spcPct val="90000"/>
              </a:lnSpc>
              <a:spcBef>
                <a:spcPts val="1000"/>
              </a:spcBef>
              <a:spcAft>
                <a:spcPts val="0"/>
              </a:spcAft>
              <a:buSzPts val="1800"/>
              <a:buNone/>
            </a:pPr>
            <a:r>
              <a:t/>
            </a:r>
            <a:endParaRPr/>
          </a:p>
        </p:txBody>
      </p:sp>
      <p:sp>
        <p:nvSpPr>
          <p:cNvPr id="468" name="Google Shape;468;g1261e3f943e_0_65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Estruturas de Controle</a:t>
            </a:r>
            <a:endParaRPr/>
          </a:p>
        </p:txBody>
      </p:sp>
      <p:pic>
        <p:nvPicPr>
          <p:cNvPr id="469" name="Google Shape;469;g1261e3f943e_0_655"/>
          <p:cNvPicPr preferRelativeResize="0"/>
          <p:nvPr/>
        </p:nvPicPr>
        <p:blipFill rotWithShape="1">
          <a:blip r:embed="rId4">
            <a:alphaModFix/>
          </a:blip>
          <a:srcRect b="0" l="0" r="0" t="0"/>
          <a:stretch/>
        </p:blipFill>
        <p:spPr>
          <a:xfrm>
            <a:off x="7776401" y="2551100"/>
            <a:ext cx="4280550" cy="2675350"/>
          </a:xfrm>
          <a:prstGeom prst="rect">
            <a:avLst/>
          </a:prstGeom>
          <a:noFill/>
          <a:ln>
            <a:noFill/>
          </a:ln>
        </p:spPr>
      </p:pic>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73" name="Shape 473"/>
        <p:cNvGrpSpPr/>
        <p:nvPr/>
      </p:nvGrpSpPr>
      <p:grpSpPr>
        <a:xfrm>
          <a:off x="0" y="0"/>
          <a:ext cx="0" cy="0"/>
          <a:chOff x="0" y="0"/>
          <a:chExt cx="0" cy="0"/>
        </a:xfrm>
      </p:grpSpPr>
      <p:sp>
        <p:nvSpPr>
          <p:cNvPr id="474" name="Google Shape;474;g1261e3f943e_0_661"/>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1100"/>
              <a:buNone/>
            </a:pPr>
            <a:r>
              <a:rPr lang="pt-BR"/>
              <a:t>	Não é só na vida que fazemos escolhas. Nos algoritmos encontramos situações onde um conjunto de instruções deve ser executado caso uma condição seja verdadeira.</a:t>
            </a:r>
            <a:endParaRPr/>
          </a:p>
        </p:txBody>
      </p:sp>
      <p:sp>
        <p:nvSpPr>
          <p:cNvPr id="475" name="Google Shape;475;g1261e3f943e_0_66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Desvios Condicionais</a:t>
            </a:r>
            <a:endParaRPr/>
          </a:p>
        </p:txBody>
      </p:sp>
      <p:pic>
        <p:nvPicPr>
          <p:cNvPr id="476" name="Google Shape;476;g1261e3f943e_0_661"/>
          <p:cNvPicPr preferRelativeResize="0"/>
          <p:nvPr/>
        </p:nvPicPr>
        <p:blipFill rotWithShape="1">
          <a:blip r:embed="rId4">
            <a:alphaModFix/>
          </a:blip>
          <a:srcRect b="0" l="0" r="0" t="0"/>
          <a:stretch/>
        </p:blipFill>
        <p:spPr>
          <a:xfrm>
            <a:off x="8299382" y="1835257"/>
            <a:ext cx="3233700" cy="3598050"/>
          </a:xfrm>
          <a:prstGeom prst="rect">
            <a:avLst/>
          </a:prstGeom>
          <a:noFill/>
          <a:ln>
            <a:noFill/>
          </a:ln>
        </p:spPr>
      </p:pic>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80" name="Shape 480"/>
        <p:cNvGrpSpPr/>
        <p:nvPr/>
      </p:nvGrpSpPr>
      <p:grpSpPr>
        <a:xfrm>
          <a:off x="0" y="0"/>
          <a:ext cx="0" cy="0"/>
          <a:chOff x="0" y="0"/>
          <a:chExt cx="0" cy="0"/>
        </a:xfrm>
      </p:grpSpPr>
      <p:sp>
        <p:nvSpPr>
          <p:cNvPr id="481" name="Google Shape;481;g1261e3f943e_0_667"/>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0"/>
              </a:spcBef>
              <a:spcAft>
                <a:spcPts val="0"/>
              </a:spcAft>
              <a:buSzPts val="1100"/>
              <a:buNone/>
            </a:pPr>
            <a:r>
              <a:rPr lang="pt-BR"/>
              <a:t>Por exemplo: sua aprovação na disciplina de algoritmos depende da sua média final ser igual ou superior a 6. Podemos ainda pensar em outra situação: a seleção brasileira de futebol só participa de uma copa do mundo se for classificada nas eliminatórias, se isso não ocorrer ficaremos sem o hexacampeonato.</a:t>
            </a:r>
            <a:endParaRPr/>
          </a:p>
        </p:txBody>
      </p:sp>
      <p:sp>
        <p:nvSpPr>
          <p:cNvPr id="482" name="Google Shape;482;g1261e3f943e_0_66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Desvios Condicionais</a:t>
            </a:r>
            <a:endParaRPr/>
          </a:p>
        </p:txBody>
      </p:sp>
      <p:pic>
        <p:nvPicPr>
          <p:cNvPr id="483" name="Google Shape;483;g1261e3f943e_0_667"/>
          <p:cNvPicPr preferRelativeResize="0"/>
          <p:nvPr/>
        </p:nvPicPr>
        <p:blipFill rotWithShape="1">
          <a:blip r:embed="rId4">
            <a:alphaModFix/>
          </a:blip>
          <a:srcRect b="0" l="0" r="0" t="0"/>
          <a:stretch/>
        </p:blipFill>
        <p:spPr>
          <a:xfrm>
            <a:off x="8299382" y="1835257"/>
            <a:ext cx="3233700" cy="3598050"/>
          </a:xfrm>
          <a:prstGeom prst="rect">
            <a:avLst/>
          </a:prstGeom>
          <a:noFill/>
          <a:ln>
            <a:noFill/>
          </a:ln>
        </p:spPr>
      </p:pic>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87" name="Shape 487"/>
        <p:cNvGrpSpPr/>
        <p:nvPr/>
      </p:nvGrpSpPr>
      <p:grpSpPr>
        <a:xfrm>
          <a:off x="0" y="0"/>
          <a:ext cx="0" cy="0"/>
          <a:chOff x="0" y="0"/>
          <a:chExt cx="0" cy="0"/>
        </a:xfrm>
      </p:grpSpPr>
      <p:sp>
        <p:nvSpPr>
          <p:cNvPr id="488" name="Google Shape;488;g1261e3f943e_0_673"/>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0"/>
              </a:spcBef>
              <a:spcAft>
                <a:spcPts val="0"/>
              </a:spcAft>
              <a:buSzPts val="1100"/>
              <a:buNone/>
            </a:pPr>
            <a:r>
              <a:rPr lang="pt-BR"/>
              <a:t>Temos quatro estruturas de Desvios Condicionais:</a:t>
            </a:r>
            <a:endParaRPr/>
          </a:p>
          <a:p>
            <a:pPr indent="-342900" lvl="0" marL="457200" rtl="0" algn="just">
              <a:lnSpc>
                <a:spcPct val="115000"/>
              </a:lnSpc>
              <a:spcBef>
                <a:spcPts val="0"/>
              </a:spcBef>
              <a:spcAft>
                <a:spcPts val="0"/>
              </a:spcAft>
              <a:buSzPts val="1800"/>
              <a:buChar char="•"/>
            </a:pPr>
            <a:r>
              <a:rPr lang="pt-BR"/>
              <a:t>Se;</a:t>
            </a:r>
            <a:endParaRPr/>
          </a:p>
          <a:p>
            <a:pPr indent="-342900" lvl="0" marL="457200" rtl="0" algn="just">
              <a:lnSpc>
                <a:spcPct val="115000"/>
              </a:lnSpc>
              <a:spcBef>
                <a:spcPts val="0"/>
              </a:spcBef>
              <a:spcAft>
                <a:spcPts val="0"/>
              </a:spcAft>
              <a:buSzPts val="1800"/>
              <a:buChar char="•"/>
            </a:pPr>
            <a:r>
              <a:rPr lang="pt-BR"/>
              <a:t>Senão;</a:t>
            </a:r>
            <a:endParaRPr/>
          </a:p>
          <a:p>
            <a:pPr indent="-342900" lvl="0" marL="457200" rtl="0" algn="just">
              <a:lnSpc>
                <a:spcPct val="115000"/>
              </a:lnSpc>
              <a:spcBef>
                <a:spcPts val="0"/>
              </a:spcBef>
              <a:spcAft>
                <a:spcPts val="0"/>
              </a:spcAft>
              <a:buSzPts val="1800"/>
              <a:buChar char="•"/>
            </a:pPr>
            <a:r>
              <a:rPr lang="pt-BR"/>
              <a:t>Senão Se;</a:t>
            </a:r>
            <a:endParaRPr/>
          </a:p>
          <a:p>
            <a:pPr indent="-342900" lvl="0" marL="457200" rtl="0" algn="just">
              <a:lnSpc>
                <a:spcPct val="115000"/>
              </a:lnSpc>
              <a:spcBef>
                <a:spcPts val="0"/>
              </a:spcBef>
              <a:spcAft>
                <a:spcPts val="0"/>
              </a:spcAft>
              <a:buSzPts val="1800"/>
              <a:buChar char="•"/>
            </a:pPr>
            <a:r>
              <a:rPr lang="pt-BR"/>
              <a:t>Escolha/Caso.</a:t>
            </a:r>
            <a:endParaRPr/>
          </a:p>
        </p:txBody>
      </p:sp>
      <p:sp>
        <p:nvSpPr>
          <p:cNvPr id="489" name="Google Shape;489;g1261e3f943e_0_67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Desvios Condicionais</a:t>
            </a:r>
            <a:endParaRPr/>
          </a:p>
        </p:txBody>
      </p:sp>
      <p:pic>
        <p:nvPicPr>
          <p:cNvPr id="490" name="Google Shape;490;g1261e3f943e_0_673"/>
          <p:cNvPicPr preferRelativeResize="0"/>
          <p:nvPr/>
        </p:nvPicPr>
        <p:blipFill rotWithShape="1">
          <a:blip r:embed="rId4">
            <a:alphaModFix/>
          </a:blip>
          <a:srcRect b="0" l="0" r="0" t="0"/>
          <a:stretch/>
        </p:blipFill>
        <p:spPr>
          <a:xfrm>
            <a:off x="8299382" y="1835257"/>
            <a:ext cx="3233700" cy="3598050"/>
          </a:xfrm>
          <a:prstGeom prst="rect">
            <a:avLst/>
          </a:prstGeom>
          <a:noFill/>
          <a:ln>
            <a:noFill/>
          </a:ln>
        </p:spPr>
      </p:pic>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94" name="Shape 494"/>
        <p:cNvGrpSpPr/>
        <p:nvPr/>
      </p:nvGrpSpPr>
      <p:grpSpPr>
        <a:xfrm>
          <a:off x="0" y="0"/>
          <a:ext cx="0" cy="0"/>
          <a:chOff x="0" y="0"/>
          <a:chExt cx="0" cy="0"/>
        </a:xfrm>
      </p:grpSpPr>
      <p:sp>
        <p:nvSpPr>
          <p:cNvPr id="495" name="Google Shape;495;g1261e3f943e_0_679"/>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800"/>
              <a:buNone/>
            </a:pPr>
            <a:r>
              <a:rPr lang="pt-BR"/>
              <a:t>Existem problemas que são repetitivos por natureza. Por exemplo, escrever um algoritmo para calcular a média de um aluno é algo fácil, mas se quisermos calcular a média da turma inteira? </a:t>
            </a:r>
            <a:endParaRPr/>
          </a:p>
        </p:txBody>
      </p:sp>
      <p:sp>
        <p:nvSpPr>
          <p:cNvPr id="496" name="Google Shape;496;g1261e3f943e_0_679"/>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Laços de Repetição</a:t>
            </a:r>
            <a:endParaRPr/>
          </a:p>
        </p:txBody>
      </p:sp>
      <p:pic>
        <p:nvPicPr>
          <p:cNvPr id="497" name="Google Shape;497;g1261e3f943e_0_679"/>
          <p:cNvPicPr preferRelativeResize="0"/>
          <p:nvPr/>
        </p:nvPicPr>
        <p:blipFill rotWithShape="1">
          <a:blip r:embed="rId4">
            <a:alphaModFix/>
          </a:blip>
          <a:srcRect b="0" l="0" r="0" t="0"/>
          <a:stretch/>
        </p:blipFill>
        <p:spPr>
          <a:xfrm>
            <a:off x="8844413" y="1928875"/>
            <a:ext cx="2600325" cy="3400425"/>
          </a:xfrm>
          <a:prstGeom prst="rect">
            <a:avLst/>
          </a:prstGeom>
          <a:noFill/>
          <a:ln>
            <a:noFill/>
          </a:ln>
        </p:spPr>
      </p:pic>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01" name="Shape 501"/>
        <p:cNvGrpSpPr/>
        <p:nvPr/>
      </p:nvGrpSpPr>
      <p:grpSpPr>
        <a:xfrm>
          <a:off x="0" y="0"/>
          <a:ext cx="0" cy="0"/>
          <a:chOff x="0" y="0"/>
          <a:chExt cx="0" cy="0"/>
        </a:xfrm>
      </p:grpSpPr>
      <p:sp>
        <p:nvSpPr>
          <p:cNvPr id="502" name="Google Shape;502;g1261e3f943e_0_685"/>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SzPts val="1800"/>
              <a:buNone/>
            </a:pPr>
            <a:r>
              <a:rPr lang="pt-BR"/>
              <a:t>A solução mais simples seria executar o algoritmo tantas vezes que o cálculo fosse necessário, embora esta tarefa seja um tanto trabalhosa. Mas se ainda, nesta conta ao final o professor quisesse que fosse mostrada a média mais alta e mais baixa da turma?	</a:t>
            </a:r>
            <a:endParaRPr/>
          </a:p>
          <a:p>
            <a:pPr indent="0" lvl="0" marL="0" rtl="0" algn="just">
              <a:lnSpc>
                <a:spcPct val="115000"/>
              </a:lnSpc>
              <a:spcBef>
                <a:spcPts val="1200"/>
              </a:spcBef>
              <a:spcAft>
                <a:spcPts val="1200"/>
              </a:spcAft>
              <a:buSzPts val="1800"/>
              <a:buNone/>
            </a:pPr>
            <a:r>
              <a:t/>
            </a:r>
            <a:endParaRPr/>
          </a:p>
        </p:txBody>
      </p:sp>
      <p:sp>
        <p:nvSpPr>
          <p:cNvPr id="503" name="Google Shape;503;g1261e3f943e_0_68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Laços de Repetição</a:t>
            </a:r>
            <a:endParaRPr/>
          </a:p>
        </p:txBody>
      </p:sp>
      <p:pic>
        <p:nvPicPr>
          <p:cNvPr id="504" name="Google Shape;504;g1261e3f943e_0_685"/>
          <p:cNvPicPr preferRelativeResize="0"/>
          <p:nvPr/>
        </p:nvPicPr>
        <p:blipFill rotWithShape="1">
          <a:blip r:embed="rId4">
            <a:alphaModFix/>
          </a:blip>
          <a:srcRect b="0" l="0" r="0" t="0"/>
          <a:stretch/>
        </p:blipFill>
        <p:spPr>
          <a:xfrm>
            <a:off x="8844413" y="1928875"/>
            <a:ext cx="2600325" cy="3400425"/>
          </a:xfrm>
          <a:prstGeom prst="rect">
            <a:avLst/>
          </a:prstGeom>
          <a:noFill/>
          <a:ln>
            <a:noFill/>
          </a:ln>
        </p:spPr>
      </p:pic>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08" name="Shape 508"/>
        <p:cNvGrpSpPr/>
        <p:nvPr/>
      </p:nvGrpSpPr>
      <p:grpSpPr>
        <a:xfrm>
          <a:off x="0" y="0"/>
          <a:ext cx="0" cy="0"/>
          <a:chOff x="0" y="0"/>
          <a:chExt cx="0" cy="0"/>
        </a:xfrm>
      </p:grpSpPr>
      <p:sp>
        <p:nvSpPr>
          <p:cNvPr id="509" name="Google Shape;509;g1261e3f943e_0_691"/>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SzPts val="1800"/>
              <a:buNone/>
            </a:pPr>
            <a:r>
              <a:rPr lang="pt-BR"/>
              <a:t>Esse e outros problemas podem ser resolvidos com a utilização de laços de repetição. Um laço de repetição, como sugere o próprio nome, é um comando onde uma quantidade de comandos se repete até que uma determinada condição seja verdadeira.			</a:t>
            </a:r>
            <a:endParaRPr/>
          </a:p>
          <a:p>
            <a:pPr indent="0" lvl="0" marL="0" rtl="0" algn="just">
              <a:lnSpc>
                <a:spcPct val="115000"/>
              </a:lnSpc>
              <a:spcBef>
                <a:spcPts val="1200"/>
              </a:spcBef>
              <a:spcAft>
                <a:spcPts val="1200"/>
              </a:spcAft>
              <a:buSzPts val="1800"/>
              <a:buNone/>
            </a:pPr>
            <a:r>
              <a:t/>
            </a:r>
            <a:endParaRPr/>
          </a:p>
        </p:txBody>
      </p:sp>
      <p:sp>
        <p:nvSpPr>
          <p:cNvPr id="510" name="Google Shape;510;g1261e3f943e_0_69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Laços de Repetição</a:t>
            </a:r>
            <a:endParaRPr/>
          </a:p>
        </p:txBody>
      </p:sp>
      <p:pic>
        <p:nvPicPr>
          <p:cNvPr id="511" name="Google Shape;511;g1261e3f943e_0_691"/>
          <p:cNvPicPr preferRelativeResize="0"/>
          <p:nvPr/>
        </p:nvPicPr>
        <p:blipFill rotWithShape="1">
          <a:blip r:embed="rId4">
            <a:alphaModFix/>
          </a:blip>
          <a:srcRect b="0" l="0" r="0" t="0"/>
          <a:stretch/>
        </p:blipFill>
        <p:spPr>
          <a:xfrm>
            <a:off x="8844413" y="1928875"/>
            <a:ext cx="2600325" cy="3400425"/>
          </a:xfrm>
          <a:prstGeom prst="rect">
            <a:avLst/>
          </a:prstGeom>
          <a:noFill/>
          <a:ln>
            <a:noFill/>
          </a:ln>
        </p:spPr>
      </p:pic>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15" name="Shape 515"/>
        <p:cNvGrpSpPr/>
        <p:nvPr/>
      </p:nvGrpSpPr>
      <p:grpSpPr>
        <a:xfrm>
          <a:off x="0" y="0"/>
          <a:ext cx="0" cy="0"/>
          <a:chOff x="0" y="0"/>
          <a:chExt cx="0" cy="0"/>
        </a:xfrm>
      </p:grpSpPr>
      <p:sp>
        <p:nvSpPr>
          <p:cNvPr id="516" name="Google Shape;516;g1261e3f943e_0_697"/>
          <p:cNvSpPr txBox="1"/>
          <p:nvPr>
            <p:ph idx="1" type="body"/>
          </p:nvPr>
        </p:nvSpPr>
        <p:spPr>
          <a:xfrm>
            <a:off x="555375" y="18352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SzPts val="1800"/>
              <a:buNone/>
            </a:pPr>
            <a:r>
              <a:rPr lang="pt-BR"/>
              <a:t>O Portugol contém três tipos de laços de repetição: </a:t>
            </a:r>
            <a:endParaRPr/>
          </a:p>
          <a:p>
            <a:pPr indent="-342900" lvl="0" marL="457200" rtl="0" algn="just">
              <a:lnSpc>
                <a:spcPct val="115000"/>
              </a:lnSpc>
              <a:spcBef>
                <a:spcPts val="1200"/>
              </a:spcBef>
              <a:spcAft>
                <a:spcPts val="0"/>
              </a:spcAft>
              <a:buSzPts val="1800"/>
              <a:buChar char="•"/>
            </a:pPr>
            <a:r>
              <a:rPr lang="pt-BR"/>
              <a:t>pré-testado: Enquanto</a:t>
            </a:r>
            <a:endParaRPr/>
          </a:p>
          <a:p>
            <a:pPr indent="-342900" lvl="0" marL="457200" rtl="0" algn="just">
              <a:lnSpc>
                <a:spcPct val="115000"/>
              </a:lnSpc>
              <a:spcBef>
                <a:spcPts val="0"/>
              </a:spcBef>
              <a:spcAft>
                <a:spcPts val="0"/>
              </a:spcAft>
              <a:buSzPts val="1800"/>
              <a:buChar char="•"/>
            </a:pPr>
            <a:r>
              <a:rPr lang="pt-BR"/>
              <a:t>pós-testado: Faça/Enquanto</a:t>
            </a:r>
            <a:endParaRPr/>
          </a:p>
          <a:p>
            <a:pPr indent="-342900" lvl="0" marL="457200" rtl="0" algn="just">
              <a:lnSpc>
                <a:spcPct val="115000"/>
              </a:lnSpc>
              <a:spcBef>
                <a:spcPts val="0"/>
              </a:spcBef>
              <a:spcAft>
                <a:spcPts val="0"/>
              </a:spcAft>
              <a:buSzPts val="1800"/>
              <a:buChar char="•"/>
            </a:pPr>
            <a:r>
              <a:rPr lang="pt-BR"/>
              <a:t>laço com variável de controle: Para</a:t>
            </a:r>
            <a:endParaRPr/>
          </a:p>
        </p:txBody>
      </p:sp>
      <p:sp>
        <p:nvSpPr>
          <p:cNvPr id="517" name="Google Shape;517;g1261e3f943e_0_69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Laços de Repetição</a:t>
            </a:r>
            <a:endParaRPr/>
          </a:p>
        </p:txBody>
      </p:sp>
      <p:pic>
        <p:nvPicPr>
          <p:cNvPr id="518" name="Google Shape;518;g1261e3f943e_0_697"/>
          <p:cNvPicPr preferRelativeResize="0"/>
          <p:nvPr/>
        </p:nvPicPr>
        <p:blipFill rotWithShape="1">
          <a:blip r:embed="rId4">
            <a:alphaModFix/>
          </a:blip>
          <a:srcRect b="0" l="0" r="0" t="0"/>
          <a:stretch/>
        </p:blipFill>
        <p:spPr>
          <a:xfrm>
            <a:off x="8844413" y="1928875"/>
            <a:ext cx="2600325" cy="3400425"/>
          </a:xfrm>
          <a:prstGeom prst="rect">
            <a:avLst/>
          </a:prstGeom>
          <a:noFill/>
          <a:ln>
            <a:noFill/>
          </a:ln>
        </p:spPr>
      </p:pic>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22" name="Shape 522"/>
        <p:cNvGrpSpPr/>
        <p:nvPr/>
      </p:nvGrpSpPr>
      <p:grpSpPr>
        <a:xfrm>
          <a:off x="0" y="0"/>
          <a:ext cx="0" cy="0"/>
          <a:chOff x="0" y="0"/>
          <a:chExt cx="0" cy="0"/>
        </a:xfrm>
      </p:grpSpPr>
      <p:sp>
        <p:nvSpPr>
          <p:cNvPr id="523" name="Google Shape;523;g1261e3f943e_0_771"/>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Desvios Condicionais (Se, Senão, Senão Se).</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27" name="Shape 527"/>
        <p:cNvGrpSpPr/>
        <p:nvPr/>
      </p:nvGrpSpPr>
      <p:grpSpPr>
        <a:xfrm>
          <a:off x="0" y="0"/>
          <a:ext cx="0" cy="0"/>
          <a:chOff x="0" y="0"/>
          <a:chExt cx="0" cy="0"/>
        </a:xfrm>
      </p:grpSpPr>
      <p:sp>
        <p:nvSpPr>
          <p:cNvPr id="528" name="Google Shape;528;g1261e3f943e_0_775"/>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500"/>
              <a:t>Aqui veremos como dizer a um algoritmo quando um conjunto de instruções deve ser executado. Esta determinação estabelecida se uma condição for verdadeira. Mas o que seria esta condição? Ao executar um teste lógico teremos como resultado um valor verdadeiro ou falso. A condição descrita anteriormente nada mais é que um teste lógico.</a:t>
            </a:r>
            <a:endParaRPr sz="2500"/>
          </a:p>
        </p:txBody>
      </p:sp>
      <p:sp>
        <p:nvSpPr>
          <p:cNvPr id="529" name="Google Shape;529;g1261e3f943e_0_77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a:t>
            </a:r>
            <a:endParaRPr/>
          </a:p>
        </p:txBody>
      </p:sp>
      <p:pic>
        <p:nvPicPr>
          <p:cNvPr id="530" name="Google Shape;530;g1261e3f943e_0_775"/>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34" name="Shape 534"/>
        <p:cNvGrpSpPr/>
        <p:nvPr/>
      </p:nvGrpSpPr>
      <p:grpSpPr>
        <a:xfrm>
          <a:off x="0" y="0"/>
          <a:ext cx="0" cy="0"/>
          <a:chOff x="0" y="0"/>
          <a:chExt cx="0" cy="0"/>
        </a:xfrm>
      </p:grpSpPr>
      <p:sp>
        <p:nvSpPr>
          <p:cNvPr id="535" name="Google Shape;535;g1261e3f943e_0_781"/>
          <p:cNvSpPr txBox="1"/>
          <p:nvPr>
            <p:ph idx="1" type="body"/>
          </p:nvPr>
        </p:nvSpPr>
        <p:spPr>
          <a:xfrm>
            <a:off x="513550" y="18493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pt-BR" sz="2500"/>
              <a:t>Se este teste lógico resultar verdadeiro, as instruções definidas dentro do desvio condicional serão executadas. Se o teste for falso, o algoritmo pulará o trecho e continuará sua execução a partir do ponto onde o desvio condicional foi finalizado.</a:t>
            </a:r>
            <a:endParaRPr sz="2500"/>
          </a:p>
          <a:p>
            <a:pPr indent="0" lvl="0" marL="114300" rtl="0" algn="just">
              <a:lnSpc>
                <a:spcPct val="100000"/>
              </a:lnSpc>
              <a:spcBef>
                <a:spcPts val="1200"/>
              </a:spcBef>
              <a:spcAft>
                <a:spcPts val="0"/>
              </a:spcAft>
              <a:buSzPts val="1800"/>
              <a:buNone/>
            </a:pPr>
            <a:r>
              <a:t/>
            </a:r>
            <a:endParaRPr sz="2500"/>
          </a:p>
        </p:txBody>
      </p:sp>
      <p:sp>
        <p:nvSpPr>
          <p:cNvPr id="536" name="Google Shape;536;g1261e3f943e_0_78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a:t>
            </a:r>
            <a:endParaRPr/>
          </a:p>
        </p:txBody>
      </p:sp>
      <p:pic>
        <p:nvPicPr>
          <p:cNvPr id="537" name="Google Shape;537;g1261e3f943e_0_781"/>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41" name="Shape 541"/>
        <p:cNvGrpSpPr/>
        <p:nvPr/>
      </p:nvGrpSpPr>
      <p:grpSpPr>
        <a:xfrm>
          <a:off x="0" y="0"/>
          <a:ext cx="0" cy="0"/>
          <a:chOff x="0" y="0"/>
          <a:chExt cx="0" cy="0"/>
        </a:xfrm>
      </p:grpSpPr>
      <p:sp>
        <p:nvSpPr>
          <p:cNvPr id="542" name="Google Shape;542;g1261e3f943e_0_787"/>
          <p:cNvSpPr txBox="1"/>
          <p:nvPr>
            <p:ph idx="1" type="body"/>
          </p:nvPr>
        </p:nvSpPr>
        <p:spPr>
          <a:xfrm>
            <a:off x="513550" y="1504200"/>
            <a:ext cx="10261200" cy="24576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500"/>
              <a:t>O desvio condicional que foi acima apresentado é considerado simples e conhecido como o comando </a:t>
            </a:r>
            <a:r>
              <a:rPr b="1" lang="pt-BR" sz="2500"/>
              <a:t>se.</a:t>
            </a:r>
            <a:endParaRPr sz="2500"/>
          </a:p>
        </p:txBody>
      </p:sp>
      <p:sp>
        <p:nvSpPr>
          <p:cNvPr id="543" name="Google Shape;543;g1261e3f943e_0_78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a:t>
            </a:r>
            <a:endParaRPr/>
          </a:p>
        </p:txBody>
      </p:sp>
      <p:pic>
        <p:nvPicPr>
          <p:cNvPr id="544" name="Google Shape;544;g1261e3f943e_0_787"/>
          <p:cNvPicPr preferRelativeResize="0"/>
          <p:nvPr/>
        </p:nvPicPr>
        <p:blipFill rotWithShape="1">
          <a:blip r:embed="rId4">
            <a:alphaModFix/>
          </a:blip>
          <a:srcRect b="0" l="0" r="0" t="0"/>
          <a:stretch/>
        </p:blipFill>
        <p:spPr>
          <a:xfrm>
            <a:off x="3117550" y="2623900"/>
            <a:ext cx="5956900" cy="3335875"/>
          </a:xfrm>
          <a:prstGeom prst="rect">
            <a:avLst/>
          </a:prstGeom>
          <a:noFill/>
          <a:ln>
            <a:noFill/>
          </a:ln>
        </p:spPr>
      </p:pic>
      <p:sp>
        <p:nvSpPr>
          <p:cNvPr id="545" name="Google Shape;545;g1261e3f943e_0_787"/>
          <p:cNvSpPr txBox="1"/>
          <p:nvPr/>
        </p:nvSpPr>
        <p:spPr>
          <a:xfrm>
            <a:off x="990425" y="3451500"/>
            <a:ext cx="720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49" name="Shape 549"/>
        <p:cNvGrpSpPr/>
        <p:nvPr/>
      </p:nvGrpSpPr>
      <p:grpSpPr>
        <a:xfrm>
          <a:off x="0" y="0"/>
          <a:ext cx="0" cy="0"/>
          <a:chOff x="0" y="0"/>
          <a:chExt cx="0" cy="0"/>
        </a:xfrm>
      </p:grpSpPr>
      <p:sp>
        <p:nvSpPr>
          <p:cNvPr id="550" name="Google Shape;550;g1261e3f943e_0_794"/>
          <p:cNvSpPr txBox="1"/>
          <p:nvPr>
            <p:ph idx="1" type="body"/>
          </p:nvPr>
        </p:nvSpPr>
        <p:spPr>
          <a:xfrm>
            <a:off x="5975950" y="2118550"/>
            <a:ext cx="6044400" cy="24576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200"/>
              <a:t>A figura ilustra um algoritmo que verifica se o número digitado pelo usuário é zero. Ele faz isso usando um desvio condicional. Note que se o teste for verdadeiro exibirá uma mensagem, no caso falso nenhuma ação realizada.</a:t>
            </a:r>
            <a:endParaRPr sz="2200"/>
          </a:p>
        </p:txBody>
      </p:sp>
      <p:sp>
        <p:nvSpPr>
          <p:cNvPr id="551" name="Google Shape;551;g1261e3f943e_0_794"/>
          <p:cNvSpPr txBox="1"/>
          <p:nvPr>
            <p:ph type="title"/>
          </p:nvPr>
        </p:nvSpPr>
        <p:spPr>
          <a:xfrm>
            <a:off x="6834675" y="674325"/>
            <a:ext cx="4534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a:t>
            </a:r>
            <a:endParaRPr/>
          </a:p>
        </p:txBody>
      </p:sp>
      <p:pic>
        <p:nvPicPr>
          <p:cNvPr id="552" name="Google Shape;552;g1261e3f943e_0_794"/>
          <p:cNvPicPr preferRelativeResize="0"/>
          <p:nvPr/>
        </p:nvPicPr>
        <p:blipFill rotWithShape="1">
          <a:blip r:embed="rId4">
            <a:alphaModFix/>
          </a:blip>
          <a:srcRect b="0" l="0" r="0" t="0"/>
          <a:stretch/>
        </p:blipFill>
        <p:spPr>
          <a:xfrm>
            <a:off x="748150" y="327875"/>
            <a:ext cx="4534150" cy="5798850"/>
          </a:xfrm>
          <a:prstGeom prst="rect">
            <a:avLst/>
          </a:prstGeom>
          <a:noFill/>
          <a:ln>
            <a:noFill/>
          </a:ln>
        </p:spPr>
      </p:pic>
      <p:sp>
        <p:nvSpPr>
          <p:cNvPr id="553" name="Google Shape;553;g1261e3f943e_0_794"/>
          <p:cNvSpPr txBox="1"/>
          <p:nvPr/>
        </p:nvSpPr>
        <p:spPr>
          <a:xfrm>
            <a:off x="990425" y="3451500"/>
            <a:ext cx="720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57" name="Shape 557"/>
        <p:cNvGrpSpPr/>
        <p:nvPr/>
      </p:nvGrpSpPr>
      <p:grpSpPr>
        <a:xfrm>
          <a:off x="0" y="0"/>
          <a:ext cx="0" cy="0"/>
          <a:chOff x="0" y="0"/>
          <a:chExt cx="0" cy="0"/>
        </a:xfrm>
      </p:grpSpPr>
      <p:sp>
        <p:nvSpPr>
          <p:cNvPr id="558" name="Google Shape;558;g1261e3f943e_0_801"/>
          <p:cNvSpPr txBox="1"/>
          <p:nvPr>
            <p:ph type="title"/>
          </p:nvPr>
        </p:nvSpPr>
        <p:spPr>
          <a:xfrm>
            <a:off x="5765850" y="327875"/>
            <a:ext cx="4534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a:t>
            </a:r>
            <a:endParaRPr/>
          </a:p>
        </p:txBody>
      </p:sp>
      <p:pic>
        <p:nvPicPr>
          <p:cNvPr id="559" name="Google Shape;559;g1261e3f943e_0_801"/>
          <p:cNvPicPr preferRelativeResize="0"/>
          <p:nvPr/>
        </p:nvPicPr>
        <p:blipFill rotWithShape="1">
          <a:blip r:embed="rId4">
            <a:alphaModFix/>
          </a:blip>
          <a:srcRect b="0" l="0" r="0" t="0"/>
          <a:stretch/>
        </p:blipFill>
        <p:spPr>
          <a:xfrm>
            <a:off x="748150" y="327875"/>
            <a:ext cx="4534150" cy="5798850"/>
          </a:xfrm>
          <a:prstGeom prst="rect">
            <a:avLst/>
          </a:prstGeom>
          <a:noFill/>
          <a:ln>
            <a:noFill/>
          </a:ln>
        </p:spPr>
      </p:pic>
      <p:sp>
        <p:nvSpPr>
          <p:cNvPr id="560" name="Google Shape;560;g1261e3f943e_0_801"/>
          <p:cNvSpPr txBox="1"/>
          <p:nvPr/>
        </p:nvSpPr>
        <p:spPr>
          <a:xfrm>
            <a:off x="990425" y="3451500"/>
            <a:ext cx="720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561" name="Google Shape;561;g1261e3f943e_0_801"/>
          <p:cNvPicPr preferRelativeResize="0"/>
          <p:nvPr/>
        </p:nvPicPr>
        <p:blipFill rotWithShape="1">
          <a:blip r:embed="rId5">
            <a:alphaModFix/>
          </a:blip>
          <a:srcRect b="0" l="0" r="0" t="0"/>
          <a:stretch/>
        </p:blipFill>
        <p:spPr>
          <a:xfrm>
            <a:off x="6501175" y="1530900"/>
            <a:ext cx="3643250" cy="4241400"/>
          </a:xfrm>
          <a:prstGeom prst="rect">
            <a:avLst/>
          </a:prstGeom>
          <a:noFill/>
          <a:ln>
            <a:noFill/>
          </a:ln>
        </p:spPr>
      </p:pic>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65" name="Shape 565"/>
        <p:cNvGrpSpPr/>
        <p:nvPr/>
      </p:nvGrpSpPr>
      <p:grpSpPr>
        <a:xfrm>
          <a:off x="0" y="0"/>
          <a:ext cx="0" cy="0"/>
          <a:chOff x="0" y="0"/>
          <a:chExt cx="0" cy="0"/>
        </a:xfrm>
      </p:grpSpPr>
      <p:sp>
        <p:nvSpPr>
          <p:cNvPr id="566" name="Google Shape;566;g1261e3f943e_0_808"/>
          <p:cNvSpPr txBox="1"/>
          <p:nvPr>
            <p:ph idx="1" type="body"/>
          </p:nvPr>
        </p:nvSpPr>
        <p:spPr>
          <a:xfrm>
            <a:off x="513550" y="1849350"/>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Agora vamos imaginar que se a condição for falsa um outro conjunto de comandos deve ser executado. Quando iremos encontrar esta situação?</a:t>
            </a:r>
            <a:endParaRPr sz="2500"/>
          </a:p>
        </p:txBody>
      </p:sp>
      <p:sp>
        <p:nvSpPr>
          <p:cNvPr id="567" name="Google Shape;567;g1261e3f943e_0_808"/>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Senão</a:t>
            </a:r>
            <a:endParaRPr/>
          </a:p>
        </p:txBody>
      </p:sp>
      <p:pic>
        <p:nvPicPr>
          <p:cNvPr id="568" name="Google Shape;568;g1261e3f943e_0_808"/>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72" name="Shape 572"/>
        <p:cNvGrpSpPr/>
        <p:nvPr/>
      </p:nvGrpSpPr>
      <p:grpSpPr>
        <a:xfrm>
          <a:off x="0" y="0"/>
          <a:ext cx="0" cy="0"/>
          <a:chOff x="0" y="0"/>
          <a:chExt cx="0" cy="0"/>
        </a:xfrm>
      </p:grpSpPr>
      <p:sp>
        <p:nvSpPr>
          <p:cNvPr id="573" name="Google Shape;573;g1261e3f943e_0_814"/>
          <p:cNvSpPr txBox="1"/>
          <p:nvPr>
            <p:ph idx="1" type="body"/>
          </p:nvPr>
        </p:nvSpPr>
        <p:spPr>
          <a:xfrm>
            <a:off x="513550" y="1579825"/>
            <a:ext cx="7108200" cy="44076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Imagine um programa onde um aluno com média final igual ou maior a 6 é aprovado. Se quisermos construir um algoritmo onde após calculada a média, seja mostrada na tela uma mensagem indicando se o aluno foi aprovado ou reprovado. Como fazer isto? Utilizando o comando se junto com o senao.</a:t>
            </a:r>
            <a:endParaRPr sz="2500"/>
          </a:p>
        </p:txBody>
      </p:sp>
      <p:sp>
        <p:nvSpPr>
          <p:cNvPr id="574" name="Google Shape;574;g1261e3f943e_0_814"/>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Senão</a:t>
            </a:r>
            <a:endParaRPr/>
          </a:p>
        </p:txBody>
      </p:sp>
      <p:pic>
        <p:nvPicPr>
          <p:cNvPr id="575" name="Google Shape;575;g1261e3f943e_0_814"/>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g1261e3f943e_0_820"/>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Senão</a:t>
            </a:r>
            <a:endParaRPr/>
          </a:p>
        </p:txBody>
      </p:sp>
      <p:pic>
        <p:nvPicPr>
          <p:cNvPr id="581" name="Google Shape;581;g1261e3f943e_0_820"/>
          <p:cNvPicPr preferRelativeResize="0"/>
          <p:nvPr/>
        </p:nvPicPr>
        <p:blipFill rotWithShape="1">
          <a:blip r:embed="rId4">
            <a:alphaModFix/>
          </a:blip>
          <a:srcRect b="0" l="0" r="0" t="0"/>
          <a:stretch/>
        </p:blipFill>
        <p:spPr>
          <a:xfrm>
            <a:off x="2716224" y="1905825"/>
            <a:ext cx="7358975" cy="3376925"/>
          </a:xfrm>
          <a:prstGeom prst="rect">
            <a:avLst/>
          </a:prstGeom>
          <a:noFill/>
          <a:ln>
            <a:noFill/>
          </a:ln>
        </p:spPr>
      </p:pic>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85" name="Shape 585"/>
        <p:cNvGrpSpPr/>
        <p:nvPr/>
      </p:nvGrpSpPr>
      <p:grpSpPr>
        <a:xfrm>
          <a:off x="0" y="0"/>
          <a:ext cx="0" cy="0"/>
          <a:chOff x="0" y="0"/>
          <a:chExt cx="0" cy="0"/>
        </a:xfrm>
      </p:grpSpPr>
      <p:sp>
        <p:nvSpPr>
          <p:cNvPr id="586" name="Google Shape;586;g1261e3f943e_0_82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Senão</a:t>
            </a:r>
            <a:endParaRPr/>
          </a:p>
        </p:txBody>
      </p:sp>
      <p:pic>
        <p:nvPicPr>
          <p:cNvPr id="587" name="Google Shape;587;g1261e3f943e_0_825"/>
          <p:cNvPicPr preferRelativeResize="0"/>
          <p:nvPr/>
        </p:nvPicPr>
        <p:blipFill rotWithShape="1">
          <a:blip r:embed="rId4">
            <a:alphaModFix/>
          </a:blip>
          <a:srcRect b="0" l="0" r="0" t="0"/>
          <a:stretch/>
        </p:blipFill>
        <p:spPr>
          <a:xfrm>
            <a:off x="662600" y="526275"/>
            <a:ext cx="3869375" cy="5374125"/>
          </a:xfrm>
          <a:prstGeom prst="rect">
            <a:avLst/>
          </a:prstGeom>
          <a:noFill/>
          <a:ln>
            <a:noFill/>
          </a:ln>
        </p:spPr>
      </p:pic>
      <p:pic>
        <p:nvPicPr>
          <p:cNvPr id="588" name="Google Shape;588;g1261e3f943e_0_825"/>
          <p:cNvPicPr preferRelativeResize="0"/>
          <p:nvPr/>
        </p:nvPicPr>
        <p:blipFill rotWithShape="1">
          <a:blip r:embed="rId5">
            <a:alphaModFix/>
          </a:blip>
          <a:srcRect b="0" l="0" r="0" t="0"/>
          <a:stretch/>
        </p:blipFill>
        <p:spPr>
          <a:xfrm>
            <a:off x="7490600" y="320024"/>
            <a:ext cx="3119050" cy="5436875"/>
          </a:xfrm>
          <a:prstGeom prst="rect">
            <a:avLst/>
          </a:prstGeom>
          <a:noFill/>
          <a:ln>
            <a:noFill/>
          </a:ln>
        </p:spPr>
      </p:pic>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92" name="Shape 592"/>
        <p:cNvGrpSpPr/>
        <p:nvPr/>
      </p:nvGrpSpPr>
      <p:grpSpPr>
        <a:xfrm>
          <a:off x="0" y="0"/>
          <a:ext cx="0" cy="0"/>
          <a:chOff x="0" y="0"/>
          <a:chExt cx="0" cy="0"/>
        </a:xfrm>
      </p:grpSpPr>
      <p:sp>
        <p:nvSpPr>
          <p:cNvPr id="593" name="Google Shape;593;g1261e3f943e_0_831"/>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pt-BR"/>
              <a:t>Agora imagine que você precise verificar a nota da prova de um aluno e falar se ele foi muito bem, bem, razoável ou mau em uma prova como fazer isto ?	</a:t>
            </a:r>
            <a:endParaRPr/>
          </a:p>
          <a:p>
            <a:pPr indent="0" lvl="0" marL="0" rtl="0" algn="just">
              <a:lnSpc>
                <a:spcPct val="115000"/>
              </a:lnSpc>
              <a:spcBef>
                <a:spcPts val="1200"/>
              </a:spcBef>
              <a:spcAft>
                <a:spcPts val="1200"/>
              </a:spcAft>
              <a:buClr>
                <a:schemeClr val="dk1"/>
              </a:buClr>
              <a:buSzPts val="1100"/>
              <a:buFont typeface="Arial"/>
              <a:buNone/>
            </a:pPr>
            <a:r>
              <a:t/>
            </a:r>
            <a:endParaRPr/>
          </a:p>
        </p:txBody>
      </p:sp>
      <p:sp>
        <p:nvSpPr>
          <p:cNvPr id="594" name="Google Shape;594;g1261e3f943e_0_83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Senão Se</a:t>
            </a:r>
            <a:endParaRPr/>
          </a:p>
        </p:txBody>
      </p:sp>
      <p:pic>
        <p:nvPicPr>
          <p:cNvPr id="595" name="Google Shape;595;g1261e3f943e_0_831"/>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99" name="Shape 599"/>
        <p:cNvGrpSpPr/>
        <p:nvPr/>
      </p:nvGrpSpPr>
      <p:grpSpPr>
        <a:xfrm>
          <a:off x="0" y="0"/>
          <a:ext cx="0" cy="0"/>
          <a:chOff x="0" y="0"/>
          <a:chExt cx="0" cy="0"/>
        </a:xfrm>
      </p:grpSpPr>
      <p:sp>
        <p:nvSpPr>
          <p:cNvPr id="600" name="Google Shape;600;g1261e3f943e_0_837"/>
          <p:cNvSpPr txBox="1"/>
          <p:nvPr>
            <p:ph idx="1" type="body"/>
          </p:nvPr>
        </p:nvSpPr>
        <p:spPr>
          <a:xfrm>
            <a:off x="498550" y="1579825"/>
            <a:ext cx="113415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Quando você precisa verificar se uma condição é verdadeira, e se não for, precise verificar se outra condição é verdadeira uma das formas de se fazer esta verificação é utilizando do </a:t>
            </a:r>
            <a:r>
              <a:rPr b="1" lang="pt-BR"/>
              <a:t>se </a:t>
            </a:r>
            <a:r>
              <a:rPr lang="pt-BR"/>
              <a:t>... </a:t>
            </a:r>
            <a:r>
              <a:rPr b="1" lang="pt-BR"/>
              <a:t>senão se;</a:t>
            </a:r>
            <a:endParaRPr b="1"/>
          </a:p>
        </p:txBody>
      </p:sp>
      <p:sp>
        <p:nvSpPr>
          <p:cNvPr id="601" name="Google Shape;601;g1261e3f943e_0_83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Senão Se</a:t>
            </a:r>
            <a:endParaRPr/>
          </a:p>
        </p:txBody>
      </p:sp>
      <p:pic>
        <p:nvPicPr>
          <p:cNvPr id="602" name="Google Shape;602;g1261e3f943e_0_837"/>
          <p:cNvPicPr preferRelativeResize="0"/>
          <p:nvPr/>
        </p:nvPicPr>
        <p:blipFill rotWithShape="1">
          <a:blip r:embed="rId4">
            <a:alphaModFix/>
          </a:blip>
          <a:srcRect b="0" l="0" r="0" t="0"/>
          <a:stretch/>
        </p:blipFill>
        <p:spPr>
          <a:xfrm>
            <a:off x="498550" y="3495225"/>
            <a:ext cx="6074325" cy="2222800"/>
          </a:xfrm>
          <a:prstGeom prst="rect">
            <a:avLst/>
          </a:prstGeom>
          <a:noFill/>
          <a:ln>
            <a:noFill/>
          </a:ln>
        </p:spPr>
      </p:pic>
      <p:pic>
        <p:nvPicPr>
          <p:cNvPr id="603" name="Google Shape;603;g1261e3f943e_0_837"/>
          <p:cNvPicPr preferRelativeResize="0"/>
          <p:nvPr/>
        </p:nvPicPr>
        <p:blipFill rotWithShape="1">
          <a:blip r:embed="rId5">
            <a:alphaModFix/>
          </a:blip>
          <a:srcRect b="0" l="0" r="0" t="0"/>
          <a:stretch/>
        </p:blipFill>
        <p:spPr>
          <a:xfrm>
            <a:off x="6717125" y="3539825"/>
            <a:ext cx="5038725" cy="2133600"/>
          </a:xfrm>
          <a:prstGeom prst="rect">
            <a:avLst/>
          </a:prstGeom>
          <a:noFill/>
          <a:ln>
            <a:noFill/>
          </a:ln>
        </p:spPr>
      </p:pic>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07" name="Shape 607"/>
        <p:cNvGrpSpPr/>
        <p:nvPr/>
      </p:nvGrpSpPr>
      <p:grpSpPr>
        <a:xfrm>
          <a:off x="0" y="0"/>
          <a:ext cx="0" cy="0"/>
          <a:chOff x="0" y="0"/>
          <a:chExt cx="0" cy="0"/>
        </a:xfrm>
      </p:grpSpPr>
      <p:sp>
        <p:nvSpPr>
          <p:cNvPr id="608" name="Google Shape;608;g1261e3f943e_0_912"/>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Desvios Condicionais (Escolha e Caso).</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12" name="Shape 612"/>
        <p:cNvGrpSpPr/>
        <p:nvPr/>
      </p:nvGrpSpPr>
      <p:grpSpPr>
        <a:xfrm>
          <a:off x="0" y="0"/>
          <a:ext cx="0" cy="0"/>
          <a:chOff x="0" y="0"/>
          <a:chExt cx="0" cy="0"/>
        </a:xfrm>
      </p:grpSpPr>
      <p:sp>
        <p:nvSpPr>
          <p:cNvPr id="613" name="Google Shape;613;g1261e3f943e_0_916"/>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Qual a melhor forma para programar um menu de, por exemplo, uma calculadora? Esta tarefa poderia ser executada através de desvios condicionais </a:t>
            </a:r>
            <a:r>
              <a:rPr b="1" lang="pt-BR"/>
              <a:t>se e senão</a:t>
            </a:r>
            <a:r>
              <a:rPr lang="pt-BR"/>
              <a:t>, porém esta solução seria complexa e demorada. </a:t>
            </a:r>
            <a:endParaRPr sz="2500"/>
          </a:p>
        </p:txBody>
      </p:sp>
      <p:sp>
        <p:nvSpPr>
          <p:cNvPr id="614" name="Google Shape;614;g1261e3f943e_0_916"/>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Escolha e Caso</a:t>
            </a:r>
            <a:endParaRPr/>
          </a:p>
        </p:txBody>
      </p:sp>
      <p:pic>
        <p:nvPicPr>
          <p:cNvPr id="615" name="Google Shape;615;g1261e3f943e_0_916"/>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19" name="Shape 619"/>
        <p:cNvGrpSpPr/>
        <p:nvPr/>
      </p:nvGrpSpPr>
      <p:grpSpPr>
        <a:xfrm>
          <a:off x="0" y="0"/>
          <a:ext cx="0" cy="0"/>
          <a:chOff x="0" y="0"/>
          <a:chExt cx="0" cy="0"/>
        </a:xfrm>
      </p:grpSpPr>
      <p:sp>
        <p:nvSpPr>
          <p:cNvPr id="620" name="Google Shape;620;g1261e3f943e_0_922"/>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pt-BR"/>
              <a:t>Pode-se executar esta tarefa de uma maneira melhor, através de outro tipo de desvio condicional: a </a:t>
            </a:r>
            <a:r>
              <a:rPr b="1" lang="pt-BR"/>
              <a:t>escolha </a:t>
            </a:r>
            <a:r>
              <a:rPr lang="pt-BR"/>
              <a:t>junto com o </a:t>
            </a:r>
            <a:r>
              <a:rPr b="1" lang="pt-BR"/>
              <a:t>caso</a:t>
            </a:r>
            <a:r>
              <a:rPr lang="pt-BR"/>
              <a:t>. Este comando é similar aos comandos </a:t>
            </a:r>
            <a:r>
              <a:rPr b="1" lang="pt-BR"/>
              <a:t>se e senão</a:t>
            </a:r>
            <a:r>
              <a:rPr lang="pt-BR"/>
              <a:t>, e reduz a complexidade do problema.</a:t>
            </a:r>
            <a:endParaRPr/>
          </a:p>
          <a:p>
            <a:pPr indent="0" lvl="0" marL="0" rtl="0" algn="just">
              <a:lnSpc>
                <a:spcPct val="115000"/>
              </a:lnSpc>
              <a:spcBef>
                <a:spcPts val="1200"/>
              </a:spcBef>
              <a:spcAft>
                <a:spcPts val="1200"/>
              </a:spcAft>
              <a:buClr>
                <a:schemeClr val="dk1"/>
              </a:buClr>
              <a:buSzPts val="1100"/>
              <a:buFont typeface="Arial"/>
              <a:buNone/>
            </a:pPr>
            <a:r>
              <a:t/>
            </a:r>
            <a:endParaRPr sz="2500"/>
          </a:p>
        </p:txBody>
      </p:sp>
      <p:sp>
        <p:nvSpPr>
          <p:cNvPr id="621" name="Google Shape;621;g1261e3f943e_0_922"/>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Escolha e Caso</a:t>
            </a:r>
            <a:endParaRPr/>
          </a:p>
        </p:txBody>
      </p:sp>
      <p:pic>
        <p:nvPicPr>
          <p:cNvPr id="622" name="Google Shape;622;g1261e3f943e_0_922"/>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26" name="Shape 626"/>
        <p:cNvGrpSpPr/>
        <p:nvPr/>
      </p:nvGrpSpPr>
      <p:grpSpPr>
        <a:xfrm>
          <a:off x="0" y="0"/>
          <a:ext cx="0" cy="0"/>
          <a:chOff x="0" y="0"/>
          <a:chExt cx="0" cy="0"/>
        </a:xfrm>
      </p:grpSpPr>
      <p:sp>
        <p:nvSpPr>
          <p:cNvPr id="627" name="Google Shape;627;g1261e3f943e_0_928"/>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Neste comando não é possível o uso de operadores lógicos, ele apenas trabalha com valores definidos, ou o valor é igual ou diferente. Além disto, a </a:t>
            </a:r>
            <a:r>
              <a:rPr b="1" lang="pt-BR"/>
              <a:t>escolha </a:t>
            </a:r>
            <a:r>
              <a:rPr lang="pt-BR"/>
              <a:t>e o </a:t>
            </a:r>
            <a:r>
              <a:rPr b="1" lang="pt-BR"/>
              <a:t>caso </a:t>
            </a:r>
            <a:r>
              <a:rPr lang="pt-BR"/>
              <a:t>tem alguns casos testes, e se a instrução não for colocada ao fim de cada um destes testes, o comando executará todos os casos existentes.</a:t>
            </a:r>
            <a:endParaRPr sz="2500"/>
          </a:p>
        </p:txBody>
      </p:sp>
      <p:sp>
        <p:nvSpPr>
          <p:cNvPr id="628" name="Google Shape;628;g1261e3f943e_0_928"/>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Escolha e Caso</a:t>
            </a:r>
            <a:endParaRPr/>
          </a:p>
        </p:txBody>
      </p:sp>
      <p:pic>
        <p:nvPicPr>
          <p:cNvPr id="629" name="Google Shape;629;g1261e3f943e_0_928"/>
          <p:cNvPicPr preferRelativeResize="0"/>
          <p:nvPr/>
        </p:nvPicPr>
        <p:blipFill rotWithShape="1">
          <a:blip r:embed="rId4">
            <a:alphaModFix/>
          </a:blip>
          <a:srcRect b="0" l="0" r="0" t="0"/>
          <a:stretch/>
        </p:blipFill>
        <p:spPr>
          <a:xfrm>
            <a:off x="8013500" y="2413900"/>
            <a:ext cx="3917926" cy="2677524"/>
          </a:xfrm>
          <a:prstGeom prst="rect">
            <a:avLst/>
          </a:prstGeom>
          <a:noFill/>
          <a:ln>
            <a:noFill/>
          </a:ln>
        </p:spPr>
      </p:pic>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33" name="Shape 633"/>
        <p:cNvGrpSpPr/>
        <p:nvPr/>
      </p:nvGrpSpPr>
      <p:grpSpPr>
        <a:xfrm>
          <a:off x="0" y="0"/>
          <a:ext cx="0" cy="0"/>
          <a:chOff x="0" y="0"/>
          <a:chExt cx="0" cy="0"/>
        </a:xfrm>
      </p:grpSpPr>
      <p:sp>
        <p:nvSpPr>
          <p:cNvPr id="634" name="Google Shape;634;g1261e3f943e_0_934"/>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Escolha e Caso</a:t>
            </a:r>
            <a:endParaRPr/>
          </a:p>
        </p:txBody>
      </p:sp>
      <p:pic>
        <p:nvPicPr>
          <p:cNvPr id="635" name="Google Shape;635;g1261e3f943e_0_934"/>
          <p:cNvPicPr preferRelativeResize="0"/>
          <p:nvPr/>
        </p:nvPicPr>
        <p:blipFill rotWithShape="1">
          <a:blip r:embed="rId4">
            <a:alphaModFix/>
          </a:blip>
          <a:srcRect b="0" l="0" r="0" t="0"/>
          <a:stretch/>
        </p:blipFill>
        <p:spPr>
          <a:xfrm>
            <a:off x="639900" y="1762125"/>
            <a:ext cx="5227549" cy="4225500"/>
          </a:xfrm>
          <a:prstGeom prst="rect">
            <a:avLst/>
          </a:prstGeom>
          <a:noFill/>
          <a:ln>
            <a:noFill/>
          </a:ln>
        </p:spPr>
      </p:pic>
      <p:pic>
        <p:nvPicPr>
          <p:cNvPr id="636" name="Google Shape;636;g1261e3f943e_0_934"/>
          <p:cNvPicPr preferRelativeResize="0"/>
          <p:nvPr/>
        </p:nvPicPr>
        <p:blipFill rotWithShape="1">
          <a:blip r:embed="rId5">
            <a:alphaModFix/>
          </a:blip>
          <a:srcRect b="0" l="0" r="0" t="0"/>
          <a:stretch/>
        </p:blipFill>
        <p:spPr>
          <a:xfrm>
            <a:off x="6169900" y="1852275"/>
            <a:ext cx="5227550" cy="3597265"/>
          </a:xfrm>
          <a:prstGeom prst="rect">
            <a:avLst/>
          </a:prstGeom>
          <a:noFill/>
          <a:ln>
            <a:noFill/>
          </a:ln>
        </p:spPr>
      </p:pic>
    </p:spTree>
  </p:cSld>
  <p:clrMapOvr>
    <a:masterClrMapping/>
  </p:clrMapOvr>
  <p:transition spd="med">
    <p:push/>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40" name="Shape 640"/>
        <p:cNvGrpSpPr/>
        <p:nvPr/>
      </p:nvGrpSpPr>
      <p:grpSpPr>
        <a:xfrm>
          <a:off x="0" y="0"/>
          <a:ext cx="0" cy="0"/>
          <a:chOff x="0" y="0"/>
          <a:chExt cx="0" cy="0"/>
        </a:xfrm>
      </p:grpSpPr>
      <p:sp>
        <p:nvSpPr>
          <p:cNvPr id="641" name="Google Shape;641;g1261e3f943e_0_940"/>
          <p:cNvSpPr txBox="1"/>
          <p:nvPr>
            <p:ph type="title"/>
          </p:nvPr>
        </p:nvSpPr>
        <p:spPr>
          <a:xfrm>
            <a:off x="-647450" y="13407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Escolha e Caso</a:t>
            </a:r>
            <a:endParaRPr/>
          </a:p>
        </p:txBody>
      </p:sp>
      <p:pic>
        <p:nvPicPr>
          <p:cNvPr id="642" name="Google Shape;642;g1261e3f943e_0_940"/>
          <p:cNvPicPr preferRelativeResize="0"/>
          <p:nvPr/>
        </p:nvPicPr>
        <p:blipFill rotWithShape="1">
          <a:blip r:embed="rId4">
            <a:alphaModFix/>
          </a:blip>
          <a:srcRect b="0" l="0" r="0" t="0"/>
          <a:stretch/>
        </p:blipFill>
        <p:spPr>
          <a:xfrm>
            <a:off x="1054950" y="1214575"/>
            <a:ext cx="5339999" cy="4940550"/>
          </a:xfrm>
          <a:prstGeom prst="rect">
            <a:avLst/>
          </a:prstGeom>
          <a:noFill/>
          <a:ln>
            <a:noFill/>
          </a:ln>
        </p:spPr>
      </p:pic>
      <p:pic>
        <p:nvPicPr>
          <p:cNvPr id="643" name="Google Shape;643;g1261e3f943e_0_940"/>
          <p:cNvPicPr preferRelativeResize="0"/>
          <p:nvPr/>
        </p:nvPicPr>
        <p:blipFill rotWithShape="1">
          <a:blip r:embed="rId5">
            <a:alphaModFix/>
          </a:blip>
          <a:srcRect b="0" l="0" r="0" t="0"/>
          <a:stretch/>
        </p:blipFill>
        <p:spPr>
          <a:xfrm>
            <a:off x="7265475" y="599500"/>
            <a:ext cx="3599250" cy="5250400"/>
          </a:xfrm>
          <a:prstGeom prst="rect">
            <a:avLst/>
          </a:prstGeom>
          <a:noFill/>
          <a:ln>
            <a:noFill/>
          </a:ln>
        </p:spPr>
      </p:pic>
    </p:spTree>
  </p:cSld>
  <p:clrMapOvr>
    <a:masterClrMapping/>
  </p:clrMapOvr>
  <p:transition spd="med">
    <p:push/>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47" name="Shape 647"/>
        <p:cNvGrpSpPr/>
        <p:nvPr/>
      </p:nvGrpSpPr>
      <p:grpSpPr>
        <a:xfrm>
          <a:off x="0" y="0"/>
          <a:ext cx="0" cy="0"/>
          <a:chOff x="0" y="0"/>
          <a:chExt cx="0" cy="0"/>
        </a:xfrm>
      </p:grpSpPr>
      <p:sp>
        <p:nvSpPr>
          <p:cNvPr id="648" name="Google Shape;648;g1261e3f943e_0_1014"/>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Laços de Repetição (Enquanto).</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52" name="Shape 652"/>
        <p:cNvGrpSpPr/>
        <p:nvPr/>
      </p:nvGrpSpPr>
      <p:grpSpPr>
        <a:xfrm>
          <a:off x="0" y="0"/>
          <a:ext cx="0" cy="0"/>
          <a:chOff x="0" y="0"/>
          <a:chExt cx="0" cy="0"/>
        </a:xfrm>
      </p:grpSpPr>
      <p:sp>
        <p:nvSpPr>
          <p:cNvPr id="653" name="Google Shape;653;g1261e3f943e_0_1018"/>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700"/>
              <a:t>Se fosse necessário a elaboração de um jogo, como por exemplo um jogo da velha, e enquanto houver lugares disponíveis no tabuleiro, este jogo devesse continuar, como faríamos para que o algoritmo tivesse este comportamento? </a:t>
            </a:r>
            <a:endParaRPr sz="2700"/>
          </a:p>
        </p:txBody>
      </p:sp>
      <p:sp>
        <p:nvSpPr>
          <p:cNvPr id="654" name="Google Shape;654;g1261e3f943e_0_1018"/>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Enquanto</a:t>
            </a:r>
            <a:endParaRPr/>
          </a:p>
        </p:txBody>
      </p:sp>
      <p:pic>
        <p:nvPicPr>
          <p:cNvPr id="655" name="Google Shape;655;g1261e3f943e_0_1018"/>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spTree>
  </p:cSld>
  <p:clrMapOvr>
    <a:masterClrMapping/>
  </p:clrMapOvr>
  <p:transition spd="med">
    <p:push/>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59" name="Shape 659"/>
        <p:cNvGrpSpPr/>
        <p:nvPr/>
      </p:nvGrpSpPr>
      <p:grpSpPr>
        <a:xfrm>
          <a:off x="0" y="0"/>
          <a:ext cx="0" cy="0"/>
          <a:chOff x="0" y="0"/>
          <a:chExt cx="0" cy="0"/>
        </a:xfrm>
      </p:grpSpPr>
      <p:sp>
        <p:nvSpPr>
          <p:cNvPr id="660" name="Google Shape;660;g1261e3f943e_0_1024"/>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800"/>
              <a:buNone/>
            </a:pPr>
            <a:r>
              <a:rPr lang="pt-BR" sz="2700"/>
              <a:t>É simples. O comando enquanto poderia fazer esse teste lógico. A função do comando </a:t>
            </a:r>
            <a:r>
              <a:rPr b="1" lang="pt-BR" sz="2700"/>
              <a:t>enquanto </a:t>
            </a:r>
            <a:r>
              <a:rPr lang="pt-BR" sz="2700"/>
              <a:t>é executada uma lista de comandos enquanto uma determinada condição for verdadeira.</a:t>
            </a:r>
            <a:endParaRPr sz="2700"/>
          </a:p>
        </p:txBody>
      </p:sp>
      <p:sp>
        <p:nvSpPr>
          <p:cNvPr id="661" name="Google Shape;661;g1261e3f943e_0_1024"/>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Enquanto</a:t>
            </a:r>
            <a:endParaRPr/>
          </a:p>
        </p:txBody>
      </p:sp>
      <p:pic>
        <p:nvPicPr>
          <p:cNvPr id="662" name="Google Shape;662;g1261e3f943e_0_1024"/>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pic>
        <p:nvPicPr>
          <p:cNvPr id="663" name="Google Shape;663;g1261e3f943e_0_1024"/>
          <p:cNvPicPr preferRelativeResize="0"/>
          <p:nvPr/>
        </p:nvPicPr>
        <p:blipFill rotWithShape="1">
          <a:blip r:embed="rId5">
            <a:alphaModFix/>
          </a:blip>
          <a:srcRect b="0" l="0" r="0" t="0"/>
          <a:stretch/>
        </p:blipFill>
        <p:spPr>
          <a:xfrm>
            <a:off x="564275" y="4343874"/>
            <a:ext cx="6976750" cy="1568650"/>
          </a:xfrm>
          <a:prstGeom prst="rect">
            <a:avLst/>
          </a:prstGeom>
          <a:noFill/>
          <a:ln>
            <a:noFill/>
          </a:ln>
        </p:spPr>
      </p:pic>
    </p:spTree>
  </p:cSld>
  <p:clrMapOvr>
    <a:masterClrMapping/>
  </p:clrMapOvr>
  <p:transition spd="med">
    <p:push/>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67" name="Shape 667"/>
        <p:cNvGrpSpPr/>
        <p:nvPr/>
      </p:nvGrpSpPr>
      <p:grpSpPr>
        <a:xfrm>
          <a:off x="0" y="0"/>
          <a:ext cx="0" cy="0"/>
          <a:chOff x="0" y="0"/>
          <a:chExt cx="0" cy="0"/>
        </a:xfrm>
      </p:grpSpPr>
      <p:sp>
        <p:nvSpPr>
          <p:cNvPr id="668" name="Google Shape;668;g1261e3f943e_0_1031"/>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SzPts val="1800"/>
              <a:buNone/>
            </a:pPr>
            <a:r>
              <a:rPr lang="pt-BR" sz="2400"/>
              <a:t>A figura ilustra um algoritmo que verifica uma variÁvel do tipo caracter. Enquanto a variável for diferente da letra “S” o comando enquanto será executado, assim como as instruções dentro dele. No momento em que o usuário atribuir “S” a variável, o comando enquanto terminarão e o programa chega ao seu final.</a:t>
            </a:r>
            <a:endParaRPr sz="2400"/>
          </a:p>
        </p:txBody>
      </p:sp>
      <p:sp>
        <p:nvSpPr>
          <p:cNvPr id="669" name="Google Shape;669;g1261e3f943e_0_103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Enquanto</a:t>
            </a:r>
            <a:endParaRPr/>
          </a:p>
        </p:txBody>
      </p:sp>
      <p:pic>
        <p:nvPicPr>
          <p:cNvPr id="670" name="Google Shape;670;g1261e3f943e_0_1031"/>
          <p:cNvPicPr preferRelativeResize="0"/>
          <p:nvPr/>
        </p:nvPicPr>
        <p:blipFill rotWithShape="1">
          <a:blip r:embed="rId4">
            <a:alphaModFix/>
          </a:blip>
          <a:srcRect b="0" l="0" r="0" t="0"/>
          <a:stretch/>
        </p:blipFill>
        <p:spPr>
          <a:xfrm>
            <a:off x="8104300" y="606725"/>
            <a:ext cx="3727550" cy="4924048"/>
          </a:xfrm>
          <a:prstGeom prst="rect">
            <a:avLst/>
          </a:prstGeom>
          <a:noFill/>
          <a:ln>
            <a:noFill/>
          </a:ln>
        </p:spPr>
      </p:pic>
    </p:spTree>
  </p:cSld>
  <p:clrMapOvr>
    <a:masterClrMapping/>
  </p:clrMapOvr>
  <p:transition spd="med">
    <p:push/>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74" name="Shape 674"/>
        <p:cNvGrpSpPr/>
        <p:nvPr/>
      </p:nvGrpSpPr>
      <p:grpSpPr>
        <a:xfrm>
          <a:off x="0" y="0"/>
          <a:ext cx="0" cy="0"/>
          <a:chOff x="0" y="0"/>
          <a:chExt cx="0" cy="0"/>
        </a:xfrm>
      </p:grpSpPr>
      <p:sp>
        <p:nvSpPr>
          <p:cNvPr id="675" name="Google Shape;675;g1261e3f943e_0_103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Enquanto</a:t>
            </a:r>
            <a:endParaRPr/>
          </a:p>
        </p:txBody>
      </p:sp>
      <p:pic>
        <p:nvPicPr>
          <p:cNvPr id="676" name="Google Shape;676;g1261e3f943e_0_1037"/>
          <p:cNvPicPr preferRelativeResize="0"/>
          <p:nvPr/>
        </p:nvPicPr>
        <p:blipFill rotWithShape="1">
          <a:blip r:embed="rId4">
            <a:alphaModFix/>
          </a:blip>
          <a:srcRect b="0" l="0" r="0" t="0"/>
          <a:stretch/>
        </p:blipFill>
        <p:spPr>
          <a:xfrm>
            <a:off x="8104300" y="606725"/>
            <a:ext cx="3727550" cy="4924048"/>
          </a:xfrm>
          <a:prstGeom prst="rect">
            <a:avLst/>
          </a:prstGeom>
          <a:noFill/>
          <a:ln>
            <a:noFill/>
          </a:ln>
        </p:spPr>
      </p:pic>
      <p:pic>
        <p:nvPicPr>
          <p:cNvPr id="677" name="Google Shape;677;g1261e3f943e_0_1037"/>
          <p:cNvPicPr preferRelativeResize="0"/>
          <p:nvPr/>
        </p:nvPicPr>
        <p:blipFill rotWithShape="1">
          <a:blip r:embed="rId5">
            <a:alphaModFix/>
          </a:blip>
          <a:srcRect b="0" l="0" r="0" t="0"/>
          <a:stretch/>
        </p:blipFill>
        <p:spPr>
          <a:xfrm>
            <a:off x="497550" y="1650700"/>
            <a:ext cx="4544650" cy="4125625"/>
          </a:xfrm>
          <a:prstGeom prst="rect">
            <a:avLst/>
          </a:prstGeom>
          <a:noFill/>
          <a:ln>
            <a:noFill/>
          </a:ln>
        </p:spPr>
      </p:pic>
    </p:spTree>
  </p:cSld>
  <p:clrMapOvr>
    <a:masterClrMapping/>
  </p:clrMapOvr>
  <p:transition spd="med">
    <p:push/>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81" name="Shape 681"/>
        <p:cNvGrpSpPr/>
        <p:nvPr/>
      </p:nvGrpSpPr>
      <p:grpSpPr>
        <a:xfrm>
          <a:off x="0" y="0"/>
          <a:ext cx="0" cy="0"/>
          <a:chOff x="0" y="0"/>
          <a:chExt cx="0" cy="0"/>
        </a:xfrm>
      </p:grpSpPr>
      <p:sp>
        <p:nvSpPr>
          <p:cNvPr id="682" name="Google Shape;682;g1261e3f943e_0_1111"/>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Laços de Repetição (Faça Enquanto).</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86" name="Shape 686"/>
        <p:cNvGrpSpPr/>
        <p:nvPr/>
      </p:nvGrpSpPr>
      <p:grpSpPr>
        <a:xfrm>
          <a:off x="0" y="0"/>
          <a:ext cx="0" cy="0"/>
          <a:chOff x="0" y="0"/>
          <a:chExt cx="0" cy="0"/>
        </a:xfrm>
      </p:grpSpPr>
      <p:sp>
        <p:nvSpPr>
          <p:cNvPr id="687" name="Google Shape;687;g1261e3f943e_0_1115"/>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Em algumas situações, faz-se necessário verificar se uma condição é verdadeira ou não após a entrada de dados do usuário. Para situações como essa, podemos usar o laço de repetição </a:t>
            </a:r>
            <a:r>
              <a:rPr b="1" lang="pt-BR"/>
              <a:t>faça-enquanto</a:t>
            </a:r>
            <a:r>
              <a:rPr lang="pt-BR"/>
              <a:t>. </a:t>
            </a:r>
            <a:endParaRPr/>
          </a:p>
        </p:txBody>
      </p:sp>
      <p:sp>
        <p:nvSpPr>
          <p:cNvPr id="688" name="Google Shape;688;g1261e3f943e_0_111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Faça - Enquanto</a:t>
            </a:r>
            <a:endParaRPr/>
          </a:p>
        </p:txBody>
      </p:sp>
      <p:pic>
        <p:nvPicPr>
          <p:cNvPr id="689" name="Google Shape;689;g1261e3f943e_0_1115"/>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93" name="Shape 693"/>
        <p:cNvGrpSpPr/>
        <p:nvPr/>
      </p:nvGrpSpPr>
      <p:grpSpPr>
        <a:xfrm>
          <a:off x="0" y="0"/>
          <a:ext cx="0" cy="0"/>
          <a:chOff x="0" y="0"/>
          <a:chExt cx="0" cy="0"/>
        </a:xfrm>
      </p:grpSpPr>
      <p:sp>
        <p:nvSpPr>
          <p:cNvPr id="694" name="Google Shape;694;g1261e3f943e_0_1121"/>
          <p:cNvSpPr txBox="1"/>
          <p:nvPr>
            <p:ph idx="1" type="body"/>
          </p:nvPr>
        </p:nvSpPr>
        <p:spPr>
          <a:xfrm>
            <a:off x="333475" y="1693238"/>
            <a:ext cx="10870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a:t>Este teste é bem parecido com o </a:t>
            </a:r>
            <a:r>
              <a:rPr b="1" lang="pt-BR"/>
              <a:t>enquanto</a:t>
            </a:r>
            <a:r>
              <a:rPr lang="pt-BR"/>
              <a:t>. A diferença está no fato de que o teste lógico é realizado no final, e com isso as instruções do laço  sempre serão realizadas pelo menos uma vez. O teste verifica se elas devem ser repetidas ou não.</a:t>
            </a:r>
            <a:endParaRPr/>
          </a:p>
        </p:txBody>
      </p:sp>
      <p:sp>
        <p:nvSpPr>
          <p:cNvPr id="695" name="Google Shape;695;g1261e3f943e_0_112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Faça - Enquanto</a:t>
            </a:r>
            <a:endParaRPr/>
          </a:p>
        </p:txBody>
      </p:sp>
      <p:pic>
        <p:nvPicPr>
          <p:cNvPr id="696" name="Google Shape;696;g1261e3f943e_0_1121"/>
          <p:cNvPicPr preferRelativeResize="0"/>
          <p:nvPr/>
        </p:nvPicPr>
        <p:blipFill rotWithShape="1">
          <a:blip r:embed="rId4">
            <a:alphaModFix/>
          </a:blip>
          <a:srcRect b="0" l="0" r="0" t="0"/>
          <a:stretch/>
        </p:blipFill>
        <p:spPr>
          <a:xfrm>
            <a:off x="962750" y="4096800"/>
            <a:ext cx="9946100" cy="1618400"/>
          </a:xfrm>
          <a:prstGeom prst="rect">
            <a:avLst/>
          </a:prstGeom>
          <a:noFill/>
          <a:ln>
            <a:noFill/>
          </a:ln>
        </p:spPr>
      </p:pic>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00" name="Shape 700"/>
        <p:cNvGrpSpPr/>
        <p:nvPr/>
      </p:nvGrpSpPr>
      <p:grpSpPr>
        <a:xfrm>
          <a:off x="0" y="0"/>
          <a:ext cx="0" cy="0"/>
          <a:chOff x="0" y="0"/>
          <a:chExt cx="0" cy="0"/>
        </a:xfrm>
      </p:grpSpPr>
      <p:sp>
        <p:nvSpPr>
          <p:cNvPr id="701" name="Google Shape;701;g1261e3f943e_0_1127"/>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400"/>
              <a:t>A figura ilustra um algoritmo que calcula a área de um quadrado. Note que para o cálculo da área é necessário que o valor digitado pelo usuário para a revista seja maior que 0. Caso o usuário informe um valor menor ou igual a 0 para a aresta, o programa repete o comando pedindo para que o usuário entre novamente com um valor para a aresta. Caso seja um valor válido, o programa continua sua execução normalmente e ao fim exibe a área do quadrado.</a:t>
            </a:r>
            <a:endParaRPr sz="4000"/>
          </a:p>
        </p:txBody>
      </p:sp>
      <p:sp>
        <p:nvSpPr>
          <p:cNvPr id="702" name="Google Shape;702;g1261e3f943e_0_112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Faça - Enquanto</a:t>
            </a:r>
            <a:endParaRPr/>
          </a:p>
        </p:txBody>
      </p:sp>
      <p:pic>
        <p:nvPicPr>
          <p:cNvPr id="703" name="Google Shape;703;g1261e3f943e_0_1127"/>
          <p:cNvPicPr preferRelativeResize="0"/>
          <p:nvPr/>
        </p:nvPicPr>
        <p:blipFill rotWithShape="1">
          <a:blip r:embed="rId4">
            <a:alphaModFix/>
          </a:blip>
          <a:srcRect b="0" l="0" r="0" t="0"/>
          <a:stretch/>
        </p:blipFill>
        <p:spPr>
          <a:xfrm>
            <a:off x="8359425" y="254125"/>
            <a:ext cx="3377050" cy="5624250"/>
          </a:xfrm>
          <a:prstGeom prst="rect">
            <a:avLst/>
          </a:prstGeom>
          <a:noFill/>
          <a:ln>
            <a:noFill/>
          </a:ln>
        </p:spPr>
      </p:pic>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07" name="Shape 707"/>
        <p:cNvGrpSpPr/>
        <p:nvPr/>
      </p:nvGrpSpPr>
      <p:grpSpPr>
        <a:xfrm>
          <a:off x="0" y="0"/>
          <a:ext cx="0" cy="0"/>
          <a:chOff x="0" y="0"/>
          <a:chExt cx="0" cy="0"/>
        </a:xfrm>
      </p:grpSpPr>
      <p:sp>
        <p:nvSpPr>
          <p:cNvPr id="708" name="Google Shape;708;g1261e3f943e_0_113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Faça - Enquanto</a:t>
            </a:r>
            <a:endParaRPr/>
          </a:p>
        </p:txBody>
      </p:sp>
      <p:pic>
        <p:nvPicPr>
          <p:cNvPr id="709" name="Google Shape;709;g1261e3f943e_0_1133"/>
          <p:cNvPicPr preferRelativeResize="0"/>
          <p:nvPr/>
        </p:nvPicPr>
        <p:blipFill rotWithShape="1">
          <a:blip r:embed="rId4">
            <a:alphaModFix/>
          </a:blip>
          <a:srcRect b="0" l="0" r="0" t="0"/>
          <a:stretch/>
        </p:blipFill>
        <p:spPr>
          <a:xfrm>
            <a:off x="838200" y="1368575"/>
            <a:ext cx="4934825" cy="4983550"/>
          </a:xfrm>
          <a:prstGeom prst="rect">
            <a:avLst/>
          </a:prstGeom>
          <a:noFill/>
          <a:ln>
            <a:noFill/>
          </a:ln>
        </p:spPr>
      </p:pic>
      <p:pic>
        <p:nvPicPr>
          <p:cNvPr id="710" name="Google Shape;710;g1261e3f943e_0_1133"/>
          <p:cNvPicPr preferRelativeResize="0"/>
          <p:nvPr/>
        </p:nvPicPr>
        <p:blipFill rotWithShape="1">
          <a:blip r:embed="rId5">
            <a:alphaModFix/>
          </a:blip>
          <a:srcRect b="0" l="0" r="0" t="0"/>
          <a:stretch/>
        </p:blipFill>
        <p:spPr>
          <a:xfrm>
            <a:off x="6498625" y="1513925"/>
            <a:ext cx="2817800" cy="4692850"/>
          </a:xfrm>
          <a:prstGeom prst="rect">
            <a:avLst/>
          </a:prstGeom>
          <a:noFill/>
          <a:ln>
            <a:noFill/>
          </a:ln>
        </p:spPr>
      </p:pic>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14" name="Shape 714"/>
        <p:cNvGrpSpPr/>
        <p:nvPr/>
      </p:nvGrpSpPr>
      <p:grpSpPr>
        <a:xfrm>
          <a:off x="0" y="0"/>
          <a:ext cx="0" cy="0"/>
          <a:chOff x="0" y="0"/>
          <a:chExt cx="0" cy="0"/>
        </a:xfrm>
      </p:grpSpPr>
      <p:sp>
        <p:nvSpPr>
          <p:cNvPr id="715" name="Google Shape;715;g1261e3f943e_0_1207"/>
          <p:cNvSpPr txBox="1"/>
          <p:nvPr/>
        </p:nvSpPr>
        <p:spPr>
          <a:xfrm>
            <a:off x="762000" y="2370741"/>
            <a:ext cx="10668000" cy="2116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750"/>
              <a:buFont typeface="Calibri"/>
              <a:buNone/>
            </a:pPr>
            <a:r>
              <a:rPr b="1" i="0" lang="pt-BR" sz="3700" u="none" cap="none" strike="noStrike">
                <a:solidFill>
                  <a:schemeClr val="lt1"/>
                </a:solidFill>
                <a:latin typeface="Calibri"/>
                <a:ea typeface="Calibri"/>
                <a:cs typeface="Calibri"/>
                <a:sym typeface="Calibri"/>
              </a:rPr>
              <a:t>Laços de Repetição (Para)</a:t>
            </a:r>
            <a:endParaRPr b="0" i="0" sz="16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19" name="Shape 719"/>
        <p:cNvGrpSpPr/>
        <p:nvPr/>
      </p:nvGrpSpPr>
      <p:grpSpPr>
        <a:xfrm>
          <a:off x="0" y="0"/>
          <a:ext cx="0" cy="0"/>
          <a:chOff x="0" y="0"/>
          <a:chExt cx="0" cy="0"/>
        </a:xfrm>
      </p:grpSpPr>
      <p:sp>
        <p:nvSpPr>
          <p:cNvPr id="720" name="Google Shape;720;g1261e3f943e_0_1211"/>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500"/>
              <a:t>E se houver um problema em que sejam necessárias um número determinado de repetições? Por exemplo, se quiséssemos pedir ao usuário que digitasse 10 valores. Poderíamos utilizar a instrução de Leia repetidas vezes. </a:t>
            </a:r>
            <a:endParaRPr sz="2500"/>
          </a:p>
        </p:txBody>
      </p:sp>
      <p:sp>
        <p:nvSpPr>
          <p:cNvPr id="721" name="Google Shape;721;g1261e3f943e_0_121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22" name="Google Shape;722;g1261e3f943e_0_1211"/>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26" name="Shape 726"/>
        <p:cNvGrpSpPr/>
        <p:nvPr/>
      </p:nvGrpSpPr>
      <p:grpSpPr>
        <a:xfrm>
          <a:off x="0" y="0"/>
          <a:ext cx="0" cy="0"/>
          <a:chOff x="0" y="0"/>
          <a:chExt cx="0" cy="0"/>
        </a:xfrm>
      </p:grpSpPr>
      <p:sp>
        <p:nvSpPr>
          <p:cNvPr id="727" name="Google Shape;727;g1261e3f943e_0_1217"/>
          <p:cNvSpPr txBox="1"/>
          <p:nvPr>
            <p:ph idx="1" type="body"/>
          </p:nvPr>
        </p:nvSpPr>
        <p:spPr>
          <a:xfrm>
            <a:off x="498550"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500"/>
              <a:t>Porém se ao invés de 10 valores precisássemos de 100, essa tarefa se tornaria muito extensa. Para resolver problemas como esse, podemos usar um laço de repetição com variável de controle. No portugol, ele é conheci</a:t>
            </a:r>
            <a:r>
              <a:rPr b="1" lang="pt-BR" sz="2500"/>
              <a:t>para</a:t>
            </a:r>
            <a:r>
              <a:rPr lang="pt-BR" sz="2500"/>
              <a:t>do como .</a:t>
            </a:r>
            <a:endParaRPr b="1" sz="2500"/>
          </a:p>
        </p:txBody>
      </p:sp>
      <p:sp>
        <p:nvSpPr>
          <p:cNvPr id="728" name="Google Shape;728;g1261e3f943e_0_121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29" name="Google Shape;729;g1261e3f943e_0_1217"/>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spTree>
  </p:cSld>
  <p:clrMapOvr>
    <a:masterClrMapping/>
  </p:clrMapOvr>
  <p:transition spd="med">
    <p:push/>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33" name="Shape 733"/>
        <p:cNvGrpSpPr/>
        <p:nvPr/>
      </p:nvGrpSpPr>
      <p:grpSpPr>
        <a:xfrm>
          <a:off x="0" y="0"/>
          <a:ext cx="0" cy="0"/>
          <a:chOff x="0" y="0"/>
          <a:chExt cx="0" cy="0"/>
        </a:xfrm>
      </p:grpSpPr>
      <p:sp>
        <p:nvSpPr>
          <p:cNvPr id="734" name="Google Shape;734;g1261e3f943e_0_1223"/>
          <p:cNvSpPr txBox="1"/>
          <p:nvPr>
            <p:ph idx="1" type="body"/>
          </p:nvPr>
        </p:nvSpPr>
        <p:spPr>
          <a:xfrm>
            <a:off x="408525"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500"/>
              <a:t>O laço de repetição com variável de controle facilita a construção de algoritmos com número definido de repetições, pois possui um contador (variável de controle) embutido no comando com o incremento automático. Desta forma, um erro muito comum que se comete ao esquecer de fazer o incremento do contador é evitado. </a:t>
            </a:r>
            <a:endParaRPr sz="2500"/>
          </a:p>
        </p:txBody>
      </p:sp>
      <p:sp>
        <p:nvSpPr>
          <p:cNvPr id="735" name="Google Shape;735;g1261e3f943e_0_1223"/>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36" name="Google Shape;736;g1261e3f943e_0_1223"/>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spTree>
  </p:cSld>
  <p:clrMapOvr>
    <a:masterClrMapping/>
  </p:clrMapOvr>
  <p:transition spd="med">
    <p:push/>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40" name="Shape 740"/>
        <p:cNvGrpSpPr/>
        <p:nvPr/>
      </p:nvGrpSpPr>
      <p:grpSpPr>
        <a:xfrm>
          <a:off x="0" y="0"/>
          <a:ext cx="0" cy="0"/>
          <a:chOff x="0" y="0"/>
          <a:chExt cx="0" cy="0"/>
        </a:xfrm>
      </p:grpSpPr>
      <p:sp>
        <p:nvSpPr>
          <p:cNvPr id="741" name="Google Shape;741;g1261e3f943e_0_1229"/>
          <p:cNvSpPr txBox="1"/>
          <p:nvPr>
            <p:ph idx="1" type="body"/>
          </p:nvPr>
        </p:nvSpPr>
        <p:spPr>
          <a:xfrm>
            <a:off x="408525" y="1774325"/>
            <a:ext cx="71082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pt-BR" sz="2500"/>
              <a:t>Toda vez que temos um problema cuja solução necessita de um número determinado de repetições utilizamos um contador. O contador deve ser inicializado antes do laço deve ser incrementado dentro do lado.</a:t>
            </a:r>
            <a:endParaRPr sz="2500"/>
          </a:p>
          <a:p>
            <a:pPr indent="0" lvl="0" marL="0" rtl="0" algn="just">
              <a:lnSpc>
                <a:spcPct val="115000"/>
              </a:lnSpc>
              <a:spcBef>
                <a:spcPts val="1200"/>
              </a:spcBef>
              <a:spcAft>
                <a:spcPts val="1200"/>
              </a:spcAft>
              <a:buClr>
                <a:schemeClr val="dk1"/>
              </a:buClr>
              <a:buSzPts val="1100"/>
              <a:buFont typeface="Arial"/>
              <a:buNone/>
            </a:pPr>
            <a:r>
              <a:t/>
            </a:r>
            <a:endParaRPr sz="2500"/>
          </a:p>
        </p:txBody>
      </p:sp>
      <p:sp>
        <p:nvSpPr>
          <p:cNvPr id="742" name="Google Shape;742;g1261e3f943e_0_1229"/>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43" name="Google Shape;743;g1261e3f943e_0_1229"/>
          <p:cNvPicPr preferRelativeResize="0"/>
          <p:nvPr/>
        </p:nvPicPr>
        <p:blipFill rotWithShape="1">
          <a:blip r:embed="rId4">
            <a:alphaModFix/>
          </a:blip>
          <a:srcRect b="0" l="0" r="0" t="0"/>
          <a:stretch/>
        </p:blipFill>
        <p:spPr>
          <a:xfrm>
            <a:off x="8328675" y="1707088"/>
            <a:ext cx="3443825" cy="3443825"/>
          </a:xfrm>
          <a:prstGeom prst="rect">
            <a:avLst/>
          </a:prstGeom>
          <a:noFill/>
          <a:ln>
            <a:noFill/>
          </a:ln>
        </p:spPr>
      </p:pic>
    </p:spTree>
  </p:cSld>
  <p:clrMapOvr>
    <a:masterClrMapping/>
  </p:clrMapOvr>
  <p:transition spd="med">
    <p:push/>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47" name="Shape 747"/>
        <p:cNvGrpSpPr/>
        <p:nvPr/>
      </p:nvGrpSpPr>
      <p:grpSpPr>
        <a:xfrm>
          <a:off x="0" y="0"/>
          <a:ext cx="0" cy="0"/>
          <a:chOff x="0" y="0"/>
          <a:chExt cx="0" cy="0"/>
        </a:xfrm>
      </p:grpSpPr>
      <p:sp>
        <p:nvSpPr>
          <p:cNvPr id="748" name="Google Shape;748;g1261e3f943e_0_1235"/>
          <p:cNvSpPr txBox="1"/>
          <p:nvPr>
            <p:ph idx="1" type="body"/>
          </p:nvPr>
        </p:nvSpPr>
        <p:spPr>
          <a:xfrm>
            <a:off x="408525" y="1774325"/>
            <a:ext cx="107565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500"/>
              <a:t>O laço com variável de controle possui três partes. A inicialização da variável contadora, a definição do valor final do contador e a definição do incremento. Estas três partes são escritas juntas, no início do lado.</a:t>
            </a:r>
            <a:endParaRPr sz="2500"/>
          </a:p>
        </p:txBody>
      </p:sp>
      <p:sp>
        <p:nvSpPr>
          <p:cNvPr id="749" name="Google Shape;749;g1261e3f943e_0_1235"/>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50" name="Google Shape;750;g1261e3f943e_0_1235"/>
          <p:cNvPicPr preferRelativeResize="0"/>
          <p:nvPr/>
        </p:nvPicPr>
        <p:blipFill rotWithShape="1">
          <a:blip r:embed="rId4">
            <a:alphaModFix/>
          </a:blip>
          <a:srcRect b="0" l="0" r="0" t="0"/>
          <a:stretch/>
        </p:blipFill>
        <p:spPr>
          <a:xfrm>
            <a:off x="1480088" y="3601550"/>
            <a:ext cx="9231825" cy="2113600"/>
          </a:xfrm>
          <a:prstGeom prst="rect">
            <a:avLst/>
          </a:prstGeom>
          <a:noFill/>
          <a:ln>
            <a:noFill/>
          </a:ln>
        </p:spPr>
      </p:pic>
    </p:spTree>
  </p:cSld>
  <p:clrMapOvr>
    <a:masterClrMapping/>
  </p:clrMapOvr>
  <p:transition spd="med">
    <p:push/>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54" name="Shape 754"/>
        <p:cNvGrpSpPr/>
        <p:nvPr/>
      </p:nvGrpSpPr>
      <p:grpSpPr>
        <a:xfrm>
          <a:off x="0" y="0"/>
          <a:ext cx="0" cy="0"/>
          <a:chOff x="0" y="0"/>
          <a:chExt cx="0" cy="0"/>
        </a:xfrm>
      </p:grpSpPr>
      <p:sp>
        <p:nvSpPr>
          <p:cNvPr id="755" name="Google Shape;755;g1261e3f943e_0_1241"/>
          <p:cNvSpPr txBox="1"/>
          <p:nvPr>
            <p:ph idx="1" type="body"/>
          </p:nvPr>
        </p:nvSpPr>
        <p:spPr>
          <a:xfrm>
            <a:off x="408525" y="1774325"/>
            <a:ext cx="6944700" cy="41382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1200"/>
              </a:spcAft>
              <a:buClr>
                <a:schemeClr val="dk1"/>
              </a:buClr>
              <a:buSzPts val="1100"/>
              <a:buFont typeface="Arial"/>
              <a:buNone/>
            </a:pPr>
            <a:r>
              <a:rPr lang="pt-BR" sz="2200"/>
              <a:t>A figura ilustra um algoritmo que exibe na tela a tabuada de 3. Note que conforme a sintaxe mostrada anteriormente, a primeira instrução do laço é inicializar o contador c=1. O segundo comando especifica a condição para que o laço continue a ser executado, ou seja, enquanto o contador c for menor ou igual a 10. Por último, a terceira instrução demonstra que o contador c será acrescentado em 1 em seu valor a cada interação do comando. O laço será executado 10 vezes e mostrará a tabuada de 3.</a:t>
            </a:r>
            <a:endParaRPr sz="2200"/>
          </a:p>
        </p:txBody>
      </p:sp>
      <p:sp>
        <p:nvSpPr>
          <p:cNvPr id="756" name="Google Shape;756;g1261e3f943e_0_1241"/>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57" name="Google Shape;757;g1261e3f943e_0_1241"/>
          <p:cNvPicPr preferRelativeResize="0"/>
          <p:nvPr/>
        </p:nvPicPr>
        <p:blipFill rotWithShape="1">
          <a:blip r:embed="rId4">
            <a:alphaModFix/>
          </a:blip>
          <a:srcRect b="0" l="0" r="0" t="0"/>
          <a:stretch/>
        </p:blipFill>
        <p:spPr>
          <a:xfrm>
            <a:off x="7730625" y="125974"/>
            <a:ext cx="3404250" cy="5609825"/>
          </a:xfrm>
          <a:prstGeom prst="rect">
            <a:avLst/>
          </a:prstGeom>
          <a:noFill/>
          <a:ln>
            <a:noFill/>
          </a:ln>
        </p:spPr>
      </p:pic>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61" name="Shape 761"/>
        <p:cNvGrpSpPr/>
        <p:nvPr/>
      </p:nvGrpSpPr>
      <p:grpSpPr>
        <a:xfrm>
          <a:off x="0" y="0"/>
          <a:ext cx="0" cy="0"/>
          <a:chOff x="0" y="0"/>
          <a:chExt cx="0" cy="0"/>
        </a:xfrm>
      </p:grpSpPr>
      <p:sp>
        <p:nvSpPr>
          <p:cNvPr id="762" name="Google Shape;762;g1261e3f943e_0_1247"/>
          <p:cNvSpPr txBox="1"/>
          <p:nvPr>
            <p:ph type="title"/>
          </p:nvPr>
        </p:nvSpPr>
        <p:spPr>
          <a:xfrm>
            <a:off x="838200" y="254126"/>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pt-BR">
                <a:latin typeface="Arial"/>
                <a:ea typeface="Arial"/>
                <a:cs typeface="Arial"/>
                <a:sym typeface="Arial"/>
              </a:rPr>
              <a:t>Para</a:t>
            </a:r>
            <a:endParaRPr/>
          </a:p>
        </p:txBody>
      </p:sp>
      <p:pic>
        <p:nvPicPr>
          <p:cNvPr id="763" name="Google Shape;763;g1261e3f943e_0_1247"/>
          <p:cNvPicPr preferRelativeResize="0"/>
          <p:nvPr/>
        </p:nvPicPr>
        <p:blipFill rotWithShape="1">
          <a:blip r:embed="rId4">
            <a:alphaModFix/>
          </a:blip>
          <a:srcRect b="0" l="0" r="0" t="0"/>
          <a:stretch/>
        </p:blipFill>
        <p:spPr>
          <a:xfrm>
            <a:off x="1457875" y="471124"/>
            <a:ext cx="3404250" cy="5609825"/>
          </a:xfrm>
          <a:prstGeom prst="rect">
            <a:avLst/>
          </a:prstGeom>
          <a:noFill/>
          <a:ln>
            <a:noFill/>
          </a:ln>
        </p:spPr>
      </p:pic>
      <p:pic>
        <p:nvPicPr>
          <p:cNvPr id="764" name="Google Shape;764;g1261e3f943e_0_1247"/>
          <p:cNvPicPr preferRelativeResize="0"/>
          <p:nvPr/>
        </p:nvPicPr>
        <p:blipFill rotWithShape="1">
          <a:blip r:embed="rId5">
            <a:alphaModFix/>
          </a:blip>
          <a:srcRect b="0" l="0" r="0" t="0"/>
          <a:stretch/>
        </p:blipFill>
        <p:spPr>
          <a:xfrm>
            <a:off x="5839875" y="1659049"/>
            <a:ext cx="4274550" cy="4274550"/>
          </a:xfrm>
          <a:prstGeom prst="rect">
            <a:avLst/>
          </a:prstGeom>
          <a:noFill/>
          <a:ln>
            <a:noFill/>
          </a:ln>
        </p:spPr>
      </p:pic>
    </p:spTree>
  </p:cSld>
  <p:clrMapOvr>
    <a:masterClrMapping/>
  </p:clrMapOvr>
  <p:transition spd="med">
    <p:push/>
  </p:transition>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68" name="Shape 768"/>
        <p:cNvGrpSpPr/>
        <p:nvPr/>
      </p:nvGrpSpPr>
      <p:grpSpPr>
        <a:xfrm>
          <a:off x="0" y="0"/>
          <a:ext cx="0" cy="0"/>
          <a:chOff x="0" y="0"/>
          <a:chExt cx="0" cy="0"/>
        </a:xfrm>
      </p:grpSpPr>
      <p:sp>
        <p:nvSpPr>
          <p:cNvPr id="769" name="Google Shape;769;p39"/>
          <p:cNvSpPr txBox="1"/>
          <p:nvPr>
            <p:ph type="title"/>
          </p:nvPr>
        </p:nvSpPr>
        <p:spPr>
          <a:xfrm>
            <a:off x="3509343" y="2730777"/>
            <a:ext cx="2218800" cy="9942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None/>
            </a:pPr>
            <a:r>
              <a:rPr b="1" lang="pt-BR">
                <a:solidFill>
                  <a:schemeClr val="lt1"/>
                </a:solidFill>
                <a:latin typeface="Calibri"/>
                <a:ea typeface="Calibri"/>
                <a:cs typeface="Calibri"/>
                <a:sym typeface="Calibri"/>
              </a:rPr>
              <a:t>Obrigado</a:t>
            </a:r>
            <a:endParaRPr/>
          </a:p>
        </p:txBody>
      </p:sp>
      <p:sp>
        <p:nvSpPr>
          <p:cNvPr id="770" name="Google Shape;770;p39"/>
          <p:cNvSpPr txBox="1"/>
          <p:nvPr>
            <p:ph idx="1" type="body"/>
          </p:nvPr>
        </p:nvSpPr>
        <p:spPr>
          <a:xfrm>
            <a:off x="6432937" y="2730776"/>
            <a:ext cx="4235100" cy="1063500"/>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SzPts val="1350"/>
              <a:buNone/>
            </a:pPr>
            <a:r>
              <a:rPr b="1" lang="pt-BR" sz="3200">
                <a:solidFill>
                  <a:schemeClr val="lt1"/>
                </a:solidFill>
              </a:rPr>
              <a:t>Prof. Chagas Junior</a:t>
            </a:r>
            <a:endParaRPr b="1" sz="3200">
              <a:solidFill>
                <a:schemeClr val="lt1"/>
              </a:solidFill>
            </a:endParaRPr>
          </a:p>
        </p:txBody>
      </p:sp>
      <p:cxnSp>
        <p:nvCxnSpPr>
          <p:cNvPr id="771" name="Google Shape;771;p39"/>
          <p:cNvCxnSpPr/>
          <p:nvPr/>
        </p:nvCxnSpPr>
        <p:spPr>
          <a:xfrm>
            <a:off x="6120848" y="2661332"/>
            <a:ext cx="0" cy="113310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0">
                                            <p:txEl>
                                              <p:pRg end="0" st="0"/>
                                            </p:txEl>
                                          </p:spTgt>
                                        </p:tgtEl>
                                        <p:attrNameLst>
                                          <p:attrName>style.visibility</p:attrName>
                                        </p:attrNameLst>
                                      </p:cBhvr>
                                      <p:to>
                                        <p:strVal val="visible"/>
                                      </p:to>
                                    </p:set>
                                    <p:animEffect filter="fade" transition="in">
                                      <p:cBhvr>
                                        <p:cTn dur="500"/>
                                        <p:tgtEl>
                                          <p:spTgt spid="77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Chagas Junior</dc:creator>
</cp:coreProperties>
</file>